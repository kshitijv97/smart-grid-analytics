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670550" cx="10080625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+wzK5TLfyXyT3uxPkZH+FGVsj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de1ce3b4cd5eae9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5de1ce3b4cd5eae9_0_0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de1ce3b4cd5eae9_0_411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h5de1ce3b4cd5eae9_0_411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de1ce3b4cd5eae9_0_6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5de1ce3b4cd5eae9_0_6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5de1ce3b4cd5eae9_0_515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h5de1ce3b4cd5eae9_0_515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a5caa65d7f2f29b_0_1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a5caa65d7f2f29b_0_1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5de1ce3b4cd5eae9_0_510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5de1ce3b4cd5eae9_0_51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5de1ce3b4cd5eae9_0_886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5de1ce3b4cd5eae9_0_886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5de1ce3b4cd5eae9_0_843"/>
          <p:cNvSpPr txBox="1"/>
          <p:nvPr>
            <p:ph type="ctrTitle"/>
          </p:nvPr>
        </p:nvSpPr>
        <p:spPr>
          <a:xfrm>
            <a:off x="343637" y="820871"/>
            <a:ext cx="9393300" cy="2262900"/>
          </a:xfrm>
          <a:prstGeom prst="rect">
            <a:avLst/>
          </a:prstGeom>
        </p:spPr>
        <p:txBody>
          <a:bodyPr anchorCtr="0" anchor="b" bIns="100800" lIns="100800" spcFirstLastPara="1" rIns="100800" wrap="square" tIns="100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1" name="Google Shape;11;h5de1ce3b4cd5eae9_0_843"/>
          <p:cNvSpPr txBox="1"/>
          <p:nvPr>
            <p:ph idx="1" type="subTitle"/>
          </p:nvPr>
        </p:nvSpPr>
        <p:spPr>
          <a:xfrm>
            <a:off x="343628" y="3124535"/>
            <a:ext cx="9393300" cy="8739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12" name="Google Shape;12;h5de1ce3b4cd5eae9_0_843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5de1ce3b4cd5eae9_0_847"/>
          <p:cNvSpPr txBox="1"/>
          <p:nvPr>
            <p:ph type="title"/>
          </p:nvPr>
        </p:nvSpPr>
        <p:spPr>
          <a:xfrm>
            <a:off x="343628" y="2371246"/>
            <a:ext cx="9393300" cy="9282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" name="Google Shape;15;h5de1ce3b4cd5eae9_0_847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5de1ce3b4cd5eae9_0_850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" name="Google Shape;18;h5de1ce3b4cd5eae9_0_850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" name="Google Shape;19;h5de1ce3b4cd5eae9_0_850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5de1ce3b4cd5eae9_0_854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" name="Google Shape;22;h5de1ce3b4cd5eae9_0_854"/>
          <p:cNvSpPr txBox="1"/>
          <p:nvPr>
            <p:ph idx="1" type="body"/>
          </p:nvPr>
        </p:nvSpPr>
        <p:spPr>
          <a:xfrm>
            <a:off x="343628" y="1270568"/>
            <a:ext cx="44097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3" name="Google Shape;23;h5de1ce3b4cd5eae9_0_854"/>
          <p:cNvSpPr txBox="1"/>
          <p:nvPr>
            <p:ph idx="2" type="body"/>
          </p:nvPr>
        </p:nvSpPr>
        <p:spPr>
          <a:xfrm>
            <a:off x="5327385" y="1270568"/>
            <a:ext cx="44097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" name="Google Shape;24;h5de1ce3b4cd5eae9_0_854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5de1ce3b4cd5eae9_0_859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7" name="Google Shape;27;h5de1ce3b4cd5eae9_0_859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5de1ce3b4cd5eae9_0_862"/>
          <p:cNvSpPr txBox="1"/>
          <p:nvPr>
            <p:ph type="title"/>
          </p:nvPr>
        </p:nvSpPr>
        <p:spPr>
          <a:xfrm>
            <a:off x="343628" y="612532"/>
            <a:ext cx="3095700" cy="833100"/>
          </a:xfrm>
          <a:prstGeom prst="rect">
            <a:avLst/>
          </a:prstGeom>
        </p:spPr>
        <p:txBody>
          <a:bodyPr anchorCtr="0" anchor="b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0" name="Google Shape;30;h5de1ce3b4cd5eae9_0_862"/>
          <p:cNvSpPr txBox="1"/>
          <p:nvPr>
            <p:ph idx="1" type="body"/>
          </p:nvPr>
        </p:nvSpPr>
        <p:spPr>
          <a:xfrm>
            <a:off x="343628" y="1531991"/>
            <a:ext cx="3095700" cy="35052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1" name="Google Shape;31;h5de1ce3b4cd5eae9_0_862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5de1ce3b4cd5eae9_0_866"/>
          <p:cNvSpPr txBox="1"/>
          <p:nvPr>
            <p:ph type="title"/>
          </p:nvPr>
        </p:nvSpPr>
        <p:spPr>
          <a:xfrm>
            <a:off x="540467" y="496276"/>
            <a:ext cx="7020000" cy="45099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4" name="Google Shape;34;h5de1ce3b4cd5eae9_0_866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5de1ce3b4cd5eae9_0_869"/>
          <p:cNvSpPr/>
          <p:nvPr/>
        </p:nvSpPr>
        <p:spPr>
          <a:xfrm>
            <a:off x="5040313" y="-138"/>
            <a:ext cx="5040300" cy="56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h5de1ce3b4cd5eae9_0_869"/>
          <p:cNvSpPr txBox="1"/>
          <p:nvPr>
            <p:ph type="title"/>
          </p:nvPr>
        </p:nvSpPr>
        <p:spPr>
          <a:xfrm>
            <a:off x="292695" y="1359537"/>
            <a:ext cx="4459500" cy="1634100"/>
          </a:xfrm>
          <a:prstGeom prst="rect">
            <a:avLst/>
          </a:prstGeom>
        </p:spPr>
        <p:txBody>
          <a:bodyPr anchorCtr="0" anchor="b" bIns="100800" lIns="100800" spcFirstLastPara="1" rIns="100800" wrap="square" tIns="100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8" name="Google Shape;38;h5de1ce3b4cd5eae9_0_869"/>
          <p:cNvSpPr txBox="1"/>
          <p:nvPr>
            <p:ph idx="1" type="subTitle"/>
          </p:nvPr>
        </p:nvSpPr>
        <p:spPr>
          <a:xfrm>
            <a:off x="292695" y="3090304"/>
            <a:ext cx="4459500" cy="1361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39" name="Google Shape;39;h5de1ce3b4cd5eae9_0_869"/>
          <p:cNvSpPr txBox="1"/>
          <p:nvPr>
            <p:ph idx="2" type="body"/>
          </p:nvPr>
        </p:nvSpPr>
        <p:spPr>
          <a:xfrm>
            <a:off x="5445456" y="798270"/>
            <a:ext cx="4230000" cy="40737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0" name="Google Shape;40;h5de1ce3b4cd5eae9_0_869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5de1ce3b4cd5eae9_0_875"/>
          <p:cNvSpPr txBox="1"/>
          <p:nvPr>
            <p:ph idx="1" type="body"/>
          </p:nvPr>
        </p:nvSpPr>
        <p:spPr>
          <a:xfrm>
            <a:off x="343628" y="4664078"/>
            <a:ext cx="6613200" cy="6672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3" name="Google Shape;43;h5de1ce3b4cd5eae9_0_875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5de1ce3b4cd5eae9_0_878"/>
          <p:cNvSpPr txBox="1"/>
          <p:nvPr>
            <p:ph hasCustomPrompt="1" type="title"/>
          </p:nvPr>
        </p:nvSpPr>
        <p:spPr>
          <a:xfrm>
            <a:off x="343628" y="1219469"/>
            <a:ext cx="9393300" cy="2164800"/>
          </a:xfrm>
          <a:prstGeom prst="rect">
            <a:avLst/>
          </a:prstGeom>
        </p:spPr>
        <p:txBody>
          <a:bodyPr anchorCtr="0" anchor="b" bIns="100800" lIns="100800" spcFirstLastPara="1" rIns="100800" wrap="square" tIns="100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9pPr>
          </a:lstStyle>
          <a:p>
            <a:r>
              <a:t>xx%</a:t>
            </a:r>
          </a:p>
        </p:txBody>
      </p:sp>
      <p:sp>
        <p:nvSpPr>
          <p:cNvPr id="46" name="Google Shape;46;h5de1ce3b4cd5eae9_0_878"/>
          <p:cNvSpPr txBox="1"/>
          <p:nvPr>
            <p:ph idx="1" type="body"/>
          </p:nvPr>
        </p:nvSpPr>
        <p:spPr>
          <a:xfrm>
            <a:off x="343628" y="3475231"/>
            <a:ext cx="9393300" cy="14340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h5de1ce3b4cd5eae9_0_878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5de1ce3b4cd5eae9_0_882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5de1ce3b4cd5eae9_0_839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h5de1ce3b4cd5eae9_0_839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h5de1ce3b4cd5eae9_0_839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 algn="r">
              <a:buNone/>
              <a:defRPr sz="1100">
                <a:solidFill>
                  <a:schemeClr val="dk2"/>
                </a:solidFill>
              </a:defRPr>
            </a:lvl1pPr>
            <a:lvl2pPr lvl="1" algn="r">
              <a:buNone/>
              <a:defRPr sz="1100">
                <a:solidFill>
                  <a:schemeClr val="dk2"/>
                </a:solidFill>
              </a:defRPr>
            </a:lvl2pPr>
            <a:lvl3pPr lvl="2" algn="r">
              <a:buNone/>
              <a:defRPr sz="1100">
                <a:solidFill>
                  <a:schemeClr val="dk2"/>
                </a:solidFill>
              </a:defRPr>
            </a:lvl3pPr>
            <a:lvl4pPr lvl="3" algn="r">
              <a:buNone/>
              <a:defRPr sz="1100">
                <a:solidFill>
                  <a:schemeClr val="dk2"/>
                </a:solidFill>
              </a:defRPr>
            </a:lvl4pPr>
            <a:lvl5pPr lvl="4" algn="r">
              <a:buNone/>
              <a:defRPr sz="1100">
                <a:solidFill>
                  <a:schemeClr val="dk2"/>
                </a:solidFill>
              </a:defRPr>
            </a:lvl5pPr>
            <a:lvl6pPr lvl="5" algn="r">
              <a:buNone/>
              <a:defRPr sz="1100">
                <a:solidFill>
                  <a:schemeClr val="dk2"/>
                </a:solidFill>
              </a:defRPr>
            </a:lvl6pPr>
            <a:lvl7pPr lvl="6" algn="r">
              <a:buNone/>
              <a:defRPr sz="1100">
                <a:solidFill>
                  <a:schemeClr val="dk2"/>
                </a:solidFill>
              </a:defRPr>
            </a:lvl7pPr>
            <a:lvl8pPr lvl="7" algn="r">
              <a:buNone/>
              <a:defRPr sz="1100">
                <a:solidFill>
                  <a:schemeClr val="dk2"/>
                </a:solidFill>
              </a:defRPr>
            </a:lvl8pPr>
            <a:lvl9pPr lvl="8" algn="r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reports-public.ieso.ca/public/Demand/" TargetMode="External"/><Relationship Id="rId4" Type="http://schemas.openxmlformats.org/officeDocument/2006/relationships/hyperlink" Target="https://reports-public.ieso.ca/public/Demand/" TargetMode="External"/><Relationship Id="rId10" Type="http://schemas.openxmlformats.org/officeDocument/2006/relationships/hyperlink" Target="https://doi.org/10.25318/1710014801-eng" TargetMode="External"/><Relationship Id="rId9" Type="http://schemas.openxmlformats.org/officeDocument/2006/relationships/hyperlink" Target="https://doi.org/10.25318/1710014801-eng" TargetMode="External"/><Relationship Id="rId5" Type="http://schemas.openxmlformats.org/officeDocument/2006/relationships/hyperlink" Target="https://climate.weather.gc.ca/" TargetMode="External"/><Relationship Id="rId6" Type="http://schemas.openxmlformats.org/officeDocument/2006/relationships/hyperlink" Target="https://climate.weather.gc.ca/" TargetMode="External"/><Relationship Id="rId7" Type="http://schemas.openxmlformats.org/officeDocument/2006/relationships/hyperlink" Target="https://doi.org/10.25318/1710000901-eng" TargetMode="External"/><Relationship Id="rId8" Type="http://schemas.openxmlformats.org/officeDocument/2006/relationships/hyperlink" Target="https://doi.org/10.25318/1710000901-e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0" y="-227880"/>
            <a:ext cx="9573480" cy="135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Electricity Demand Forecasting for Ontario  </a:t>
            </a:r>
            <a:br>
              <a:rPr lang="en-CA" sz="2400"/>
            </a:b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&amp; Research Question  -</a:t>
            </a:r>
            <a:r>
              <a:rPr b="1" lang="en-CA" sz="2400"/>
              <a:t>Kshitij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>
            <p:ph idx="1" type="body"/>
          </p:nvPr>
        </p:nvSpPr>
        <p:spPr>
          <a:xfrm>
            <a:off x="64800" y="846360"/>
            <a:ext cx="9069480" cy="48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Electricity demand varies over time due to factors such as weather, population, and seasonal patterns.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Accurate demand forecasting can support electricity planning and resource management.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machine-learning models to forecast Ontario electricity demand.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predictive performance of different machine-learning algorithms.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Question: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Random Forest Regression provide more accurate one-hour-ahead Ontario electricity-demand forecasts than Linear Regression using previous hour's electricity demand, temperature, and population?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1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244800" y="88920"/>
            <a:ext cx="102963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data grid works in Ontario </a:t>
            </a:r>
            <a:br>
              <a:rPr lang="en-CA" sz="2400"/>
            </a:b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Ontario Electricity Context  -</a:t>
            </a:r>
            <a:r>
              <a:rPr b="1" lang="en-CA" sz="2400"/>
              <a:t>Kshitij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505507" y="-331720"/>
            <a:ext cx="90696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 of the Art — Gökçe &amp; Duman (2022)   -VIctor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98640" y="97585"/>
            <a:ext cx="90696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</a:rPr>
              <a:t>Objective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short-term(hourly) electricity demand and compare different machine-learning algorithms. [1]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</a:rPr>
              <a:t>Data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Electricity-consumption data from Turkey (2018–2021). Hourly demand. 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Meteorological factors and public holidays were included.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</a:rPr>
              <a:t>Algorithms: 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Regression, Random Forest, Extreme Gradient Boosting (XGBoost)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</a:rPr>
              <a:t>Method: 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used hourly Turkish electricity-consumption data, hourly temperature data, and included electricity consumption from 24 hours earlier as a lagged feature. STLF = Few hours to 24</a:t>
            </a:r>
            <a:r>
              <a:rPr lang="en-CA" sz="1200">
                <a:solidFill>
                  <a:srgbClr val="000000"/>
                </a:solidFill>
              </a:rPr>
              <a:t>h.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1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</a:rPr>
              <a:t>Key Finding: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and XGBoost generally performed better than Linear Regression. 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random forest had the lowest percent error and absolute error. 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3446284"/>
            <a:ext cx="9457650" cy="2224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505522" y="-289495"/>
            <a:ext cx="9069600" cy="12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 of the Art — Rawal &amp; Ahmad (2022) -Victor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147240" y="681480"/>
            <a:ext cx="9069480" cy="4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supervised machine-learning algorithms for medium-term electricity-demand forecasting.[2]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Electricity-demand data from </a:t>
            </a: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South Wales, Australia (2020)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30-minute-resolution data from january-december 2020.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were used, notably Linear regression and random forest</a:t>
            </a:r>
            <a:r>
              <a:rPr lang="en-CA" sz="1200">
                <a:solidFill>
                  <a:srgbClr val="000000"/>
                </a:solidFill>
              </a:rPr>
              <a:t>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Non-parametric algorithms generally performed better than parametric approaches.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was the best-performing algorithm in the study</a:t>
            </a:r>
            <a:r>
              <a:rPr lang="en-CA" sz="1200"/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9"/>
              </a:spcBef>
              <a:spcAft>
                <a:spcPts val="1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3132480"/>
            <a:ext cx="10080626" cy="253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504000" y="225720"/>
            <a:ext cx="9069480" cy="36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 Proposed ML Solution -Victor 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-10" y="838590"/>
            <a:ext cx="11448000" cy="4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Ontario electricity demand using historical and contextual data.</a:t>
            </a: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Variables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hour's (t) electricity demand (lagged demand) = Dt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/>
              <a:t>Population-weighted or unweighted Ontario temperature</a:t>
            </a:r>
            <a:r>
              <a:rPr lang="en-CA" sz="1200"/>
              <a:t> at t </a:t>
            </a:r>
            <a:r>
              <a:rPr lang="en-CA" sz="1200"/>
              <a:t>= Tt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/>
              <a:t>Ontario 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Population at </a:t>
            </a:r>
            <a:r>
              <a:rPr lang="en-CA" sz="1200"/>
              <a:t>t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Pt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 / time information = Calenda</a:t>
            </a:r>
            <a:r>
              <a:rPr lang="en-CA" sz="1200"/>
              <a:t>r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Variables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CA" sz="1200">
                <a:solidFill>
                  <a:schemeClr val="dk1"/>
                </a:solidFill>
              </a:rPr>
              <a:t>Geographic scope: Ontario-wide</a:t>
            </a:r>
            <a:br>
              <a:rPr lang="en-CA" sz="1200">
                <a:solidFill>
                  <a:schemeClr val="dk1"/>
                </a:solidFill>
              </a:rPr>
            </a:br>
            <a:r>
              <a:rPr lang="en-CA" sz="1200">
                <a:solidFill>
                  <a:schemeClr val="dk1"/>
                </a:solidFill>
              </a:rPr>
              <a:t>Time scope: from 2020-2025</a:t>
            </a:r>
            <a:br>
              <a:rPr lang="en-CA" sz="1200">
                <a:solidFill>
                  <a:schemeClr val="dk1"/>
                </a:solidFill>
              </a:rPr>
            </a:br>
            <a:br>
              <a:rPr lang="en-CA" sz="1200">
                <a:solidFill>
                  <a:schemeClr val="dk1"/>
                </a:solidFill>
              </a:rPr>
            </a:br>
            <a:r>
              <a:rPr b="1" lang="en-CA" sz="1200">
                <a:solidFill>
                  <a:schemeClr val="dk1"/>
                </a:solidFill>
              </a:rPr>
              <a:t>Function: </a:t>
            </a:r>
            <a:br>
              <a:rPr lang="en-CA" sz="1200">
                <a:solidFill>
                  <a:schemeClr val="dk1"/>
                </a:solidFill>
              </a:rPr>
            </a:br>
            <a:r>
              <a:rPr lang="en-CA" sz="1200">
                <a:solidFill>
                  <a:schemeClr val="dk1"/>
                </a:solidFill>
              </a:rPr>
              <a:t>Dt+1 = F(Dt, Tt, Pt, calendar variables) </a:t>
            </a: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Algorithms /  Model Development</a:t>
            </a: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simple baseline model.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the relationship between the input variables and electricity demand.</a:t>
            </a: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Regression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predictions from multiple decision trees.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model more complex and nonlinear relationships between the variables.</a:t>
            </a:r>
            <a:br>
              <a:rPr b="0" i="0" lang="en-CA" sz="12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Workflow</a:t>
            </a:r>
            <a:r>
              <a:rPr lang="en-CA" sz="1200"/>
              <a:t>: 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→ Data Preprocessing → Model Training → Demand Prediction → Model Comparison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0825" y="2074850"/>
            <a:ext cx="5451776" cy="1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5898075" y="1754400"/>
            <a:ext cx="420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</a:rPr>
              <a:t>LR and RF Examples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de1ce3b4cd5eae9_0_0"/>
          <p:cNvSpPr txBox="1"/>
          <p:nvPr>
            <p:ph type="title"/>
          </p:nvPr>
        </p:nvSpPr>
        <p:spPr>
          <a:xfrm>
            <a:off x="428400" y="0"/>
            <a:ext cx="9069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Data </a:t>
            </a:r>
            <a:r>
              <a:rPr lang="en-CA" sz="2400">
                <a:solidFill>
                  <a:schemeClr val="dk1"/>
                </a:solidFill>
              </a:rPr>
              <a:t>Sources [3-6]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CA" sz="2400"/>
              <a:t>V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de1ce3b4cd5eae9_0_0"/>
          <p:cNvSpPr txBox="1"/>
          <p:nvPr>
            <p:ph idx="1" type="body"/>
          </p:nvPr>
        </p:nvSpPr>
        <p:spPr>
          <a:xfrm>
            <a:off x="270720" y="564840"/>
            <a:ext cx="9069600" cy="5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17"/>
              </a:spcBef>
              <a:spcAft>
                <a:spcPts val="130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h5de1ce3b4cd5eae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25" y="675588"/>
            <a:ext cx="96297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428400" y="0"/>
            <a:ext cx="90694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Data Preprocessing and </a:t>
            </a:r>
            <a:r>
              <a:rPr lang="en-CA" sz="2400">
                <a:solidFill>
                  <a:schemeClr val="dk1"/>
                </a:solidFill>
              </a:rPr>
              <a:t>Alignment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CA" sz="2400"/>
              <a:t>V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270720" y="564840"/>
            <a:ext cx="9069480" cy="528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400" u="none" cap="none" strike="noStrike">
                <a:solidFill>
                  <a:schemeClr val="dk1"/>
                </a:solidFill>
              </a:rPr>
              <a:t>Data Preprocessing: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Download the datasets in CSV or Excel format.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Load the datasets into Python data frames.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Clean the data, including handling missing or inconsistent values.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 Align all datasets to a common hourly timeframe, where one row = one observation = one hour.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CA" sz="1400"/>
              <a:t>Apply One-Hot Encoding to categorical calendar variables (day of week and month).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Create lagged features and shift the target variable by one hour to predict next-hour electricity demand.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CA" sz="1200" u="none" cap="none" strike="noStrike">
                <a:solidFill>
                  <a:srgbClr val="000000"/>
                </a:solidFill>
              </a:rPr>
              <a:t>D</a:t>
            </a:r>
            <a:r>
              <a:rPr b="1" i="0" lang="en-CA" sz="1400" u="none" cap="none" strike="noStrike">
                <a:solidFill>
                  <a:schemeClr val="dk1"/>
                </a:solidFill>
              </a:rPr>
              <a:t>ata alignment by location (experimental) :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 Collect temperature data from several representative Ontario weather stations.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 Calculate and align temperature observations by hour.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 Obtain annual population estimates for the corresponding metropolitan areas from Statistics Canada and associate them with each hour's observations.  </a:t>
            </a:r>
            <a:b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4:  Weight each area's temperature by population to calculate a population-weighted hourly Ontario temperature  </a:t>
            </a:r>
            <a:b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: this is experimental, and we will see if just having </a:t>
            </a:r>
            <a:r>
              <a:rPr lang="en-CA" sz="1400">
                <a:solidFill>
                  <a:schemeClr val="dk1"/>
                </a:solidFill>
              </a:rPr>
              <a:t>average ontario temp is more acurate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de1ce3b4cd5eae9_0_411"/>
          <p:cNvSpPr txBox="1"/>
          <p:nvPr>
            <p:ph type="title"/>
          </p:nvPr>
        </p:nvSpPr>
        <p:spPr>
          <a:xfrm>
            <a:off x="428400" y="0"/>
            <a:ext cx="9069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Data Preprocessing and </a:t>
            </a:r>
            <a:r>
              <a:rPr lang="en-CA" sz="2400">
                <a:solidFill>
                  <a:schemeClr val="dk1"/>
                </a:solidFill>
              </a:rPr>
              <a:t>Alignment</a:t>
            </a:r>
            <a:r>
              <a:rPr b="0" lang="en-CA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CA" sz="2400"/>
              <a:t>V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5de1ce3b4cd5eae9_0_411"/>
          <p:cNvSpPr txBox="1"/>
          <p:nvPr/>
        </p:nvSpPr>
        <p:spPr>
          <a:xfrm>
            <a:off x="1972075" y="5242075"/>
            <a:ext cx="74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</a:rPr>
              <a:t>Alternative experiment: Unweighted average Ontario temperature. 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3" name="Google Shape;103;h5de1ce3b4cd5eae9_0_4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699" y="518376"/>
            <a:ext cx="7741002" cy="47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de1ce3b4cd5eae9_0_6"/>
          <p:cNvSpPr txBox="1"/>
          <p:nvPr>
            <p:ph type="title"/>
          </p:nvPr>
        </p:nvSpPr>
        <p:spPr>
          <a:xfrm>
            <a:off x="504000" y="384480"/>
            <a:ext cx="9069600" cy="2772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Implementation proposals and </a:t>
            </a:r>
            <a:r>
              <a:rPr lang="en-CA"/>
              <a:t>feasibility</a:t>
            </a:r>
            <a:r>
              <a:rPr lang="en-CA"/>
              <a:t> - </a:t>
            </a:r>
            <a:r>
              <a:rPr b="1" lang="en-CA" sz="2400"/>
              <a:t>Kshitij</a:t>
            </a:r>
            <a:endParaRPr/>
          </a:p>
        </p:txBody>
      </p:sp>
      <p:sp>
        <p:nvSpPr>
          <p:cNvPr id="109" name="Google Shape;109;h5de1ce3b4cd5eae9_0_6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00"/>
              </a:spcAft>
              <a:buNone/>
            </a:pPr>
            <a:r>
              <a:rPr lang="en-CA"/>
              <a:t>Kshitij make a note about feasability please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325440" y="0"/>
            <a:ext cx="90696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 Training, Forecasting &amp; Evaluation -Victor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187920" y="558000"/>
            <a:ext cx="9069480" cy="436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Training &amp; Evaluation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the data chronologically to preserve the time-series structure.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set: earlier observations years from 2020-2023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set: 2024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set: later, unseen observations : 2025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Linear Regression and Random Forest Regression using the same training data.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predicted demand with actual demand on the test set.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Horizon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One-hour-ahead forecasting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next hour's electricity demand using information available from </a:t>
            </a:r>
            <a:r>
              <a:rPr b="1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hours</a:t>
            </a: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MAE — average absolute prediction error.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RMSE — prediction error with greater penalty for large errors.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640" lvl="0" marL="450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R² — proportion of variation in electricity demand explained by the model.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Resolution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Geographic scope: Ontario-wide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resolution: Hourly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Observation: One row represents one hour</a:t>
            </a: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560" y="2051640"/>
            <a:ext cx="5752439" cy="52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de1ce3b4cd5eae9_0_515"/>
          <p:cNvSpPr txBox="1"/>
          <p:nvPr>
            <p:ph type="title"/>
          </p:nvPr>
        </p:nvSpPr>
        <p:spPr>
          <a:xfrm>
            <a:off x="325440" y="0"/>
            <a:ext cx="90696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 Training, Forecasting &amp; Evaluation -Victor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h5de1ce3b4cd5eae9_0_5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425" y="669000"/>
            <a:ext cx="7977641" cy="469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504000" y="225720"/>
            <a:ext cx="9069480" cy="36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Methodology:</a:t>
            </a:r>
            <a:r>
              <a:rPr b="1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r>
              <a:rPr b="1" lang="en-CA" sz="2400"/>
              <a:t>-</a:t>
            </a:r>
            <a:r>
              <a:rPr b="1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Ks</a:t>
            </a:r>
            <a:r>
              <a:rPr b="1" lang="en-CA" sz="2400">
                <a:solidFill>
                  <a:srgbClr val="000000"/>
                </a:solidFill>
              </a:rPr>
              <a:t>hitij</a:t>
            </a:r>
            <a:r>
              <a:rPr b="1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C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92573" y="843144"/>
            <a:ext cx="61671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115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electricity-demand, temperature, and population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and combine the datasets.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and test both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results and identify the better-performing approach.</a:t>
            </a:r>
            <a:br>
              <a:rPr b="0" i="0" lang="en-CA" sz="14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CA" sz="14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a5caa65d7f2f29b_0_1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Q and A</a:t>
            </a:r>
            <a:endParaRPr/>
          </a:p>
        </p:txBody>
      </p:sp>
      <p:sp>
        <p:nvSpPr>
          <p:cNvPr id="134" name="Google Shape;134;ha5caa65d7f2f29b_0_1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de1ce3b4cd5eae9_0_510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</a:t>
            </a:r>
            <a:r>
              <a:rPr lang="en-CA"/>
              <a:t>eferences</a:t>
            </a:r>
            <a:r>
              <a:rPr lang="en-CA"/>
              <a:t>	</a:t>
            </a:r>
            <a:endParaRPr/>
          </a:p>
        </p:txBody>
      </p:sp>
      <p:sp>
        <p:nvSpPr>
          <p:cNvPr id="140" name="Google Shape;140;h5de1ce3b4cd5eae9_0_510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[1] Gökçe and Duman, “Performance Comparison of Simple Regression, Random Forest and XGBoost Algorithms for Forecasting Electricity Demand,” 2022. doi: 10.1109/IISEC56263.2022.9998213.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[2] Rawal and Ahmad, “A Comparative Analysis of Supervised Machine Learning Algorithms for Electricity Demand Forecasting,” 2022. doi: 10.1109/ICPC2T53885.2022.9776960.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[3] Independent Electricity System Operator (IESO), “Ontario Electricity Demand Reports.” [Online]. Available:</a:t>
            </a:r>
            <a:r>
              <a:rPr lang="en-CA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CA" sz="1100" u="sng">
                <a:solidFill>
                  <a:schemeClr val="hlink"/>
                </a:solidFill>
                <a:hlinkClick r:id="rId4"/>
              </a:rPr>
              <a:t>https://reports-public.ieso.ca/public/Demand/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[4] Environment and Climate Change Canada, “Historical Climate Data.” [Online]. Available:</a:t>
            </a:r>
            <a:r>
              <a:rPr lang="en-CA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CA" sz="1100" u="sng">
                <a:solidFill>
                  <a:schemeClr val="hlink"/>
                </a:solidFill>
                <a:hlinkClick r:id="rId6"/>
              </a:rPr>
              <a:t>https://climate.weather.gc.ca/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[5] Statistics Canada, “Population estimates, quarterly,” Table 17-10-0009-01. [Online]. Available:</a:t>
            </a:r>
            <a:r>
              <a:rPr lang="en-CA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CA" sz="1100" u="sng">
                <a:solidFill>
                  <a:schemeClr val="hlink"/>
                </a:solidFill>
                <a:hlinkClick r:id="rId8"/>
              </a:rPr>
              <a:t>https://doi.org/10.25318/1710000901-eng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1"/>
                </a:solidFill>
              </a:rPr>
              <a:t>[6] Statistics Canada, “Population estimates, July 1, by census metropolitan area and census agglomeration, 2021 boundaries,” Table 17-10-0148-01. [Online]. Available:</a:t>
            </a:r>
            <a:r>
              <a:rPr lang="en-CA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CA" sz="1100" u="sng">
                <a:solidFill>
                  <a:schemeClr val="hlink"/>
                </a:solidFill>
                <a:hlinkClick r:id="rId10"/>
              </a:rPr>
              <a:t>https://doi.org/10.25318/1710014801-eng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300"/>
              </a:spcAft>
              <a:buNone/>
            </a:pPr>
            <a:br>
              <a:rPr lang="en-CA"/>
            </a:br>
            <a:br>
              <a:rPr lang="en-CA"/>
            </a:br>
            <a:br>
              <a:rPr lang="en-CA"/>
            </a:br>
            <a:br>
              <a:rPr lang="en-CA"/>
            </a:br>
            <a:br>
              <a:rPr lang="en-CA"/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5de1ce3b4cd5eae9_0_886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AI disclosure </a:t>
            </a:r>
            <a:endParaRPr/>
          </a:p>
        </p:txBody>
      </p:sp>
      <p:sp>
        <p:nvSpPr>
          <p:cNvPr id="146" name="Google Shape;146;h5de1ce3b4cd5eae9_0_886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1"/>
                </a:solidFill>
              </a:rPr>
              <a:t>Tool:</a:t>
            </a:r>
            <a:r>
              <a:rPr lang="en-CA" sz="1100">
                <a:solidFill>
                  <a:schemeClr val="dk1"/>
                </a:solidFill>
              </a:rPr>
              <a:t> ChatGPT (OpenAI)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dk1"/>
                </a:solidFill>
              </a:rPr>
              <a:t>Purpose:</a:t>
            </a:r>
            <a:r>
              <a:rPr lang="en-CA" sz="1100">
                <a:solidFill>
                  <a:schemeClr val="dk1"/>
                </a:solidFill>
              </a:rPr>
              <a:t> Used to assist with creating summary tables, generating illustrative diagrams.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dk1"/>
                </a:solidFill>
              </a:rPr>
              <a:t>Verification:</a:t>
            </a:r>
            <a:r>
              <a:rPr lang="en-CA" sz="1100">
                <a:solidFill>
                  <a:schemeClr val="dk1"/>
                </a:solidFill>
              </a:rPr>
              <a:t> Numerical results were checked against the cited research papers.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2026-10-04T18:58:09Z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