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d1c36ce-2756-ece1-f911-bbfe7fa72514}">
          <p14:sldIdLst>
            <p14:sldId id="256"/>
            <p14:sldId id="257"/>
          </p14:sldIdLst>
        </p14:section>
        <p14:section name="State of the art" id="{f74e6c5c-ef08-1fe5-2bed-2f8604ff4bd5}">
          <p14:sldIdLst>
            <p14:sldId id="258"/>
          </p14:sldIdLst>
        </p14:section>
        <p14:section name="Proposal" id="{e940063e-431e-3b0d-c3a6-b4b88f403c88}">
          <p14:sldIdLst>
            <p14:sldId id="259"/>
            <p14:sldId id="260"/>
            <p14:sldId id="261"/>
            <p14:sldId id="262"/>
          </p14:sldIdLst>
        </p14:section>
        <p14:section name="Plan" id="{e1397f3b-0035-456c-f44d-f52edfebda30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3B3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F3B3F"/>
                </a:solidFill>
                <a:latin typeface="+mn-lt"/>
              </a:rPr>
              <a:t>Rawal &amp; Ahmad [2]: MAPE, NSW demand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 (%)</c:v>
                </c:pt>
              </c:strCache>
            </c:strRef>
          </c:tx>
          <c:spPr>
            <a:solidFill>
              <a:srgbClr val="5B7F9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F9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8C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Linear Regression</c:v>
                  </c:pt>
                  <c:pt idx="1">
                    <c:v>Decision Tree</c:v>
                  </c:pt>
                  <c:pt idx="2">
                    <c:v>Random Forest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D9E2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(~15 s). Introduce the team and the one-line goal: forecast Ottawa's electricity load so the grid can plan supply ahead of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(~40 s). Four drivers move Ottawa's load. Our question: do tree ensembles beat linear regression for hourly demand and next-day baseload? Define baseload as the daily minimum hourly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(~50 s). Two IEEE comparisons show the same pattern: tree ensembles clearly beat linear regression for short-term demand (MAPE 10% to 2% in Rawal &amp; Ahmad). Kong et al. show LSTMs for residential load; we keep that as a stretch goal. The gap: a city-zone forecast plus a net-load view of renewables and EVs.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(~45 s). Steps 1-4 are the graded ML core, on real data. Step 5 is the smart-grid layer: we subtract assumed solar and wind farms and add EV fleet charging to get net load, the load that dispatchable supply must cover. This gives a dynamic load-distribution view without needing private utility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(~35 s). Everything the ML model learns from is real public data: IESO zonal demand for Ottawa, ECCC and Open-Meteo weather, the holiday calendar. Only the scenario layer uses assumptions, and we label them. Chronological split avoids leakage.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(~35 s). Where no public city-level data exists we make simple physical or calendar-based assumptions: a 10 MW solar farm via pvlib, a 20 MW wind farm via a standard power curve, residential load tied to temperature, industrial load tied to workdays, and a 300-vehicle EV fleet charging overnight. All are parameters, so we can run what-if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(~35 s). Four models from naive to XGBoost, all trained on the same features and split. Metrics: MAE, RMSE, MAPE and R² on the 2025 test year, broken down by season, peaks and holidays so we can analyse where each model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(~35 s). Data is public and small enough for a laptop; the core ML does not depend on the scenarios, and we have a fallback to Ontario-wide data. Timeline runs to the Dec 8 presentation and Dec 14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presenter (~20 s). Who did what, and how AI tools were used. Make sure this matches what you actually did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>
                    <a:alpha val="70000"/>
                  </a:schemeClr>
                </a:solidFill>
              </a:rPr>
              <a:t>ELG 5255 Applied Machine Learning · Phase 1 Proposal · Kshitij &amp; Victor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bolt-circle"/>
          <p:cNvSpPr/>
          <p:nvPr/>
        </p:nvSpPr>
        <p:spPr>
          <a:xfrm>
            <a:off x="548640" y="1097280"/>
            <a:ext cx="914400" cy="9144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" name="title-bol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31673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945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Forecasting Ottawa's Electricity Load for a Smarter Grid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Weather- and calendar-aware ML forecasts of hourly demand and baseload, with a net-load view of solar, wind and EV fleets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Kshitij  ·  Victor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ELG 5255 Applied Machine Learning · University of Ottawa · Phase 1 Proposal · October 13,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Problem: what drives Ottawa's electricity load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driver0-circle"/>
          <p:cNvSpPr/>
          <p:nvPr/>
        </p:nvSpPr>
        <p:spPr>
          <a:xfrm>
            <a:off x="548640" y="1325880"/>
            <a:ext cx="731520" cy="73152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5" name="driver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5014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Weather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Cold winters drive heating peaks; hot summers drive cooling peaks</a:t>
            </a:r>
            <a:endParaRPr lang="en-US" sz="1800" dirty="0"/>
          </a:p>
        </p:txBody>
      </p:sp>
      <p:sp>
        <p:nvSpPr>
          <p:cNvPr id="7" name="driver1-circle"/>
          <p:cNvSpPr/>
          <p:nvPr/>
        </p:nvSpPr>
        <p:spPr>
          <a:xfrm>
            <a:off x="548640" y="2350008"/>
            <a:ext cx="731520" cy="73152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8" name="driver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2525573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0428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Calendar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Workdays, weekends and statutory holidays change the daily shape</a:t>
            </a:r>
            <a:endParaRPr lang="en-US" sz="1800" dirty="0"/>
          </a:p>
        </p:txBody>
      </p:sp>
      <p:sp>
        <p:nvSpPr>
          <p:cNvPr id="10" name="driver2-circle"/>
          <p:cNvSpPr/>
          <p:nvPr/>
        </p:nvSpPr>
        <p:spPr>
          <a:xfrm>
            <a:off x="548640" y="3374136"/>
            <a:ext cx="731520" cy="73152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11" name="driver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3549701"/>
            <a:ext cx="380390" cy="3803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332841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Renewables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Solar and wind output vary hour to hour with the forecast</a:t>
            </a:r>
            <a:endParaRPr lang="en-US" sz="1800" dirty="0"/>
          </a:p>
        </p:txBody>
      </p:sp>
      <p:sp>
        <p:nvSpPr>
          <p:cNvPr id="13" name="driver3-circle"/>
          <p:cNvSpPr/>
          <p:nvPr/>
        </p:nvSpPr>
        <p:spPr>
          <a:xfrm>
            <a:off x="548640" y="4398264"/>
            <a:ext cx="731520" cy="73152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4" name="driver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4573829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43525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Electrification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 fleets add large, schedulable charging loads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83680" y="1325880"/>
            <a:ext cx="5056632" cy="39776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58000" y="1508760"/>
            <a:ext cx="4526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Research question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 tree-ensemble models (Random Forest, XGBoost) forecast Ottawa's hourly electricity demand and next-day baseload more accurately than a Linear Regression baseline, using lagged demand, weather and calendar features?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Why it matters: a good forecast lets the grid schedule supply, storage and flexible loads (like EV charging) ahead of demand instead of reacting to it.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Baseload = the minimum level of demand the grid must always serve (we use the daily minimum hourly load).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State of the art: tree ensembles beat linear models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49377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Same study: R² 0.31 (LR) → 0.93 (DT) → 0.97 (RF); MAE 802 → 220 → 159 MW.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1280160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335024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[1] Gökçe &amp; Duman, IEEE IISEC 2022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Hourly Turkish demand with temperature, holidays and a 24 h lag. RF and XGBoost beat Linear Regression; RF had the lowest error.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2395728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2450592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[2] Rawal &amp; Ahmad, IEEE ICPC2T 2022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Half-hourly NSW (Australia) demand, 2020. Non-parametric models beat parametric ones; Random Forest was best.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52160" y="3511296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3566160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[3] Kong et al., IEEE Trans. Smart Grid 2019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LSTM recurrent networks for short-term residential load. Deep sequence models win at noisy, household-level scale.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4663440"/>
            <a:ext cx="5788152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4736592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Gap we address: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these studies forecast a whole country or state. None targets a single city zone like Ottawa, or asks what renewables and EV fleets do to the net load that remains to be served.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Proposed solution: forecast, then balance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ge0-circle"/>
          <p:cNvSpPr/>
          <p:nvPr/>
        </p:nvSpPr>
        <p:spPr>
          <a:xfrm>
            <a:off x="77724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6" name="stage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623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· Real data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IESO hourly demand (Ottawa zone), ECCC + Open-Meteo weather, Ontario holidays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11810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756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ge1-circle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12" name="stage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79" y="166237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· Features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Lags t-1, t-24, t-168; temperature, HDD/CDD; hour, weekday, month, holiday flag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90702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2648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age2-circle"/>
          <p:cNvSpPr/>
          <p:nvPr/>
        </p:nvSpPr>
        <p:spPr>
          <a:xfrm>
            <a:off x="6355080" y="1508760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stage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699" y="166237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· ML models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Linear Regression (baseline), Random Forest, XGBoost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69594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1540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age3-circle"/>
          <p:cNvSpPr/>
          <p:nvPr/>
        </p:nvSpPr>
        <p:spPr>
          <a:xfrm>
            <a:off x="914400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24" name="stage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619" y="166237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· Forecasts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Next-hour demand and next-day baseload (daily minimum)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548640" y="4114800"/>
            <a:ext cx="11094415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netload-circle"/>
          <p:cNvSpPr/>
          <p:nvPr/>
        </p:nvSpPr>
        <p:spPr>
          <a:xfrm>
            <a:off x="822960" y="4343400"/>
            <a:ext cx="731520" cy="7315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9" name="netload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5" y="4518965"/>
            <a:ext cx="380390" cy="38039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828800" y="4206240"/>
            <a:ext cx="9539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· Scenario layer: live supply-demand view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Net load = forecast demand − solar farm − wind farm + EV fleet charging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Solar and wind come from weather forecasts through physical models; EV charging from workday and holiday schedules. The result shows, hour by hour, how much dispatchable supply is needed and when flexible EV charging can be shifted.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Data: real where possible, assumed where not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480560"/>
                <a:gridCol w="1737360"/>
                <a:gridCol w="15819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Resolution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Ottawa-zone electricity demand (target)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IESO Hourly Zonal Demand Report, Ottawa zone [4]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Hourly, 2020–2025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Temperature, humidity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ECCC historical climate data, Ottawa station [5]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Solar irradiance, 100 m wind speed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Open-Meteo historical weather API [6]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Holidays, workdays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Ontario statutory holiday calendar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Daily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Solar farm output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pvlib PV model [7] driven by real irradiance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Wind farm output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Generic turbine power curve driven by real wind speed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Residential vs. industrial split, EV fleet load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Calendar-based profiles (next slide)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Split: train 2020–2023 · validate 2024 · test 2025 (chronological, no shuffling, so no future data leaks into training).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Scenario assumptions: explicit and adjustable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sm0-circle"/>
          <p:cNvSpPr/>
          <p:nvPr/>
        </p:nvSpPr>
        <p:spPr>
          <a:xfrm>
            <a:off x="777240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6" name="asm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6514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Solar farm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 MW AC fixed-tilt array near Ottawa. Output from real irradiance and temperature through pvlib; zero at night, low under winter snow.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sm1-circle"/>
          <p:cNvSpPr/>
          <p:nvPr/>
        </p:nvSpPr>
        <p:spPr>
          <a:xfrm>
            <a:off x="4562856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1" name="asm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502" y="165140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 farm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62856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MW (e.g. 6 × 3.3 MW). Power curve: cut-in 3 m/s, rated 12 m/s, cut-out 25 m/s, from 100 m forecast wind speed.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19872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sm2-circle"/>
          <p:cNvSpPr/>
          <p:nvPr/>
        </p:nvSpPr>
        <p:spPr>
          <a:xfrm>
            <a:off x="8348472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6" name="asm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118" y="165140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79992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Residential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Follows temperature (heating and cooling degree-hours). Morning and evening peaks; higher on weekends and holidays.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sm3-circle"/>
          <p:cNvSpPr/>
          <p:nvPr/>
        </p:nvSpPr>
        <p:spPr>
          <a:xfrm>
            <a:off x="777240" y="40233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21" name="asm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16600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Industrial / commercial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Flat daytime block on workdays, reduced on weekends and statutory holidays, minimal overnight.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34256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asm4-circle"/>
          <p:cNvSpPr/>
          <p:nvPr/>
        </p:nvSpPr>
        <p:spPr>
          <a:xfrm>
            <a:off x="4562856" y="40233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26" name="asm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502" y="416600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94376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 fleet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62856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300 fleet vehicles, ~60 kWh each per workday, charged overnight (22:00–06:00); ~30% of that on holidays.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19872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sm5-circle"/>
          <p:cNvSpPr/>
          <p:nvPr/>
        </p:nvSpPr>
        <p:spPr>
          <a:xfrm>
            <a:off x="8348472" y="4023360"/>
            <a:ext cx="594360" cy="5943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1" name="asm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118" y="416600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79992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48472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Shares are scaled so their sum matches the real IESO Ottawa-zone total. Every parameter is a variable we can stress-test.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Methodology: models, baselines and evaluation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3F"/>
                </a:solidFill>
              </a:rPr>
              <a:t>Persistence / seasonal naive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Floor every model must beat: demand(t+1) = demand(t), or same hour last week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13432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3F"/>
                </a:solidFill>
              </a:rPr>
              <a:t>Linear Regression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Interpretable baseline; shows how much is linear in temperature and calendar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255264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300984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</a:rPr>
              <a:t>Random Forest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Bagged trees; captures nonlinear temperature response (U-shaped heating/cooling)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242816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88536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</a:rPr>
              <a:t>XGBoost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Gradient-boosted trees; strongest model in the literature for tabular load data [1]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03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Stretch goal: LSTM sequence model [3] if time allows.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280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Evaluation on the unseen 2025 test year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182880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288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MAE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MW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26880" y="182880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8288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RMSE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MW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949440" y="315468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315468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MAPE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%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326880" y="315468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0" y="315468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R²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fit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457200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Critical analysis: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errors by season, peak hours and holidays; feature importance; residual plots. Then net-load error after adding the solar, wind and EV scenarios.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Feasibility and timeline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F3B3F"/>
                </a:solidFill>
              </a:rPr>
              <a:t>Why this scope is realistic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Data is free, public and hourly: ~52,000 rows for 2020–2025, which trains in seconds to minutes on a laptop.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Standard, well-documented libraries: pandas, scikit-learn, XGBoost, pvlib.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The core ML deliverable (steps 1–4) does not depend on the scenario layer, so the scenarios can't put it at risk.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Clear fallback: if zonal data is incomplete, we use IESO Ontario-wide hourly demand with the same pipeline.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Out of scope: real-time control, grid power-flow simulation, private utility data.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75120" y="1463040"/>
            <a:ext cx="0" cy="4114800"/>
          </a:xfrm>
          <a:prstGeom prst="line">
            <a:avLst/>
          </a:prstGeom>
          <a:noFill/>
          <a:ln w="25400">
            <a:solidFill>
              <a:srgbClr val="2D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37960" y="1435608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0" y="12801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Oct 13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Proposal (this talk)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37960" y="2185416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0" y="202996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Oct 14–31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Collect and clean data; feature pipeline; EDA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2935224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27797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1–15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Train baselines, RF and XGBoost; tune on 2024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37960" y="3685032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0" y="352958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16–28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Scenario layer: solar, wind, EV, net load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4434840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4279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29–Dec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Test-year analysis; final presentation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37960" y="5184648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40880" y="50292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Dec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IEEE-format final report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contributions and use of AI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son0-circle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5" name="person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37160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B3F"/>
                </a:solidFill>
              </a:rPr>
              <a:t>Kshitij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Problem definition and research question; smart-grid scenario layer (solar, wind, EV, net load); feasibility and timeline; slide design.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erson1-circle"/>
          <p:cNvSpPr/>
          <p:nvPr/>
        </p:nvSpPr>
        <p:spPr>
          <a:xfrm>
            <a:off x="777240" y="2971800"/>
            <a:ext cx="685800" cy="68580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9" name="person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13639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78892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B3F"/>
                </a:solidFill>
              </a:rPr>
              <a:t>Victor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State-of-the-art review; data sources and preprocessing pipeline; model training and evaluation design.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Both members will share coding and writing of the final report.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309360" y="1280160"/>
            <a:ext cx="53309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ai-circle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4" name="ai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162763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066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AI disclosure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23317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ChatGPT (OpenAI):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summary tables and illustrative diagrams in our draft.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Claude (Anthropic), via Claude Code: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restructuring the deck for the 5-minute limit, slide wording and layout, checking citations, and drafting the scenario assumptions for us to review.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Our own work: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choice of problem, papers, data sources and methods. We checked every number against the cited papers and are responsible for all content.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[1] Gökçe and Duman, “Performance Comparison of Simple Regression, Random Forest and XGBoost Algorithms for Forecasting Electricity Demand,” in Proc. 3rd Int. Informatics and Software Engineering Conf. (IISEC), Ankara, 2022. doi: 10.1109/IISEC56263.2022.9998213.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[2] Rawal and Ahmad, “A Comparative Analysis of Supervised Machine Learning Algorithms for Electricity Demand Forecasting,” in Proc. 2nd Int. Conf. Power, Control and Computing Technologies (ICPC2T), 2022, pp. 1–6. doi: 10.1109/ICPC2T53885.2022.9776960.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[3] W. Kong, Z. Y. Dong, Y. Jia, D. J. Hill, Y. Xu and Y. Zhang, “Short-Term Residential Load Forecasting Based on LSTM Recurrent Neural Network,” IEEE Trans. Smart Grid, vol. 10, no. 1, pp. 841–851, 2019. doi: 10.1109/TSG.2017.2753802.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[4] Independent Electricity System Operator (IESO), “Hourly Zonal Demand Report.” [Online]. Available: https://reports-public.ieso.ca/public/DemandZonal/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[5] Environment and Climate Change Canada, “Historical Climate Data.” [Online]. Available: https://climate.weather.gc.ca/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[6] Open-Meteo, “Historical Weather API.” [Online]. Available: https://open-meteo.com/en/docs/historical-weather-api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[7] W. F. Holmgren, C. W. Hansen and M. A. Mikofski, “pvlib python: a python package for modeling solar energy systems,” J. Open Source Software, vol. 3, no. 29, p. 884, 2018. doi: 10.21105/joss.00884.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a-circle"/>
          <p:cNvSpPr/>
          <p:nvPr/>
        </p:nvSpPr>
        <p:spPr>
          <a:xfrm>
            <a:off x="5547208" y="1828800"/>
            <a:ext cx="1097280" cy="10972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" name="qa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0555" y="2092147"/>
            <a:ext cx="570586" cy="5705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2004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Questions?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1480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Forecast Ottawa's load from real data · balance it against solar, wind and EV fleets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ttawa Grid">
  <a:themeElements>
    <a:clrScheme name="Ottawa Grid">
      <a:dk1>
        <a:srgbClr val="1B2A2F"/>
      </a:dk1>
      <a:lt1>
        <a:srgbClr val="FFFFFF"/>
      </a:lt1>
      <a:dk2>
        <a:srgbClr val="0F3B3F"/>
      </a:dk2>
      <a:lt2>
        <a:srgbClr val="EEF4F3"/>
      </a:lt2>
      <a:accent1>
        <a:srgbClr val="F2A541"/>
      </a:accent1>
      <a:accent2>
        <a:srgbClr val="2D8C8C"/>
      </a:accent2>
      <a:accent3>
        <a:srgbClr val="C8553D"/>
      </a:accent3>
      <a:accent4>
        <a:srgbClr val="5B7F95"/>
      </a:accent4>
      <a:accent5>
        <a:srgbClr val="8FB996"/>
      </a:accent5>
      <a:accent6>
        <a:srgbClr val="6B5B95"/>
      </a:accent6>
      <a:hlink>
        <a:srgbClr val="2D8C8C"/>
      </a:hlink>
      <a:folHlink>
        <a:srgbClr val="5B7F95"/>
      </a:folHlink>
    </a:clrScheme>
    <a:fontScheme name="Ottawa Gri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 Ottawa's Electricity Load for a Smarter Grid</dc:title>
  <dc:subject>PptxGenJS Presentation</dc:subject>
  <dc:creator>Kshitij and Victor</dc:creator>
  <cp:lastModifiedBy>Kshitij and Victor</cp:lastModifiedBy>
  <cp:revision>1</cp:revision>
  <dcterms:created xsi:type="dcterms:W3CDTF">2026-10-12T20:49:31Z</dcterms:created>
  <dcterms:modified xsi:type="dcterms:W3CDTF">2026-10-12T20:49:31Z</dcterms:modified>
</cp:coreProperties>
</file>