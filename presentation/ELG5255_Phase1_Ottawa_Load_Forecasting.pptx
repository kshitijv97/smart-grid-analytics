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a5dd4e8-011c-8696-00a3-a002bda99432}">
          <p14:sldIdLst>
            <p14:sldId id="256"/>
            <p14:sldId id="257"/>
          </p14:sldIdLst>
        </p14:section>
        <p14:section name="State of the art" id="{5df3b3a8-2b26-4e3e-2f0a-846d6c335ddf}">
          <p14:sldIdLst>
            <p14:sldId id="258"/>
            <p14:sldId id="259"/>
          </p14:sldIdLst>
        </p14:section>
        <p14:section name="Proposal" id="{b365a31b-9fc5-740b-13a6-cecdd1890216}">
          <p14:sldIdLst>
            <p14:sldId id="260"/>
            <p14:sldId id="261"/>
            <p14:sldId id="262"/>
            <p14:sldId id="263"/>
          </p14:sldIdLst>
        </p14:section>
        <p14:section name="Plan" id="{2c756542-2863-e649-ad44-8d26ddc7ae1a}">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3B3F"/>
                </a:solidFill>
                <a:latin typeface="+mn-lt"/>
              </a:defRPr>
            </a:pPr>
            <a:r>
              <a:rPr sz="1200" b="0" i="0" u="none" strike="noStrike">
                <a:solidFill>
                  <a:srgbClr val="0F3B3F"/>
                </a:solidFill>
                <a:latin typeface="+mn-lt"/>
              </a:rPr>
              <a:t>Ibrahim et al. [3]: 1-h-ahead MAPE (lower is better)</a:t>
            </a:r>
          </a:p>
        </c:rich>
      </c:tx>
      <c:layout/>
      <c:overlay val="0"/>
    </c:title>
    <c:autoTitleDeleted val="0"/>
    <c:plotArea>
      <c:layout/>
      <c:barChart>
        <c:barDir val="bar"/>
        <c:grouping val="clustered"/>
        <c:varyColors val="0"/>
        <c:ser>
          <c:idx val="0"/>
          <c:order val="0"/>
          <c:tx>
            <c:strRef>
              <c:f>Sheet1!$B$1</c:f>
              <c:strCache>
                <c:ptCount val="1"/>
                <c:pt idx="0">
                  <c:v>MAPE (%)</c:v>
                </c:pt>
              </c:strCache>
            </c:strRef>
          </c:tx>
          <c:spPr>
            <a:solidFill>
              <a:srgbClr val="5B7F95"/>
            </a:solidFill>
            <a:effectLst/>
          </c:spPr>
          <c:invertIfNegative val="0"/>
          <c:dLbls>
            <c:numFmt formatCode="0.00&quot;%&quot;"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dPt>
            <c:idx val="0"/>
            <c:invertIfNegative val="0"/>
            <c:bubble3D val="0"/>
            <c:spPr>
              <a:solidFill>
                <a:srgbClr val="5B7F95"/>
              </a:solidFill>
              <a:effectLst/>
            </c:spPr>
          </c:dPt>
          <c:dPt>
            <c:idx val="1"/>
            <c:invertIfNegative val="0"/>
            <c:bubble3D val="0"/>
            <c:spPr>
              <a:solidFill>
                <a:srgbClr val="2D8C8C"/>
              </a:solidFill>
              <a:effectLst/>
            </c:spPr>
          </c:dPt>
          <c:dPt>
            <c:idx val="2"/>
            <c:invertIfNegative val="0"/>
            <c:bubble3D val="0"/>
            <c:spPr>
              <a:solidFill>
                <a:srgbClr val="F2A541"/>
              </a:solidFill>
              <a:effectLst/>
            </c:spPr>
          </c:dPt>
          <c:dPt>
            <c:idx val="3"/>
            <c:invertIfNegative val="0"/>
            <c:bubble3D val="0"/>
            <c:spPr>
              <a:solidFill>
                <a:srgbClr val="F2A541"/>
              </a:solidFill>
              <a:effectLst/>
            </c:spPr>
          </c:dPt>
          <c:dPt>
            <c:idx val="4"/>
            <c:invertIfNegative val="0"/>
            <c:bubble3D val="0"/>
            <c:spPr>
              <a:solidFill>
                <a:srgbClr val="5B7F95"/>
              </a:solidFill>
              <a:effectLst/>
            </c:spPr>
          </c:dPt>
          <c:dPt>
            <c:idx val="5"/>
            <c:invertIfNegative val="0"/>
            <c:bubble3D val="0"/>
            <c:spPr>
              <a:solidFill>
                <a:srgbClr val="5B7F95"/>
              </a:solidFill>
              <a:effectLst/>
            </c:spPr>
          </c:dPt>
          <c:cat>
            <c:multiLvlStrRef>
              <c:f>Sheet1!$A$2:$A$7</c:f>
              <c:multiLvlStrCache>
                <c:ptCount val="6"/>
                <c:lvl>
                  <c:pt idx="0">
                    <c:v>Deep learning</c:v>
                  </c:pt>
                  <c:pt idx="1">
                    <c:v>LightGBM</c:v>
                  </c:pt>
                  <c:pt idx="2">
                    <c:v>Random Forest</c:v>
                  </c:pt>
                  <c:pt idx="3">
                    <c:v>XGBoost</c:v>
                  </c:pt>
                  <c:pt idx="4">
                    <c:v>SVR</c:v>
                  </c:pt>
                  <c:pt idx="5">
                    <c:v>AdaBoost</c:v>
                  </c:pt>
                </c:lvl>
              </c:multiLvlStrCache>
            </c:multiLvlStrRef>
          </c:cat>
          <c:val>
            <c:numRef>
              <c:f>Sheet1!$B$2:$B$7</c:f>
              <c:numCache>
                <c:formatCode>General</c:formatCode>
                <c:ptCount val="6"/>
                <c:pt idx="0">
                  <c:v>2.9</c:v>
                </c:pt>
                <c:pt idx="1">
                  <c:v>3.07</c:v>
                </c:pt>
                <c:pt idx="2">
                  <c:v>3.22</c:v>
                </c:pt>
                <c:pt idx="3">
                  <c:v>3.45</c:v>
                </c:pt>
                <c:pt idx="4">
                  <c:v>4.9</c:v>
                </c:pt>
                <c:pt idx="5">
                  <c:v>5.7</c:v>
                </c:pt>
              </c:numCache>
            </c:numRef>
          </c:val>
        </c:ser>
        <c:dLbls>
          <c:numFmt formatCode="0.00&quot;%&quot;"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max val="7"/>
          <c:min val="0"/>
        </c:scaling>
        <c:delete val="0"/>
        <c:axPos val="b"/>
        <c:majorGridlines>
          <c:spPr>
            <a:ln w="6350" cap="flat">
              <a:solidFill>
                <a:srgbClr val="D9E2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1B2A2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Kshitij · TIME: about 10 seconds
SCRIPT
"Hello, I'm Kshitij, and this is Victor. Our project forecasts Ottawa's electricity load with machine learning, so that the grid can plan its supply ahead of demand instead of reacting to it."
KEY FACTS
- Course: ELG 5255 Applied Machine Learning, Phase 1 proposal (8% of the final grade).
- Topic area from the course brief: smart grid, load forecasting for residential areas.
- The whole talk must fit in 5 minutes; Q&amp;A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Kshitij · TIME: about 35 seconds
SCRIPT
"Ottawa's electricity demand changes for four main reasons. First, weather: cold winters cause heating peaks and hot summers cause cooling peaks. Second, the calendar: workdays, weekends and statutory holidays each have a different daily load profile. Third, renewables: solar and wind output changes from hour to hour with the weather. And fourth, electrification: EV fleets add large charging loads, but those loads can be scheduled.
So our research question is: can tree-ensemble models, Random Forest and XGBoost, forecast Ottawa's hourly demand and next-day baseload more accurately than a Linear Regression baseline, using past demand, weather and calendar features?
By baseload we mean the minimum demand the grid must always serve. We define it as the lowest hourly load of each day."
KEY FACTS
- Two targets: (1) next-hour demand in MW; (2) next-day baseload = minimum hourly load of the next day.
- Hourly load is U-shaped against temperature: it rises on cold days (heating) and on hot days (cooling).
- 'Tree ensemble' = a model made of many decision trees whose predictions are combined.
IF ASKED
- Why baseload? It tells operators how much always-on generation (e.g., nuclear and hydro in Ontario) is needed, and when there may be surplus at night.
- Why next-hour? It is the standard short-term load forecasting (STLF) horizon used in the papers we reviewed, so our results are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Victor · TIME: about 40 seconds
SCRIPT
"We reviewed four recent studies. Gökçe and Duman, an IEEE conference paper from 2022, forecast Turkey's hourly demand with Linear Regression, Random Forest and XGBoost. Both tree models beat Linear Regression: RMSE dropped from about 2348 to 2075 for Random Forest and 2039 for XGBoost, and Random Forest had the lowest absolute and percentage errors.
Rawal and Ahmad, also IEEE 2022, compared eight regression models on Australian data and found that non-parametric models outperformed parametric ones, with Random Forest the best.
Ibrahim and colleagues, in Energies 2022, tested eight models on Panama's grid. The chart on the left shows their one-hour-ahead errors. Deep learning was best at 2.9 percent MAPE, but Random Forest was close behind at 3.2 percent, and it trained in 7 seconds instead of 20 minutes.
Finally, Kong and colleagues, in IEEE Transactions on Smart Grid, showed that LSTM networks work well for individual households."
KEY FACTS
- [1] Gökçe &amp; Duman: Turkey, 1 Jan 2018 – 31 Dec 2021, 35,064 hourly records; features = month, weekday, hour, holiday flag, temperature of the 16 highest-consuming provinces, load 24 hours earlier; ~80/20 split. RMSE: LR 2348.35, RF 2075.32, XGBoost 2038.54. XGBoost best on squared error; RF best on absolute and percentage error. All models weaker in summer (COVID-19 recovery, extreme heat).
- [2] Rawal &amp; Ahmad: New South Wales, 2020; eight models (linear, polynomial, SVR, elastic net, gradient boosting, decision tree, random forest, KNN). Non-parametric &gt; parametric; RF best. We have NOT verified their exact numbers, so do not quote any.
- [3] Ibrahim et al.: Panama, Jan 2016 – Oct 2019, 33,600 hourly points; chronological 80/20 split. One-hour-ahead MAPE: deep learning 2.90%, LightGBM 3.07%, RF 3.22%, XGBoost 3.45%, SVR 4.90%, AdaBoost 5.70%. R²: deep learning 0.93, RF and LightGBM 0.92, XGBoost 0.91. 24-hour-ahead Bi-LSTM R² only 0.40, GRU 0.31.
- [4] Kong et al.: LSTM on household smart-meter data; beats competing methods for individual homes.
IF ASKED
- 'Parametric' models assume a fixed formula with a fixed number of parameters (e.g., linear regression). 'Non-parametric' models, such as trees and KNN, let the data decide the shape of the function.
- [3] is an MDPI journal, not IEEE. We use it for the review only; our implementation follows the IEEE paper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Victor · TIME: about 35 seconds
SCRIPT
"Here is how each lesson from the literature shapes our design. First, past load and temperature are the strongest predictors, so we use lags of one hour, one day and one week, together with temperature and humidity. Second, calendar effects matter, so we include Ontario's statutory holidays and a workday flag. Third, tree ensembles get within about a third of a percentage point of deep learning at a fraction of the cost, so Random Forest and XGBoost are our core models, with Linear Regression as the baseline. Fourth, earlier models struggled in extreme seasons and over longer horizons, so we will report errors by season and by horizon, and flag the 2020 COVID period.
The gap we address: these studies forecast a whole country, a state or a single home. None looks at a city zone like Ottawa, or at how solar, wind and EV fleets change the net load the grid still has to serve."
KEY FACTS
- Lag notation: t-1 = one hour ago; t-24 = same hour yesterday; t-168 = same hour last week (7 × 24 = 168).
- 0.3 percentage points: RF MAPE 3.22% vs deep learning 2.90% in [3].
- Training cost in [3]: RF 7.1 s, LightGBM 0.8 s, XGBoost 3.3 s, deep learning about 1200 s (20 min).
IF ASKED
- Why humidity? [3] found it useful alongside temperature; humid summer days increase cooling load.
- How do you flag COVID? A binary feature for the lockdown months of 2020, and an experiment training with and without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Kshitij · TIME: about 40 seconds
SCRIPT
"Our solution has five steps. Steps one to four are the graded machine learning core, and they use only real data. We collect IESO's hourly demand for the Ottawa zone, weather from Environment Canada and Open-Meteo, and Ontario's holiday calendar. We engineer features: lags, temperature, heating and cooling degree-hours, and calendar variables. We train Linear Regression, Random Forest and XGBoost. And we forecast next-hour demand and next-day baseload.
Step five is the smart-grid layer. We take the demand forecast, subtract the output of a solar farm and a wind farm, and add EV fleet charging. What is left is the net load: the load that controllable, or 'dispatchable', power plants must cover. This shows, hour by hour, how much supply is needed and when EV charging could be shifted to quieter hours."
KEY FACTS
- Net load = forecast demand − solar output − wind output + EV charging load.
- Dispatchable supply = generation that operators can turn up or down on demand (e.g., hydro, gas), unlike solar and wind.
- HDD/CDD (here degree-hours) = how far the temperature is below or above a base of about 18 °C; this captures heating and cooling demand.
IF ASKED
- Is step 5 machine learning? Not in itself: it is a physics- and rule-based simulation driven by our ML forecast. It turns the forecast into a smart-grid decision tool. The graded ML is in steps 1–4.
- Is this real-time? No. We use historical data to show how the system would work; real-time control is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Victor · TIME: about 30 seconds
SCRIPT
"This table separates real data from assumptions. Everything the machine learning model learns from is real and public: IESO's hourly zonal demand for Ottawa, temperature and humidity from Environment and Climate Change Canada, solar irradiance and wind speed from Open-Meteo, and the Ontario holiday calendar. Only the scenario layer uses assumptions, and we label them clearly.
We split the data chronologically: we train on 2020 to 2023, tune on 2024, and test on 2025. We never shuffle the data, so no information from the future can leak into training."
KEY FACTS
- IESO = Independent Electricity System Operator; it runs Ontario's grid and publishes the Hourly Zonal Demand Report for its 10 zones, one of which is Ottawa.
- ECCC = Environment and Climate Change Canada (climate.weather.gc.ca), hourly station data.
- Open-Meteo = free historical weather API with irradiance and 100 m wind speed.
- Rows: about 6 years × 8,760 hours ≈ 52,600 hourly rows.
IF ASKED
- What is data leakage? When the model sees information during training that would not be available at prediction time, which makes test results look better than reality.
- Missing values? Short gaps are interpolated; longer gaps are dropped and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Kshitij · TIME: about 30 seconds
SCRIPT
"Where no public data exists at city level, we make simple, explicit assumptions. A 10-megawatt solar farm, modelled with the pvlib library from real irradiance. A 20-megawatt wind farm, using a standard turbine power curve on real wind speeds. Residential load that follows temperature, with morning and evening peaks. Industrial and commercial load that follows the working week. And a fleet of 300 electric vehicles charging overnight. We scale these shares to match IESO's real Ottawa total, and every number is a parameter, so we can run what-if scenarios."
KEY FACTS
- Wind power curve: no output below the cut-in speed (3 m/s); output rises roughly with the cube of wind speed up to the rated speed (12 m/s); full output up to the cut-out speed (25 m/s); shutdown above it for safety.
- EV fleet energy: 300 vehicles × 60 kWh = 18 MWh per workday night; spread over 8 hours (22:00–06:00), that is about 2.25 MW on average.
- pvlib = open-source Python library for modelling solar panel output from weather data [8].
IF ASKED
- Why these sizes? They are round, plausible numbers for a city-scale scenario, not real installations. The point is to show the method; any size can be swapped in.
- Isn't this made up? The installations are hypothetical, but the weather that drives them is real, and we label them ASSUMED. The graded ML does not depend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Victor · TIME: about 30 seconds
SCRIPT
"We compare four models trained on the same features and the same split. A persistence baseline, which simply says the next hour equals this hour; every model must beat it. Linear Regression, which is easy to interpret. Random Forest, an ensemble of decision trees that captures the U-shaped relationship between temperature and load. And XGBoost, which builds trees one after another, each correcting the errors of the previous ones.
We evaluate on the unseen 2025 test year with four metrics: MAE, RMSE, MAPE and R-squared. And we analyse where each model fails: by season, at peak hours, and on holidays."
KEY FACTS
- MAE = average of |actual − predicted|, in MW. Easy to interpret.
- RMSE = square root of the average squared error, in MW. Penalises large errors more.
- MAPE = average of |error| / actual × 100%. Scale-free, so it can be compared across grids.
- R² = 1 − (sum of squared errors / total variance). 1 is perfect; 0 means no better than predicting the mean.
- Random Forest [9]: many trees, each trained on a bootstrap sample with random feature subsets; predictions are averaged (bagging), which reduces variance.
- XGBoost [10]: gradient boosting; trees are added one at a time to fit the remaining errors, with regularisation to prevent overfitting.
IF ASKED
- Why both RMSE and MAE? In [1], the ranking of RF and XGBoost flipped depending on the metric, so we report both.
- Hyperparameter tuning? Grid or random search on the 2024 validation year; [1] used GridSearchCV with 4-fold cross-validation.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Kshitij · TIME: about 25 seconds
SCRIPT
"This scope is realistic. The data is free, public and small: about 52,000 hourly rows, which trains in seconds to minutes on a laptop. We use standard libraries. The core deliverable does not depend on the scenario layer, so it cannot be put at risk by it. And if the Ottawa zonal data turns out incomplete, the same pipeline runs on Ontario-wide demand. Our timeline runs from data collection this month to the final presentation on December 8 and the report on December 14."
KEY FACTS
- Milestones: data and EDA by Oct 31; models trained by Nov 15; scenario layer by Nov 28; analysis and final presentation by Dec 8; IEEE-format report (at least 5 pages) by Dec 14.
- Libraries: pandas (data), scikit-learn (LR, RF, metrics), xgboost, pvlib.
IF ASKED
- What if you fall behind? The scenario layer is the first thing to shrink; the ML core comes first.
- What is EDA? Exploratory data analysis: plotting and summarising the data before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either · TIME: about 15 seconds
SCRIPT
"Kshitij led the problem definition, the smart-grid scenario layer and the plan. Victor led the literature review, the data pipeline and the evaluation design. We will share the coding and the report. We used ChatGPT for summary tables and diagrams in our draft, and Claude to restructure and proofread the slides and check citations. We chose the problem, papers and methods ourselves, and we checked every number against the papers."
KEY FACTS
- The course requires every deliverable to state each member's contribution, signed by all members.
- Check that the contribution lines are accurate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aloud. Leave it up only if asked about a source.
- [1]–[4] are the literature review; [1], [2] and [4] are IEEE, [3] is MDPI Energies (open access).
- [5]–[7] are data sources; [8] is the solar model library; [9] and [10] are the original Random Forest and XGBoost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(2 points of the rubric). Keep answers short and confident.
- Why Ottawa? City scale is where local weather, holidays and EV fleets matter; IESO publishes Ottawa-zone hourly data.
- Why not deep learning? In [3] it was only 0.3 points better in MAPE and took 20 min vs 7 s; LSTM is our stretch goal.
- Which paper are you implementing? Gökçe &amp; Duman [1] (IEEE), extended to Ottawa with weekly lags, baseload and net load.
- Are the solar, wind and EV numbers real? The weather inputs are real; the installations are hypothetical and labelled.
- How do you avoid leakage? Chronological split; lags use only past values; scalers are fit on training data only.
- Success criteria? All models beat persistence; RF and XGBoost beat LR on MAE, RMSE and MAPE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00800"/>
            <a:ext cx="7315200" cy="274320"/>
          </a:xfrm>
          <a:prstGeom prst="rect">
            <a:avLst/>
          </a:prstGeom>
          <a:noFill/>
          <a:ln/>
        </p:spPr>
        <p:txBody>
          <a:bodyPr wrap="square" rtlCol="0" anchor="ctr"/>
          <a:lstStyle/>
          <a:p>
            <a:pPr indent="0" marL="0">
              <a:buNone/>
            </a:pPr>
            <a:r>
              <a:rPr lang="en-US" sz="1000" dirty="0">
                <a:solidFill>
                  <a:schemeClr val="tx2">
                    <a:alpha val="70000"/>
                  </a:schemeClr>
                </a:solidFill>
              </a:rPr>
              <a:t>ELG 5255 Applied Machine Learning · Phase 1 Proposal · Kshitij &amp; Victor</a:t>
            </a:r>
            <a:endParaRPr lang="en-US" sz="1000" dirty="0"/>
          </a:p>
        </p:txBody>
      </p:sp>
      <p:sp>
        <p:nvSpPr>
          <p:cNvPr id="3" name="Text 1"/>
          <p:cNvSpPr/>
          <p:nvPr>
            <p:ph idx="101" type="title" hasCustomPrompt="1"/>
          </p:nvPr>
        </p:nvSpPr>
        <p:spPr>
          <a:xfrm>
            <a:off x="548640" y="320040"/>
            <a:ext cx="8899855"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bolt-circle"/>
          <p:cNvSpPr/>
          <p:nvPr/>
        </p:nvSpPr>
        <p:spPr>
          <a:xfrm>
            <a:off x="548640" y="1097280"/>
            <a:ext cx="914400" cy="914400"/>
          </a:xfrm>
          <a:prstGeom prst="ellipse">
            <a:avLst/>
          </a:prstGeom>
          <a:solidFill>
            <a:srgbClr val="F2A541"/>
          </a:solidFill>
          <a:ln w="12700">
            <a:solidFill>
              <a:srgbClr val="F2A541"/>
            </a:solidFill>
            <a:prstDash val="solid"/>
          </a:ln>
        </p:spPr>
      </p:sp>
      <p:pic>
        <p:nvPicPr>
          <p:cNvPr id="3" name="title-bolt-icon" descr="preencoded.png">    </p:cNvPr>
          <p:cNvPicPr>
            <a:picLocks noChangeAspect="1"/>
          </p:cNvPicPr>
          <p:nvPr/>
        </p:nvPicPr>
        <p:blipFill>
          <a:blip r:embed="rId1"/>
          <a:stretch>
            <a:fillRect/>
          </a:stretch>
        </p:blipFill>
        <p:spPr>
          <a:xfrm>
            <a:off x="768096" y="1316736"/>
            <a:ext cx="475488" cy="475488"/>
          </a:xfrm>
          <a:prstGeom prst="rect">
            <a:avLst/>
          </a:prstGeom>
        </p:spPr>
      </p:pic>
      <p:sp>
        <p:nvSpPr>
          <p:cNvPr id="4" name="Text 1"/>
          <p:cNvSpPr txBox="1"/>
          <p:nvPr/>
        </p:nvSpPr>
        <p:spPr>
          <a:xfrm>
            <a:off x="548640" y="2194560"/>
            <a:ext cx="9601200" cy="1645920"/>
          </a:xfrm>
          <a:prstGeom prst="rect">
            <a:avLst/>
          </a:prstGeom>
          <a:noFill/>
          <a:ln/>
        </p:spPr>
        <p:txBody>
          <a:bodyPr wrap="square" lIns="0" tIns="0" rIns="0" bIns="0" rtlCol="0" anchor="ctr"/>
          <a:lstStyle/>
          <a:p>
            <a:pPr indent="0" marL="0">
              <a:buNone/>
            </a:pPr>
            <a:r>
              <a:rPr lang="en-US" sz="4400" b="1" dirty="0">
                <a:solidFill>
                  <a:schemeClr val="bg1"/>
                </a:solidFill>
              </a:rPr>
              <a:t>Forecasting Ottawa's Electricity Load for a Smarter Grid</a:t>
            </a:r>
            <a:endParaRPr lang="en-US" sz="4400" dirty="0"/>
          </a:p>
        </p:txBody>
      </p:sp>
      <p:sp>
        <p:nvSpPr>
          <p:cNvPr id="5" name="Text 2"/>
          <p:cNvSpPr txBox="1"/>
          <p:nvPr/>
        </p:nvSpPr>
        <p:spPr>
          <a:xfrm>
            <a:off x="548640" y="3886200"/>
            <a:ext cx="9601200" cy="822960"/>
          </a:xfrm>
          <a:prstGeom prst="rect">
            <a:avLst/>
          </a:prstGeom>
          <a:noFill/>
          <a:ln/>
        </p:spPr>
        <p:txBody>
          <a:bodyPr wrap="square" lIns="0" tIns="0" rIns="0" bIns="0" rtlCol="0" anchor="ctr"/>
          <a:lstStyle/>
          <a:p>
            <a:pPr indent="0" marL="0">
              <a:buNone/>
            </a:pPr>
            <a:r>
              <a:rPr lang="en-US" sz="1800" dirty="0">
                <a:solidFill>
                  <a:schemeClr val="bg2"/>
                </a:solidFill>
              </a:rPr>
              <a:t>Weather- and calendar-aware machine learning forecasts of hourly demand and baseload, with a net-load view of solar, wind and EV fleets</a:t>
            </a:r>
            <a:endParaRPr lang="en-US" sz="1800" dirty="0"/>
          </a:p>
        </p:txBody>
      </p:sp>
      <p:sp>
        <p:nvSpPr>
          <p:cNvPr id="6" name="Text 3"/>
          <p:cNvSpPr txBox="1"/>
          <p:nvPr/>
        </p:nvSpPr>
        <p:spPr>
          <a:xfrm>
            <a:off x="548640" y="5303520"/>
            <a:ext cx="10058400" cy="731520"/>
          </a:xfrm>
          <a:prstGeom prst="rect">
            <a:avLst/>
          </a:prstGeom>
          <a:noFill/>
          <a:ln/>
        </p:spPr>
        <p:txBody>
          <a:bodyPr wrap="square" lIns="0" tIns="0" rIns="0" bIns="0" rtlCol="0" anchor="ctr"/>
          <a:lstStyle/>
          <a:p>
            <a:pPr indent="0" marL="0">
              <a:buNone/>
            </a:pPr>
            <a:r>
              <a:rPr lang="en-US" sz="1400" b="1" dirty="0">
                <a:solidFill>
                  <a:schemeClr val="accent1"/>
                </a:solidFill>
              </a:rPr>
              <a:t>Kshitij  ·  Victor</a:t>
            </a:r>
            <a:endParaRPr lang="en-US" sz="1400" dirty="0"/>
          </a:p>
          <a:p>
            <a:pPr indent="0" marL="0">
              <a:buNone/>
            </a:pPr>
            <a:r>
              <a:rPr lang="en-US" sz="1400" dirty="0">
                <a:solidFill>
                  <a:schemeClr val="accent1"/>
                </a:solidFill>
              </a:rPr>
              <a:t>ELG 5255 Applied Machine Learning · University of Ottawa · Phase 1 Proposal · October 13,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899855" cy="731520"/>
          </a:xfrm>
          <a:prstGeom prst="rect">
            <a:avLst/>
          </a:prstGeom>
          <a:noFill/>
          <a:ln/>
        </p:spPr>
        <p:txBody>
          <a:bodyPr wrap="square" lIns="0" tIns="0" rIns="0" bIns="0" rtlCol="0" anchor="ctr"/>
          <a:lstStyle/>
          <a:p>
            <a:pPr algn="l" indent="0" marL="0">
              <a:buNone/>
            </a:pPr>
            <a:r>
              <a:rPr lang="en-US" sz="3000" b="1" dirty="0">
                <a:solidFill>
                  <a:schemeClr val="tx2"/>
                </a:solidFill>
              </a:rPr>
              <a:t>The problem: what drives Ottawa's electricity load?</a:t>
            </a:r>
            <a:endParaRPr lang="en-US" sz="3000" dirty="0"/>
          </a:p>
        </p:txBody>
      </p:sp>
      <p:sp>
        <p:nvSpPr>
          <p:cNvPr id="3" name="Text 1"/>
          <p:cNvSpPr txBox="1"/>
          <p:nvPr/>
        </p:nvSpPr>
        <p:spPr>
          <a:xfrm>
            <a:off x="9631375" y="320040"/>
            <a:ext cx="2011680" cy="731520"/>
          </a:xfrm>
          <a:prstGeom prst="rect">
            <a:avLst/>
          </a:prstGeom>
          <a:noFill/>
          <a:ln/>
        </p:spPr>
        <p:txBody>
          <a:bodyPr wrap="square" lIns="0" tIns="0" rIns="0" bIns="0" rtlCol="0" anchor="ctr"/>
          <a:lstStyle/>
          <a:p>
            <a:pPr algn="r" indent="0" marL="0">
              <a:buNone/>
            </a:pPr>
            <a:r>
              <a:rPr lang="en-US" sz="1400" i="1" dirty="0">
                <a:solidFill>
                  <a:schemeClr val="accent2"/>
                </a:solidFill>
              </a:rPr>
              <a:t>Kshitij</a:t>
            </a:r>
            <a:endParaRPr lang="en-US" sz="1400" dirty="0"/>
          </a:p>
        </p:txBody>
      </p:sp>
      <p:sp>
        <p:nvSpPr>
          <p:cNvPr id="4" name="driver0-circle"/>
          <p:cNvSpPr/>
          <p:nvPr/>
        </p:nvSpPr>
        <p:spPr>
          <a:xfrm>
            <a:off x="548640" y="1325880"/>
            <a:ext cx="731520" cy="731520"/>
          </a:xfrm>
          <a:prstGeom prst="ellipse">
            <a:avLst/>
          </a:prstGeom>
          <a:solidFill>
            <a:srgbClr val="0F3B3F"/>
          </a:solidFill>
          <a:ln w="12700">
            <a:solidFill>
              <a:srgbClr val="0F3B3F"/>
            </a:solidFill>
            <a:prstDash val="solid"/>
          </a:ln>
        </p:spPr>
      </p:sp>
      <p:pic>
        <p:nvPicPr>
          <p:cNvPr id="5" name="driver0-icon" descr="preencoded.png">    </p:cNvPr>
          <p:cNvPicPr>
            <a:picLocks noChangeAspect="1"/>
          </p:cNvPicPr>
          <p:nvPr/>
        </p:nvPicPr>
        <p:blipFill>
          <a:blip r:embed="rId1"/>
          <a:stretch>
            <a:fillRect/>
          </a:stretch>
        </p:blipFill>
        <p:spPr>
          <a:xfrm>
            <a:off x="724205" y="1501445"/>
            <a:ext cx="380390" cy="380390"/>
          </a:xfrm>
          <a:prstGeom prst="rect">
            <a:avLst/>
          </a:prstGeom>
        </p:spPr>
      </p:pic>
      <p:sp>
        <p:nvSpPr>
          <p:cNvPr id="6" name="Text 3"/>
          <p:cNvSpPr txBox="1"/>
          <p:nvPr/>
        </p:nvSpPr>
        <p:spPr>
          <a:xfrm>
            <a:off x="1463040" y="1280160"/>
            <a:ext cx="4754880" cy="868680"/>
          </a:xfrm>
          <a:prstGeom prst="rect">
            <a:avLst/>
          </a:prstGeom>
          <a:noFill/>
          <a:ln/>
        </p:spPr>
        <p:txBody>
          <a:bodyPr wrap="square" lIns="0" tIns="0" rIns="0" bIns="0" rtlCol="0" anchor="ctr"/>
          <a:lstStyle/>
          <a:p>
            <a:pPr indent="0" marL="0">
              <a:buNone/>
            </a:pPr>
            <a:r>
              <a:rPr lang="en-US" sz="1800" b="1" dirty="0">
                <a:solidFill>
                  <a:schemeClr val="tx2"/>
                </a:solidFill>
              </a:rPr>
              <a:t>Weather</a:t>
            </a:r>
            <a:endParaRPr lang="en-US" sz="1800" dirty="0"/>
          </a:p>
          <a:p>
            <a:pPr indent="0" marL="0">
              <a:buNone/>
            </a:pPr>
            <a:r>
              <a:rPr lang="en-US" sz="1400" dirty="0">
                <a:solidFill>
                  <a:schemeClr val="tx1"/>
                </a:solidFill>
              </a:rPr>
              <a:t>Cold winters cause heating peaks; hot summers cause cooling peaks</a:t>
            </a:r>
            <a:endParaRPr lang="en-US" sz="1800" dirty="0"/>
          </a:p>
        </p:txBody>
      </p:sp>
      <p:sp>
        <p:nvSpPr>
          <p:cNvPr id="7" name="driver1-circle"/>
          <p:cNvSpPr/>
          <p:nvPr/>
        </p:nvSpPr>
        <p:spPr>
          <a:xfrm>
            <a:off x="548640" y="2350008"/>
            <a:ext cx="731520" cy="731520"/>
          </a:xfrm>
          <a:prstGeom prst="ellipse">
            <a:avLst/>
          </a:prstGeom>
          <a:solidFill>
            <a:srgbClr val="2D8C8C"/>
          </a:solidFill>
          <a:ln w="12700">
            <a:solidFill>
              <a:srgbClr val="2D8C8C"/>
            </a:solidFill>
            <a:prstDash val="solid"/>
          </a:ln>
        </p:spPr>
      </p:sp>
      <p:pic>
        <p:nvPicPr>
          <p:cNvPr id="8" name="driver1-icon" descr="preencoded.png">    </p:cNvPr>
          <p:cNvPicPr>
            <a:picLocks noChangeAspect="1"/>
          </p:cNvPicPr>
          <p:nvPr/>
        </p:nvPicPr>
        <p:blipFill>
          <a:blip r:embed="rId2"/>
          <a:stretch>
            <a:fillRect/>
          </a:stretch>
        </p:blipFill>
        <p:spPr>
          <a:xfrm>
            <a:off x="724205" y="2525573"/>
            <a:ext cx="380390" cy="380390"/>
          </a:xfrm>
          <a:prstGeom prst="rect">
            <a:avLst/>
          </a:prstGeom>
        </p:spPr>
      </p:pic>
      <p:sp>
        <p:nvSpPr>
          <p:cNvPr id="9" name="Text 5"/>
          <p:cNvSpPr txBox="1"/>
          <p:nvPr/>
        </p:nvSpPr>
        <p:spPr>
          <a:xfrm>
            <a:off x="1463040" y="2304288"/>
            <a:ext cx="4754880" cy="868680"/>
          </a:xfrm>
          <a:prstGeom prst="rect">
            <a:avLst/>
          </a:prstGeom>
          <a:noFill/>
          <a:ln/>
        </p:spPr>
        <p:txBody>
          <a:bodyPr wrap="square" lIns="0" tIns="0" rIns="0" bIns="0" rtlCol="0" anchor="ctr"/>
          <a:lstStyle/>
          <a:p>
            <a:pPr indent="0" marL="0">
              <a:buNone/>
            </a:pPr>
            <a:r>
              <a:rPr lang="en-US" sz="1800" b="1" dirty="0">
                <a:solidFill>
                  <a:schemeClr val="tx2"/>
                </a:solidFill>
              </a:rPr>
              <a:t>Calendar</a:t>
            </a:r>
            <a:endParaRPr lang="en-US" sz="1800" dirty="0"/>
          </a:p>
          <a:p>
            <a:pPr indent="0" marL="0">
              <a:buNone/>
            </a:pPr>
            <a:r>
              <a:rPr lang="en-US" sz="1400" dirty="0">
                <a:solidFill>
                  <a:schemeClr val="tx1"/>
                </a:solidFill>
              </a:rPr>
              <a:t>Workdays, weekends and statutory holidays change the daily load profile</a:t>
            </a:r>
            <a:endParaRPr lang="en-US" sz="1800" dirty="0"/>
          </a:p>
        </p:txBody>
      </p:sp>
      <p:sp>
        <p:nvSpPr>
          <p:cNvPr id="10" name="driver2-circle"/>
          <p:cNvSpPr/>
          <p:nvPr/>
        </p:nvSpPr>
        <p:spPr>
          <a:xfrm>
            <a:off x="548640" y="3374136"/>
            <a:ext cx="731520" cy="731520"/>
          </a:xfrm>
          <a:prstGeom prst="ellipse">
            <a:avLst/>
          </a:prstGeom>
          <a:solidFill>
            <a:srgbClr val="0F3B3F"/>
          </a:solidFill>
          <a:ln w="12700">
            <a:solidFill>
              <a:srgbClr val="0F3B3F"/>
            </a:solidFill>
            <a:prstDash val="solid"/>
          </a:ln>
        </p:spPr>
      </p:sp>
      <p:pic>
        <p:nvPicPr>
          <p:cNvPr id="11" name="driver2-icon" descr="preencoded.png">    </p:cNvPr>
          <p:cNvPicPr>
            <a:picLocks noChangeAspect="1"/>
          </p:cNvPicPr>
          <p:nvPr/>
        </p:nvPicPr>
        <p:blipFill>
          <a:blip r:embed="rId3"/>
          <a:stretch>
            <a:fillRect/>
          </a:stretch>
        </p:blipFill>
        <p:spPr>
          <a:xfrm>
            <a:off x="724205" y="3549701"/>
            <a:ext cx="380390" cy="380390"/>
          </a:xfrm>
          <a:prstGeom prst="rect">
            <a:avLst/>
          </a:prstGeom>
        </p:spPr>
      </p:pic>
      <p:sp>
        <p:nvSpPr>
          <p:cNvPr id="12" name="Text 7"/>
          <p:cNvSpPr txBox="1"/>
          <p:nvPr/>
        </p:nvSpPr>
        <p:spPr>
          <a:xfrm>
            <a:off x="1463040" y="3328416"/>
            <a:ext cx="4754880" cy="868680"/>
          </a:xfrm>
          <a:prstGeom prst="rect">
            <a:avLst/>
          </a:prstGeom>
          <a:noFill/>
          <a:ln/>
        </p:spPr>
        <p:txBody>
          <a:bodyPr wrap="square" lIns="0" tIns="0" rIns="0" bIns="0" rtlCol="0" anchor="ctr"/>
          <a:lstStyle/>
          <a:p>
            <a:pPr indent="0" marL="0">
              <a:buNone/>
            </a:pPr>
            <a:r>
              <a:rPr lang="en-US" sz="1800" b="1" dirty="0">
                <a:solidFill>
                  <a:schemeClr val="tx2"/>
                </a:solidFill>
              </a:rPr>
              <a:t>Renewables</a:t>
            </a:r>
            <a:endParaRPr lang="en-US" sz="1800" dirty="0"/>
          </a:p>
          <a:p>
            <a:pPr indent="0" marL="0">
              <a:buNone/>
            </a:pPr>
            <a:r>
              <a:rPr lang="en-US" sz="1400" dirty="0">
                <a:solidFill>
                  <a:schemeClr val="tx1"/>
                </a:solidFill>
              </a:rPr>
              <a:t>Solar and wind output changes from hour to hour with the weather</a:t>
            </a:r>
            <a:endParaRPr lang="en-US" sz="1800" dirty="0"/>
          </a:p>
        </p:txBody>
      </p:sp>
      <p:sp>
        <p:nvSpPr>
          <p:cNvPr id="13" name="driver3-circle"/>
          <p:cNvSpPr/>
          <p:nvPr/>
        </p:nvSpPr>
        <p:spPr>
          <a:xfrm>
            <a:off x="548640" y="4398264"/>
            <a:ext cx="731520" cy="731520"/>
          </a:xfrm>
          <a:prstGeom prst="ellipse">
            <a:avLst/>
          </a:prstGeom>
          <a:solidFill>
            <a:srgbClr val="2D8C8C"/>
          </a:solidFill>
          <a:ln w="12700">
            <a:solidFill>
              <a:srgbClr val="2D8C8C"/>
            </a:solidFill>
            <a:prstDash val="solid"/>
          </a:ln>
        </p:spPr>
      </p:sp>
      <p:pic>
        <p:nvPicPr>
          <p:cNvPr id="14" name="driver3-icon" descr="preencoded.png">    </p:cNvPr>
          <p:cNvPicPr>
            <a:picLocks noChangeAspect="1"/>
          </p:cNvPicPr>
          <p:nvPr/>
        </p:nvPicPr>
        <p:blipFill>
          <a:blip r:embed="rId4"/>
          <a:stretch>
            <a:fillRect/>
          </a:stretch>
        </p:blipFill>
        <p:spPr>
          <a:xfrm>
            <a:off x="724205" y="4573829"/>
            <a:ext cx="380390" cy="380390"/>
          </a:xfrm>
          <a:prstGeom prst="rect">
            <a:avLst/>
          </a:prstGeom>
        </p:spPr>
      </p:pic>
      <p:sp>
        <p:nvSpPr>
          <p:cNvPr id="15" name="Text 9"/>
          <p:cNvSpPr txBox="1"/>
          <p:nvPr/>
        </p:nvSpPr>
        <p:spPr>
          <a:xfrm>
            <a:off x="1463040" y="4352544"/>
            <a:ext cx="4754880" cy="868680"/>
          </a:xfrm>
          <a:prstGeom prst="rect">
            <a:avLst/>
          </a:prstGeom>
          <a:noFill/>
          <a:ln/>
        </p:spPr>
        <p:txBody>
          <a:bodyPr wrap="square" lIns="0" tIns="0" rIns="0" bIns="0" rtlCol="0" anchor="ctr"/>
          <a:lstStyle/>
          <a:p>
            <a:pPr indent="0" marL="0">
              <a:buNone/>
            </a:pPr>
            <a:r>
              <a:rPr lang="en-US" sz="1800" b="1" dirty="0">
                <a:solidFill>
                  <a:schemeClr val="tx2"/>
                </a:solidFill>
              </a:rPr>
              <a:t>Electrification</a:t>
            </a:r>
            <a:endParaRPr lang="en-US" sz="1800" dirty="0"/>
          </a:p>
          <a:p>
            <a:pPr indent="0" marL="0">
              <a:buNone/>
            </a:pPr>
            <a:r>
              <a:rPr lang="en-US" sz="1400" dirty="0">
                <a:solidFill>
                  <a:schemeClr val="tx1"/>
                </a:solidFill>
              </a:rPr>
              <a:t>EV fleets add large charging loads that can be scheduled</a:t>
            </a:r>
            <a:endParaRPr lang="en-US" sz="1800" dirty="0"/>
          </a:p>
        </p:txBody>
      </p:sp>
      <p:sp>
        <p:nvSpPr>
          <p:cNvPr id="16" name="Shape 10"/>
          <p:cNvSpPr/>
          <p:nvPr/>
        </p:nvSpPr>
        <p:spPr>
          <a:xfrm>
            <a:off x="6583680" y="1325880"/>
            <a:ext cx="5056632" cy="3977640"/>
          </a:xfrm>
          <a:prstGeom prst="roundRect">
            <a:avLst>
              <a:gd name="adj" fmla="val 2759"/>
            </a:avLst>
          </a:prstGeom>
          <a:solidFill>
            <a:schemeClr val="tx2"/>
          </a:solidFill>
          <a:ln w="12700">
            <a:solidFill>
              <a:schemeClr val="tx2"/>
            </a:solidFill>
            <a:prstDash val="solid"/>
          </a:ln>
        </p:spPr>
      </p:sp>
      <p:sp>
        <p:nvSpPr>
          <p:cNvPr id="17" name="Text 11"/>
          <p:cNvSpPr txBox="1"/>
          <p:nvPr/>
        </p:nvSpPr>
        <p:spPr>
          <a:xfrm>
            <a:off x="6858000" y="1508760"/>
            <a:ext cx="4526280" cy="3611880"/>
          </a:xfrm>
          <a:prstGeom prst="rect">
            <a:avLst/>
          </a:prstGeom>
          <a:noFill/>
          <a:ln/>
        </p:spPr>
        <p:txBody>
          <a:bodyPr wrap="square" lIns="0" tIns="0" rIns="0" bIns="0" rtlCol="0" anchor="t"/>
          <a:lstStyle/>
          <a:p>
            <a:pPr indent="0" marL="0">
              <a:buNone/>
            </a:pPr>
            <a:r>
              <a:rPr lang="en-US" sz="2000" b="1" dirty="0">
                <a:solidFill>
                  <a:schemeClr val="accent1"/>
                </a:solidFill>
              </a:rPr>
              <a:t>Research question</a:t>
            </a:r>
            <a:endParaRPr lang="en-US" sz="2000" dirty="0"/>
          </a:p>
          <a:p>
            <a:pPr indent="0" marL="0">
              <a:buNone/>
            </a:pPr>
            <a:r>
              <a:rPr lang="en-US" sz="800" dirty="0">
                <a:solidFill>
                  <a:srgbClr val="000000"/>
                </a:solidFill>
              </a:rPr>
              <a:t> </a:t>
            </a:r>
            <a:endParaRPr lang="en-US" sz="2000" dirty="0"/>
          </a:p>
          <a:p>
            <a:pPr indent="0" marL="0">
              <a:buNone/>
            </a:pPr>
            <a:r>
              <a:rPr lang="en-US" sz="1600" dirty="0">
                <a:solidFill>
                  <a:schemeClr val="bg1"/>
                </a:solidFill>
              </a:rPr>
              <a:t>Can tree-ensemble models (Random Forest, XGBoost) forecast Ottawa's hourly electricity demand and next-day baseload more accurately than a Linear Regression baseline, using lagged demand, weather and calendar features?</a:t>
            </a:r>
            <a:endParaRPr lang="en-US" sz="2000" dirty="0"/>
          </a:p>
          <a:p>
            <a:pPr indent="0" marL="0">
              <a:buNone/>
            </a:pPr>
            <a:r>
              <a:rPr lang="en-US" sz="800" dirty="0">
                <a:solidFill>
                  <a:srgbClr val="000000"/>
                </a:solidFill>
              </a:rPr>
              <a:t> </a:t>
            </a:r>
            <a:endParaRPr lang="en-US" sz="2000" dirty="0"/>
          </a:p>
          <a:p>
            <a:pPr indent="0" marL="0">
              <a:buNone/>
            </a:pPr>
            <a:r>
              <a:rPr lang="en-US" sz="1400" i="1" dirty="0">
                <a:solidFill>
                  <a:schemeClr val="bg2"/>
                </a:solidFill>
              </a:rPr>
              <a:t>Why it matters: an accurate forecast lets the grid schedule supply, storage and flexible loads (such as EV charging) ahead of demand, instead of reacting to it.</a:t>
            </a:r>
            <a:endParaRPr lang="en-US" sz="2000" dirty="0"/>
          </a:p>
        </p:txBody>
      </p:sp>
      <p:sp>
        <p:nvSpPr>
          <p:cNvPr id="18" name="Text 12"/>
          <p:cNvSpPr txBox="1"/>
          <p:nvPr/>
        </p:nvSpPr>
        <p:spPr>
          <a:xfrm>
            <a:off x="548640" y="5577840"/>
            <a:ext cx="11094415" cy="457200"/>
          </a:xfrm>
          <a:prstGeom prst="rect">
            <a:avLst/>
          </a:prstGeom>
          <a:noFill/>
          <a:ln/>
        </p:spPr>
        <p:txBody>
          <a:bodyPr wrap="square" lIns="0" tIns="0" rIns="0" bIns="0" rtlCol="0" anchor="ctr"/>
          <a:lstStyle/>
          <a:p>
            <a:pPr indent="0" marL="0">
              <a:buNone/>
            </a:pPr>
            <a:r>
              <a:rPr lang="en-US" sz="1200" i="1" dirty="0">
                <a:solidFill>
                  <a:schemeClr val="tx2"/>
                </a:solidFill>
              </a:rPr>
              <a:t>Baseload is the minimum level of demand that the grid must always serve. We define it as the lowest hourly load of each day.</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899855" cy="731520"/>
          </a:xfrm>
          <a:prstGeom prst="rect">
            <a:avLst/>
          </a:prstGeom>
          <a:noFill/>
          <a:ln/>
        </p:spPr>
        <p:txBody>
          <a:bodyPr wrap="square" lIns="0" tIns="0" rIns="0" bIns="0" rtlCol="0" anchor="ctr"/>
          <a:lstStyle/>
          <a:p>
            <a:pPr algn="l" indent="0" marL="0">
              <a:buNone/>
            </a:pPr>
            <a:r>
              <a:rPr lang="en-US" sz="3000" b="1" dirty="0">
                <a:solidFill>
                  <a:schemeClr val="tx2"/>
                </a:solidFill>
              </a:rPr>
              <a:t>State of the art: what recent studies found</a:t>
            </a:r>
            <a:endParaRPr lang="en-US" sz="3000" dirty="0"/>
          </a:p>
        </p:txBody>
      </p:sp>
      <p:sp>
        <p:nvSpPr>
          <p:cNvPr id="3" name="Text 1"/>
          <p:cNvSpPr txBox="1"/>
          <p:nvPr/>
        </p:nvSpPr>
        <p:spPr>
          <a:xfrm>
            <a:off x="9631375" y="320040"/>
            <a:ext cx="2011680" cy="731520"/>
          </a:xfrm>
          <a:prstGeom prst="rect">
            <a:avLst/>
          </a:prstGeom>
          <a:noFill/>
          <a:ln/>
        </p:spPr>
        <p:txBody>
          <a:bodyPr wrap="square" lIns="0" tIns="0" rIns="0" bIns="0" rtlCol="0" anchor="ctr"/>
          <a:lstStyle/>
          <a:p>
            <a:pPr algn="r" indent="0" marL="0">
              <a:buNone/>
            </a:pPr>
            <a:r>
              <a:rPr lang="en-US" sz="1400" i="1" dirty="0">
                <a:solidFill>
                  <a:schemeClr val="accent2"/>
                </a:solidFill>
              </a:rPr>
              <a:t>Victor</a:t>
            </a:r>
            <a:endParaRPr lang="en-US" sz="1400" dirty="0"/>
          </a:p>
        </p:txBody>
      </p:sp>
      <p:graphicFrame>
        <p:nvGraphicFramePr>
          <p:cNvPr id="4" name="Chart 0" descr=""/>
          <p:cNvGraphicFramePr/>
          <p:nvPr/>
        </p:nvGraphicFramePr>
        <p:xfrm>
          <a:off x="548640" y="1234440"/>
          <a:ext cx="4480560"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440680"/>
            <a:ext cx="4480560" cy="502920"/>
          </a:xfrm>
          <a:prstGeom prst="rect">
            <a:avLst/>
          </a:prstGeom>
          <a:noFill/>
          <a:ln/>
        </p:spPr>
        <p:txBody>
          <a:bodyPr wrap="square" lIns="0" tIns="0" rIns="0" bIns="0" rtlCol="0" anchor="ctr"/>
          <a:lstStyle/>
          <a:p>
            <a:pPr indent="0" marL="0">
              <a:buNone/>
            </a:pPr>
            <a:r>
              <a:rPr lang="en-US" sz="1100" i="1" dirty="0">
                <a:solidFill>
                  <a:schemeClr val="tx2"/>
                </a:solidFill>
              </a:rPr>
              <a:t>Orange bars mark the two models we propose. Random Forest reached R² = 0.92 with 7.1 s of training, versus 20 min for deep learning.</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349240" y="1234440"/>
          <a:ext cx="6291072" cy="914400"/>
        </p:xfrm>
        <a:graphic>
          <a:graphicData uri="http://schemas.openxmlformats.org/drawingml/2006/table">
            <a:tbl>
              <a:tblPr/>
              <a:tblGrid>
                <a:gridCol w="1874520"/>
                <a:gridCol w="2148840"/>
                <a:gridCol w="2267712"/>
              </a:tblGrid>
              <a:tr h="365760">
                <a:tc>
                  <a:txBody>
                    <a:bodyPr/>
                    <a:lstStyle/>
                    <a:p>
                      <a:pPr indent="0" marL="0">
                        <a:buNone/>
                      </a:pPr>
                      <a:r>
                        <a:rPr lang="en-US" sz="1100" b="1" dirty="0">
                          <a:solidFill>
                            <a:srgbClr val="FFFFFF"/>
                          </a:solidFill>
                        </a:rPr>
                        <a:t>Study</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0F3B3F"/>
                    </a:solidFill>
                  </a:tcPr>
                </a:tc>
                <a:tc>
                  <a:txBody>
                    <a:bodyPr/>
                    <a:lstStyle/>
                    <a:p>
                      <a:pPr indent="0" marL="0">
                        <a:buNone/>
                      </a:pPr>
                      <a:r>
                        <a:rPr lang="en-US" sz="1100" b="1" dirty="0">
                          <a:solidFill>
                            <a:srgbClr val="FFFFFF"/>
                          </a:solidFill>
                        </a:rPr>
                        <a:t>Data</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0F3B3F"/>
                    </a:solidFill>
                  </a:tcPr>
                </a:tc>
                <a:tc>
                  <a:txBody>
                    <a:bodyPr/>
                    <a:lstStyle/>
                    <a:p>
                      <a:pPr indent="0" marL="0">
                        <a:buNone/>
                      </a:pPr>
                      <a:r>
                        <a:rPr lang="en-US" sz="1100" b="1" dirty="0">
                          <a:solidFill>
                            <a:srgbClr val="FFFFFF"/>
                          </a:solidFill>
                        </a:rPr>
                        <a:t>Result</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0F3B3F"/>
                    </a:solidFill>
                  </a:tcPr>
                </a:tc>
              </a:tr>
              <a:tr h="914400">
                <a:tc>
                  <a:txBody>
                    <a:bodyPr/>
                    <a:lstStyle/>
                    <a:p>
                      <a:pPr indent="0" marL="0">
                        <a:buNone/>
                      </a:pPr>
                      <a:r>
                        <a:rPr lang="en-US" sz="1100" dirty="0">
                          <a:solidFill>
                            <a:srgbClr val="1B2A2F"/>
                          </a:solidFill>
                        </a:rPr>
                        <a:t>[1] Gökçe &amp; Duman, IEEE IISEC 2022</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rPr>
                        <a:t>Turkey, hourly, 2018–21 (35,064 h); temperature, holidays, 24-hour lag</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rPr>
                        <a:t>RMSE: LR 2348, RF 2075, XGBoost 2039. RF had the lowest absolute and percentage errors</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r>
              <a:tr h="777240">
                <a:tc>
                  <a:txBody>
                    <a:bodyPr/>
                    <a:lstStyle/>
                    <a:p>
                      <a:pPr indent="0" marL="0">
                        <a:buNone/>
                      </a:pPr>
                      <a:r>
                        <a:rPr lang="en-US" sz="1100" dirty="0">
                          <a:solidFill>
                            <a:srgbClr val="1B2A2F"/>
                          </a:solidFill>
                        </a:rPr>
                        <a:t>[2] Rawal &amp; Ahmad, IEEE ICPC2T 2022</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rPr>
                        <a:t>New South Wales, Australia, 2020; eight regression models</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rPr>
                        <a:t>Non-parametric models outperformed parametric ones; Random Forest was best</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r>
              <a:tr h="914400">
                <a:tc>
                  <a:txBody>
                    <a:bodyPr/>
                    <a:lstStyle/>
                    <a:p>
                      <a:pPr indent="0" marL="0">
                        <a:buNone/>
                      </a:pPr>
                      <a:r>
                        <a:rPr lang="en-US" sz="1100" dirty="0">
                          <a:solidFill>
                            <a:srgbClr val="1B2A2F"/>
                          </a:solidFill>
                        </a:rPr>
                        <a:t>[3] Ibrahim et al., Energies 2022</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rPr>
                        <a:t>Panama, hourly, 2016–19 (33,600 h); temperature, humidity, lagged load</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rPr>
                        <a:t>Deep learning R² = 0.93; RF and LightGBM R² = 0.92; 24-hour-ahead Bi-LSTM only 0.40</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r>
              <a:tr h="640080">
                <a:tc>
                  <a:txBody>
                    <a:bodyPr/>
                    <a:lstStyle/>
                    <a:p>
                      <a:pPr indent="0" marL="0">
                        <a:buNone/>
                      </a:pPr>
                      <a:r>
                        <a:rPr lang="en-US" sz="1100" dirty="0">
                          <a:solidFill>
                            <a:srgbClr val="1B2A2F"/>
                          </a:solidFill>
                        </a:rPr>
                        <a:t>[4] Kong et al., IEEE Trans. Smart Grid 2019</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rPr>
                        <a:t>Household smart-meter data</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rPr>
                        <a:t>LSTM outperformed competing methods for individual households</a:t>
                      </a:r>
                      <a:endParaRPr lang="en-US" sz="1100" dirty="0"/>
                    </a:p>
                  </a:txBody>
                  <a:tcPr marL="73152" marR="73152"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899855" cy="731520"/>
          </a:xfrm>
          <a:prstGeom prst="rect">
            <a:avLst/>
          </a:prstGeom>
          <a:noFill/>
          <a:ln/>
        </p:spPr>
        <p:txBody>
          <a:bodyPr wrap="square" lIns="0" tIns="0" rIns="0" bIns="0" rtlCol="0" anchor="ctr"/>
          <a:lstStyle/>
          <a:p>
            <a:pPr algn="l" indent="0" marL="0">
              <a:buNone/>
            </a:pPr>
            <a:r>
              <a:rPr lang="en-US" sz="3000" b="1" dirty="0">
                <a:solidFill>
                  <a:schemeClr val="tx2"/>
                </a:solidFill>
              </a:rPr>
              <a:t>How the literature shapes our design</a:t>
            </a:r>
            <a:endParaRPr lang="en-US" sz="3000" dirty="0"/>
          </a:p>
        </p:txBody>
      </p:sp>
      <p:sp>
        <p:nvSpPr>
          <p:cNvPr id="3" name="Text 1"/>
          <p:cNvSpPr txBox="1"/>
          <p:nvPr/>
        </p:nvSpPr>
        <p:spPr>
          <a:xfrm>
            <a:off x="9631375" y="320040"/>
            <a:ext cx="2011680" cy="731520"/>
          </a:xfrm>
          <a:prstGeom prst="rect">
            <a:avLst/>
          </a:prstGeom>
          <a:noFill/>
          <a:ln/>
        </p:spPr>
        <p:txBody>
          <a:bodyPr wrap="square" lIns="0" tIns="0" rIns="0" bIns="0" rtlCol="0" anchor="ctr"/>
          <a:lstStyle/>
          <a:p>
            <a:pPr algn="r" indent="0" marL="0">
              <a:buNone/>
            </a:pPr>
            <a:r>
              <a:rPr lang="en-US" sz="1400" i="1" dirty="0">
                <a:solidFill>
                  <a:schemeClr val="accent2"/>
                </a:solidFill>
              </a:rPr>
              <a:t>Victor</a:t>
            </a:r>
            <a:endParaRPr lang="en-US" sz="1400" dirty="0"/>
          </a:p>
        </p:txBody>
      </p:sp>
      <p:sp>
        <p:nvSpPr>
          <p:cNvPr id="4" name="Shape 2"/>
          <p:cNvSpPr/>
          <p:nvPr/>
        </p:nvSpPr>
        <p:spPr>
          <a:xfrm>
            <a:off x="548640" y="1234440"/>
            <a:ext cx="6766560" cy="896112"/>
          </a:xfrm>
          <a:prstGeom prst="roundRect">
            <a:avLst>
              <a:gd name="adj" fmla="val 12245"/>
            </a:avLst>
          </a:prstGeom>
          <a:solidFill>
            <a:schemeClr val="bg2"/>
          </a:solidFill>
          <a:ln w="12700">
            <a:solidFill>
              <a:schemeClr val="bg2"/>
            </a:solidFill>
            <a:prstDash val="solid"/>
          </a:ln>
        </p:spPr>
      </p:sp>
      <p:sp>
        <p:nvSpPr>
          <p:cNvPr id="5" name="lesson0-circle"/>
          <p:cNvSpPr/>
          <p:nvPr/>
        </p:nvSpPr>
        <p:spPr>
          <a:xfrm>
            <a:off x="731520" y="1389888"/>
            <a:ext cx="585216" cy="585216"/>
          </a:xfrm>
          <a:prstGeom prst="ellipse">
            <a:avLst/>
          </a:prstGeom>
          <a:solidFill>
            <a:srgbClr val="2D8C8C"/>
          </a:solidFill>
          <a:ln w="12700">
            <a:solidFill>
              <a:srgbClr val="2D8C8C"/>
            </a:solidFill>
            <a:prstDash val="solid"/>
          </a:ln>
        </p:spPr>
      </p:sp>
      <p:pic>
        <p:nvPicPr>
          <p:cNvPr id="6" name="lesson0-icon" descr="preencoded.png">    </p:cNvPr>
          <p:cNvPicPr>
            <a:picLocks noChangeAspect="1"/>
          </p:cNvPicPr>
          <p:nvPr/>
        </p:nvPicPr>
        <p:blipFill>
          <a:blip r:embed="rId1"/>
          <a:stretch>
            <a:fillRect/>
          </a:stretch>
        </p:blipFill>
        <p:spPr>
          <a:xfrm>
            <a:off x="871972" y="1530340"/>
            <a:ext cx="304312" cy="304312"/>
          </a:xfrm>
          <a:prstGeom prst="rect">
            <a:avLst/>
          </a:prstGeom>
        </p:spPr>
      </p:pic>
      <p:sp>
        <p:nvSpPr>
          <p:cNvPr id="7" name="Text 4"/>
          <p:cNvSpPr txBox="1"/>
          <p:nvPr/>
        </p:nvSpPr>
        <p:spPr>
          <a:xfrm>
            <a:off x="1508760" y="1271016"/>
            <a:ext cx="5669280" cy="822960"/>
          </a:xfrm>
          <a:prstGeom prst="rect">
            <a:avLst/>
          </a:prstGeom>
          <a:noFill/>
          <a:ln/>
        </p:spPr>
        <p:txBody>
          <a:bodyPr wrap="square" lIns="0" tIns="0" rIns="0" bIns="0" rtlCol="0" anchor="ctr"/>
          <a:lstStyle/>
          <a:p>
            <a:pPr indent="0" marL="0">
              <a:buNone/>
            </a:pPr>
            <a:r>
              <a:rPr lang="en-US" sz="1400" b="1" dirty="0">
                <a:solidFill>
                  <a:srgbClr val="0F3B3F"/>
                </a:solidFill>
              </a:rPr>
              <a:t>Lagged load and temperature drive accuracy</a:t>
            </a:r>
            <a:endParaRPr lang="en-US" sz="1400" dirty="0"/>
          </a:p>
          <a:p>
            <a:pPr indent="0" marL="0">
              <a:buNone/>
            </a:pPr>
            <a:r>
              <a:rPr lang="en-US" sz="1200" dirty="0">
                <a:solidFill>
                  <a:srgbClr val="1B2A2F"/>
                </a:solidFill>
              </a:rPr>
              <a:t>Load from the previous week and day, plus temperature, were the top predictors in [3]; [1] used a 24-hour lag.</a:t>
            </a:r>
            <a:endParaRPr lang="en-US" sz="1400" dirty="0"/>
          </a:p>
        </p:txBody>
      </p:sp>
      <p:sp>
        <p:nvSpPr>
          <p:cNvPr id="8" name="Shape 5"/>
          <p:cNvSpPr/>
          <p:nvPr/>
        </p:nvSpPr>
        <p:spPr>
          <a:xfrm>
            <a:off x="7406640" y="1563624"/>
            <a:ext cx="274320" cy="237744"/>
          </a:xfrm>
          <a:prstGeom prst="rightArrow">
            <a:avLst/>
          </a:prstGeom>
          <a:solidFill>
            <a:schemeClr val="accent1"/>
          </a:solidFill>
          <a:ln w="12700">
            <a:solidFill>
              <a:schemeClr val="accent1"/>
            </a:solidFill>
            <a:prstDash val="solid"/>
          </a:ln>
        </p:spPr>
      </p:sp>
      <p:sp>
        <p:nvSpPr>
          <p:cNvPr id="9" name="Shape 6"/>
          <p:cNvSpPr/>
          <p:nvPr/>
        </p:nvSpPr>
        <p:spPr>
          <a:xfrm>
            <a:off x="7772400" y="1234440"/>
            <a:ext cx="3867912" cy="896112"/>
          </a:xfrm>
          <a:prstGeom prst="roundRect">
            <a:avLst>
              <a:gd name="adj" fmla="val 12245"/>
            </a:avLst>
          </a:prstGeom>
          <a:solidFill>
            <a:schemeClr val="tx2"/>
          </a:solidFill>
          <a:ln w="12700">
            <a:solidFill>
              <a:schemeClr val="tx2"/>
            </a:solidFill>
            <a:prstDash val="solid"/>
          </a:ln>
        </p:spPr>
      </p:sp>
      <p:sp>
        <p:nvSpPr>
          <p:cNvPr id="10" name="Text 7"/>
          <p:cNvSpPr txBox="1"/>
          <p:nvPr/>
        </p:nvSpPr>
        <p:spPr>
          <a:xfrm>
            <a:off x="7955280" y="1271016"/>
            <a:ext cx="3520440" cy="822960"/>
          </a:xfrm>
          <a:prstGeom prst="rect">
            <a:avLst/>
          </a:prstGeom>
          <a:noFill/>
          <a:ln/>
        </p:spPr>
        <p:txBody>
          <a:bodyPr wrap="square" lIns="0" tIns="0" rIns="0" bIns="0" rtlCol="0" anchor="ctr"/>
          <a:lstStyle/>
          <a:p>
            <a:pPr indent="0" marL="0">
              <a:buNone/>
            </a:pPr>
            <a:r>
              <a:rPr lang="en-US" sz="1300" b="1" dirty="0">
                <a:solidFill>
                  <a:schemeClr val="bg1"/>
                </a:solidFill>
              </a:rPr>
              <a:t>Lags t-1, t-24, t-168; temperature, humidity</a:t>
            </a:r>
            <a:endParaRPr lang="en-US" sz="1300" dirty="0"/>
          </a:p>
        </p:txBody>
      </p:sp>
      <p:sp>
        <p:nvSpPr>
          <p:cNvPr id="11" name="Shape 8"/>
          <p:cNvSpPr/>
          <p:nvPr/>
        </p:nvSpPr>
        <p:spPr>
          <a:xfrm>
            <a:off x="548640" y="2258568"/>
            <a:ext cx="6766560" cy="896112"/>
          </a:xfrm>
          <a:prstGeom prst="roundRect">
            <a:avLst>
              <a:gd name="adj" fmla="val 12245"/>
            </a:avLst>
          </a:prstGeom>
          <a:solidFill>
            <a:schemeClr val="bg2"/>
          </a:solidFill>
          <a:ln w="12700">
            <a:solidFill>
              <a:schemeClr val="bg2"/>
            </a:solidFill>
            <a:prstDash val="solid"/>
          </a:ln>
        </p:spPr>
      </p:sp>
      <p:sp>
        <p:nvSpPr>
          <p:cNvPr id="12" name="lesson1-circle"/>
          <p:cNvSpPr/>
          <p:nvPr/>
        </p:nvSpPr>
        <p:spPr>
          <a:xfrm>
            <a:off x="731520" y="2414016"/>
            <a:ext cx="585216" cy="585216"/>
          </a:xfrm>
          <a:prstGeom prst="ellipse">
            <a:avLst/>
          </a:prstGeom>
          <a:solidFill>
            <a:srgbClr val="2D8C8C"/>
          </a:solidFill>
          <a:ln w="12700">
            <a:solidFill>
              <a:srgbClr val="2D8C8C"/>
            </a:solidFill>
            <a:prstDash val="solid"/>
          </a:ln>
        </p:spPr>
      </p:sp>
      <p:pic>
        <p:nvPicPr>
          <p:cNvPr id="13" name="lesson1-icon" descr="preencoded.png">    </p:cNvPr>
          <p:cNvPicPr>
            <a:picLocks noChangeAspect="1"/>
          </p:cNvPicPr>
          <p:nvPr/>
        </p:nvPicPr>
        <p:blipFill>
          <a:blip r:embed="rId2"/>
          <a:stretch>
            <a:fillRect/>
          </a:stretch>
        </p:blipFill>
        <p:spPr>
          <a:xfrm>
            <a:off x="871972" y="2554468"/>
            <a:ext cx="304312" cy="304312"/>
          </a:xfrm>
          <a:prstGeom prst="rect">
            <a:avLst/>
          </a:prstGeom>
        </p:spPr>
      </p:pic>
      <p:sp>
        <p:nvSpPr>
          <p:cNvPr id="14" name="Text 10"/>
          <p:cNvSpPr txBox="1"/>
          <p:nvPr/>
        </p:nvSpPr>
        <p:spPr>
          <a:xfrm>
            <a:off x="1508760" y="2295144"/>
            <a:ext cx="5669280" cy="822960"/>
          </a:xfrm>
          <a:prstGeom prst="rect">
            <a:avLst/>
          </a:prstGeom>
          <a:noFill/>
          <a:ln/>
        </p:spPr>
        <p:txBody>
          <a:bodyPr wrap="square" lIns="0" tIns="0" rIns="0" bIns="0" rtlCol="0" anchor="ctr"/>
          <a:lstStyle/>
          <a:p>
            <a:pPr indent="0" marL="0">
              <a:buNone/>
            </a:pPr>
            <a:r>
              <a:rPr lang="en-US" sz="1400" b="1" dirty="0">
                <a:solidFill>
                  <a:srgbClr val="0F3B3F"/>
                </a:solidFill>
              </a:rPr>
              <a:t>Calendar effects matter</a:t>
            </a:r>
            <a:endParaRPr lang="en-US" sz="1400" dirty="0"/>
          </a:p>
          <a:p>
            <a:pPr indent="0" marL="0">
              <a:buNone/>
            </a:pPr>
            <a:r>
              <a:rPr lang="en-US" sz="1200" dirty="0">
                <a:solidFill>
                  <a:srgbClr val="1B2A2F"/>
                </a:solidFill>
              </a:rPr>
              <a:t>Both [1] and [3] used holiday and working-day indicators as inputs.</a:t>
            </a:r>
            <a:endParaRPr lang="en-US" sz="1400" dirty="0"/>
          </a:p>
        </p:txBody>
      </p:sp>
      <p:sp>
        <p:nvSpPr>
          <p:cNvPr id="15" name="Shape 11"/>
          <p:cNvSpPr/>
          <p:nvPr/>
        </p:nvSpPr>
        <p:spPr>
          <a:xfrm>
            <a:off x="7406640" y="2587752"/>
            <a:ext cx="274320" cy="237744"/>
          </a:xfrm>
          <a:prstGeom prst="rightArrow">
            <a:avLst/>
          </a:prstGeom>
          <a:solidFill>
            <a:schemeClr val="accent1"/>
          </a:solidFill>
          <a:ln w="12700">
            <a:solidFill>
              <a:schemeClr val="accent1"/>
            </a:solidFill>
            <a:prstDash val="solid"/>
          </a:ln>
        </p:spPr>
      </p:sp>
      <p:sp>
        <p:nvSpPr>
          <p:cNvPr id="16" name="Shape 12"/>
          <p:cNvSpPr/>
          <p:nvPr/>
        </p:nvSpPr>
        <p:spPr>
          <a:xfrm>
            <a:off x="7772400" y="2258568"/>
            <a:ext cx="3867912" cy="896112"/>
          </a:xfrm>
          <a:prstGeom prst="roundRect">
            <a:avLst>
              <a:gd name="adj" fmla="val 12245"/>
            </a:avLst>
          </a:prstGeom>
          <a:solidFill>
            <a:schemeClr val="tx2"/>
          </a:solidFill>
          <a:ln w="12700">
            <a:solidFill>
              <a:schemeClr val="tx2"/>
            </a:solidFill>
            <a:prstDash val="solid"/>
          </a:ln>
        </p:spPr>
      </p:sp>
      <p:sp>
        <p:nvSpPr>
          <p:cNvPr id="17" name="Text 13"/>
          <p:cNvSpPr txBox="1"/>
          <p:nvPr/>
        </p:nvSpPr>
        <p:spPr>
          <a:xfrm>
            <a:off x="7955280" y="2295144"/>
            <a:ext cx="3520440" cy="822960"/>
          </a:xfrm>
          <a:prstGeom prst="rect">
            <a:avLst/>
          </a:prstGeom>
          <a:noFill/>
          <a:ln/>
        </p:spPr>
        <p:txBody>
          <a:bodyPr wrap="square" lIns="0" tIns="0" rIns="0" bIns="0" rtlCol="0" anchor="ctr"/>
          <a:lstStyle/>
          <a:p>
            <a:pPr indent="0" marL="0">
              <a:buNone/>
            </a:pPr>
            <a:r>
              <a:rPr lang="en-US" sz="1300" b="1" dirty="0">
                <a:solidFill>
                  <a:schemeClr val="bg1"/>
                </a:solidFill>
              </a:rPr>
              <a:t>Ontario statutory-holiday and workday flags</a:t>
            </a:r>
            <a:endParaRPr lang="en-US" sz="1300" dirty="0"/>
          </a:p>
        </p:txBody>
      </p:sp>
      <p:sp>
        <p:nvSpPr>
          <p:cNvPr id="18" name="Shape 14"/>
          <p:cNvSpPr/>
          <p:nvPr/>
        </p:nvSpPr>
        <p:spPr>
          <a:xfrm>
            <a:off x="548640" y="3282696"/>
            <a:ext cx="6766560" cy="896112"/>
          </a:xfrm>
          <a:prstGeom prst="roundRect">
            <a:avLst>
              <a:gd name="adj" fmla="val 12245"/>
            </a:avLst>
          </a:prstGeom>
          <a:solidFill>
            <a:schemeClr val="bg2"/>
          </a:solidFill>
          <a:ln w="12700">
            <a:solidFill>
              <a:schemeClr val="bg2"/>
            </a:solidFill>
            <a:prstDash val="solid"/>
          </a:ln>
        </p:spPr>
      </p:sp>
      <p:sp>
        <p:nvSpPr>
          <p:cNvPr id="19" name="lesson2-circle"/>
          <p:cNvSpPr/>
          <p:nvPr/>
        </p:nvSpPr>
        <p:spPr>
          <a:xfrm>
            <a:off x="731520" y="3438144"/>
            <a:ext cx="585216" cy="585216"/>
          </a:xfrm>
          <a:prstGeom prst="ellipse">
            <a:avLst/>
          </a:prstGeom>
          <a:solidFill>
            <a:srgbClr val="2D8C8C"/>
          </a:solidFill>
          <a:ln w="12700">
            <a:solidFill>
              <a:srgbClr val="2D8C8C"/>
            </a:solidFill>
            <a:prstDash val="solid"/>
          </a:ln>
        </p:spPr>
      </p:sp>
      <p:pic>
        <p:nvPicPr>
          <p:cNvPr id="20" name="lesson2-icon" descr="preencoded.png">    </p:cNvPr>
          <p:cNvPicPr>
            <a:picLocks noChangeAspect="1"/>
          </p:cNvPicPr>
          <p:nvPr/>
        </p:nvPicPr>
        <p:blipFill>
          <a:blip r:embed="rId3"/>
          <a:stretch>
            <a:fillRect/>
          </a:stretch>
        </p:blipFill>
        <p:spPr>
          <a:xfrm>
            <a:off x="871972" y="3578596"/>
            <a:ext cx="304312" cy="304312"/>
          </a:xfrm>
          <a:prstGeom prst="rect">
            <a:avLst/>
          </a:prstGeom>
        </p:spPr>
      </p:pic>
      <p:sp>
        <p:nvSpPr>
          <p:cNvPr id="21" name="Text 16"/>
          <p:cNvSpPr txBox="1"/>
          <p:nvPr/>
        </p:nvSpPr>
        <p:spPr>
          <a:xfrm>
            <a:off x="1508760" y="3319272"/>
            <a:ext cx="5669280" cy="822960"/>
          </a:xfrm>
          <a:prstGeom prst="rect">
            <a:avLst/>
          </a:prstGeom>
          <a:noFill/>
          <a:ln/>
        </p:spPr>
        <p:txBody>
          <a:bodyPr wrap="square" lIns="0" tIns="0" rIns="0" bIns="0" rtlCol="0" anchor="ctr"/>
          <a:lstStyle/>
          <a:p>
            <a:pPr indent="0" marL="0">
              <a:buNone/>
            </a:pPr>
            <a:r>
              <a:rPr lang="en-US" sz="1400" b="1" dirty="0">
                <a:solidFill>
                  <a:srgbClr val="0F3B3F"/>
                </a:solidFill>
              </a:rPr>
              <a:t>Tree ensembles: near-best accuracy at low cost</a:t>
            </a:r>
            <a:endParaRPr lang="en-US" sz="1400" dirty="0"/>
          </a:p>
          <a:p>
            <a:pPr indent="0" marL="0">
              <a:buNone/>
            </a:pPr>
            <a:r>
              <a:rPr lang="en-US" sz="1200" dirty="0">
                <a:solidFill>
                  <a:srgbClr val="1B2A2F"/>
                </a:solidFill>
              </a:rPr>
              <a:t>RF and XGBoost outperformed LR in [1]–[3], and came within 0.3 percentage points of deep learning's MAPE in [3].</a:t>
            </a:r>
            <a:endParaRPr lang="en-US" sz="1400" dirty="0"/>
          </a:p>
        </p:txBody>
      </p:sp>
      <p:sp>
        <p:nvSpPr>
          <p:cNvPr id="22" name="Shape 17"/>
          <p:cNvSpPr/>
          <p:nvPr/>
        </p:nvSpPr>
        <p:spPr>
          <a:xfrm>
            <a:off x="7406640" y="3611880"/>
            <a:ext cx="274320" cy="237744"/>
          </a:xfrm>
          <a:prstGeom prst="rightArrow">
            <a:avLst/>
          </a:prstGeom>
          <a:solidFill>
            <a:schemeClr val="accent1"/>
          </a:solidFill>
          <a:ln w="12700">
            <a:solidFill>
              <a:schemeClr val="accent1"/>
            </a:solidFill>
            <a:prstDash val="solid"/>
          </a:ln>
        </p:spPr>
      </p:sp>
      <p:sp>
        <p:nvSpPr>
          <p:cNvPr id="23" name="Shape 18"/>
          <p:cNvSpPr/>
          <p:nvPr/>
        </p:nvSpPr>
        <p:spPr>
          <a:xfrm>
            <a:off x="7772400" y="3282696"/>
            <a:ext cx="3867912" cy="896112"/>
          </a:xfrm>
          <a:prstGeom prst="roundRect">
            <a:avLst>
              <a:gd name="adj" fmla="val 12245"/>
            </a:avLst>
          </a:prstGeom>
          <a:solidFill>
            <a:schemeClr val="tx2"/>
          </a:solidFill>
          <a:ln w="12700">
            <a:solidFill>
              <a:schemeClr val="tx2"/>
            </a:solidFill>
            <a:prstDash val="solid"/>
          </a:ln>
        </p:spPr>
      </p:sp>
      <p:sp>
        <p:nvSpPr>
          <p:cNvPr id="24" name="Text 19"/>
          <p:cNvSpPr txBox="1"/>
          <p:nvPr/>
        </p:nvSpPr>
        <p:spPr>
          <a:xfrm>
            <a:off x="7955280" y="3319272"/>
            <a:ext cx="3520440" cy="822960"/>
          </a:xfrm>
          <a:prstGeom prst="rect">
            <a:avLst/>
          </a:prstGeom>
          <a:noFill/>
          <a:ln/>
        </p:spPr>
        <p:txBody>
          <a:bodyPr wrap="square" lIns="0" tIns="0" rIns="0" bIns="0" rtlCol="0" anchor="ctr"/>
          <a:lstStyle/>
          <a:p>
            <a:pPr indent="0" marL="0">
              <a:buNone/>
            </a:pPr>
            <a:r>
              <a:rPr lang="en-US" sz="1300" b="1" dirty="0">
                <a:solidFill>
                  <a:schemeClr val="bg1"/>
                </a:solidFill>
              </a:rPr>
              <a:t>LR baseline vs Random Forest [9] vs XGBoost [10]</a:t>
            </a:r>
            <a:endParaRPr lang="en-US" sz="1300" dirty="0"/>
          </a:p>
        </p:txBody>
      </p:sp>
      <p:sp>
        <p:nvSpPr>
          <p:cNvPr id="25" name="Shape 20"/>
          <p:cNvSpPr/>
          <p:nvPr/>
        </p:nvSpPr>
        <p:spPr>
          <a:xfrm>
            <a:off x="548640" y="4306824"/>
            <a:ext cx="6766560" cy="896112"/>
          </a:xfrm>
          <a:prstGeom prst="roundRect">
            <a:avLst>
              <a:gd name="adj" fmla="val 12245"/>
            </a:avLst>
          </a:prstGeom>
          <a:solidFill>
            <a:schemeClr val="bg2"/>
          </a:solidFill>
          <a:ln w="12700">
            <a:solidFill>
              <a:schemeClr val="bg2"/>
            </a:solidFill>
            <a:prstDash val="solid"/>
          </a:ln>
        </p:spPr>
      </p:sp>
      <p:sp>
        <p:nvSpPr>
          <p:cNvPr id="26" name="lesson3-circle"/>
          <p:cNvSpPr/>
          <p:nvPr/>
        </p:nvSpPr>
        <p:spPr>
          <a:xfrm>
            <a:off x="731520" y="4462272"/>
            <a:ext cx="585216" cy="585216"/>
          </a:xfrm>
          <a:prstGeom prst="ellipse">
            <a:avLst/>
          </a:prstGeom>
          <a:solidFill>
            <a:srgbClr val="2D8C8C"/>
          </a:solidFill>
          <a:ln w="12700">
            <a:solidFill>
              <a:srgbClr val="2D8C8C"/>
            </a:solidFill>
            <a:prstDash val="solid"/>
          </a:ln>
        </p:spPr>
      </p:sp>
      <p:pic>
        <p:nvPicPr>
          <p:cNvPr id="27" name="lesson3-icon" descr="preencoded.png">    </p:cNvPr>
          <p:cNvPicPr>
            <a:picLocks noChangeAspect="1"/>
          </p:cNvPicPr>
          <p:nvPr/>
        </p:nvPicPr>
        <p:blipFill>
          <a:blip r:embed="rId4"/>
          <a:stretch>
            <a:fillRect/>
          </a:stretch>
        </p:blipFill>
        <p:spPr>
          <a:xfrm>
            <a:off x="871972" y="4602724"/>
            <a:ext cx="304312" cy="304312"/>
          </a:xfrm>
          <a:prstGeom prst="rect">
            <a:avLst/>
          </a:prstGeom>
        </p:spPr>
      </p:pic>
      <p:sp>
        <p:nvSpPr>
          <p:cNvPr id="28" name="Text 22"/>
          <p:cNvSpPr txBox="1"/>
          <p:nvPr/>
        </p:nvSpPr>
        <p:spPr>
          <a:xfrm>
            <a:off x="1508760" y="4343400"/>
            <a:ext cx="5669280" cy="822960"/>
          </a:xfrm>
          <a:prstGeom prst="rect">
            <a:avLst/>
          </a:prstGeom>
          <a:noFill/>
          <a:ln/>
        </p:spPr>
        <p:txBody>
          <a:bodyPr wrap="square" lIns="0" tIns="0" rIns="0" bIns="0" rtlCol="0" anchor="ctr"/>
          <a:lstStyle/>
          <a:p>
            <a:pPr indent="0" marL="0">
              <a:buNone/>
            </a:pPr>
            <a:r>
              <a:rPr lang="en-US" sz="1400" b="1" dirty="0">
                <a:solidFill>
                  <a:srgbClr val="0F3B3F"/>
                </a:solidFill>
              </a:rPr>
              <a:t>Known weak spots</a:t>
            </a:r>
            <a:endParaRPr lang="en-US" sz="1400" dirty="0"/>
          </a:p>
          <a:p>
            <a:pPr indent="0" marL="0">
              <a:buNone/>
            </a:pPr>
            <a:r>
              <a:rPr lang="en-US" sz="1200" dirty="0">
                <a:solidFill>
                  <a:srgbClr val="1B2A2F"/>
                </a:solidFill>
              </a:rPr>
              <a:t>Summer heat and COVID-19 reduced accuracy in [1]; 24-hour-ahead forecasts were much harder in [3].</a:t>
            </a:r>
            <a:endParaRPr lang="en-US" sz="1400" dirty="0"/>
          </a:p>
        </p:txBody>
      </p:sp>
      <p:sp>
        <p:nvSpPr>
          <p:cNvPr id="29" name="Shape 23"/>
          <p:cNvSpPr/>
          <p:nvPr/>
        </p:nvSpPr>
        <p:spPr>
          <a:xfrm>
            <a:off x="7406640" y="4636008"/>
            <a:ext cx="274320" cy="237744"/>
          </a:xfrm>
          <a:prstGeom prst="rightArrow">
            <a:avLst/>
          </a:prstGeom>
          <a:solidFill>
            <a:schemeClr val="accent1"/>
          </a:solidFill>
          <a:ln w="12700">
            <a:solidFill>
              <a:schemeClr val="accent1"/>
            </a:solidFill>
            <a:prstDash val="solid"/>
          </a:ln>
        </p:spPr>
      </p:sp>
      <p:sp>
        <p:nvSpPr>
          <p:cNvPr id="30" name="Shape 24"/>
          <p:cNvSpPr/>
          <p:nvPr/>
        </p:nvSpPr>
        <p:spPr>
          <a:xfrm>
            <a:off x="7772400" y="4306824"/>
            <a:ext cx="3867912" cy="896112"/>
          </a:xfrm>
          <a:prstGeom prst="roundRect">
            <a:avLst>
              <a:gd name="adj" fmla="val 12245"/>
            </a:avLst>
          </a:prstGeom>
          <a:solidFill>
            <a:schemeClr val="tx2"/>
          </a:solidFill>
          <a:ln w="12700">
            <a:solidFill>
              <a:schemeClr val="tx2"/>
            </a:solidFill>
            <a:prstDash val="solid"/>
          </a:ln>
        </p:spPr>
      </p:sp>
      <p:sp>
        <p:nvSpPr>
          <p:cNvPr id="31" name="Text 25"/>
          <p:cNvSpPr txBox="1"/>
          <p:nvPr/>
        </p:nvSpPr>
        <p:spPr>
          <a:xfrm>
            <a:off x="7955280" y="4343400"/>
            <a:ext cx="3520440" cy="822960"/>
          </a:xfrm>
          <a:prstGeom prst="rect">
            <a:avLst/>
          </a:prstGeom>
          <a:noFill/>
          <a:ln/>
        </p:spPr>
        <p:txBody>
          <a:bodyPr wrap="square" lIns="0" tIns="0" rIns="0" bIns="0" rtlCol="0" anchor="ctr"/>
          <a:lstStyle/>
          <a:p>
            <a:pPr indent="0" marL="0">
              <a:buNone/>
            </a:pPr>
            <a:r>
              <a:rPr lang="en-US" sz="1300" b="1" dirty="0">
                <a:solidFill>
                  <a:schemeClr val="bg1"/>
                </a:solidFill>
              </a:rPr>
              <a:t>Report errors by season and horizon; flag the 2020 COVID period</a:t>
            </a:r>
            <a:endParaRPr lang="en-US" sz="1300" dirty="0"/>
          </a:p>
        </p:txBody>
      </p:sp>
      <p:sp>
        <p:nvSpPr>
          <p:cNvPr id="32" name="Text 26"/>
          <p:cNvSpPr txBox="1"/>
          <p:nvPr/>
        </p:nvSpPr>
        <p:spPr>
          <a:xfrm>
            <a:off x="548640" y="5440680"/>
            <a:ext cx="11094415" cy="548640"/>
          </a:xfrm>
          <a:prstGeom prst="rect">
            <a:avLst/>
          </a:prstGeom>
          <a:noFill/>
          <a:ln/>
        </p:spPr>
        <p:txBody>
          <a:bodyPr wrap="square" lIns="0" tIns="0" rIns="0" bIns="0" rtlCol="0" anchor="ctr"/>
          <a:lstStyle/>
          <a:p>
            <a:pPr indent="0" marL="0">
              <a:buNone/>
            </a:pPr>
            <a:r>
              <a:rPr lang="en-US" sz="1300" b="1" dirty="0">
                <a:solidFill>
                  <a:srgbClr val="C8553D"/>
                </a:solidFill>
              </a:rPr>
              <a:t>Gap we address: </a:t>
            </a:r>
            <a:pPr indent="0" marL="0">
              <a:buNone/>
            </a:pPr>
            <a:r>
              <a:rPr lang="en-US" sz="1300" dirty="0">
                <a:solidFill>
                  <a:srgbClr val="1B2A2F"/>
                </a:solidFill>
              </a:rPr>
              <a:t>the four studies forecast a whole country, a state or a single home. None targets a city zone such as Ottawa, or examines how solar, wind and EV fleets change the net load left to serve.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899855" cy="731520"/>
          </a:xfrm>
          <a:prstGeom prst="rect">
            <a:avLst/>
          </a:prstGeom>
          <a:noFill/>
          <a:ln/>
        </p:spPr>
        <p:txBody>
          <a:bodyPr wrap="square" lIns="0" tIns="0" rIns="0" bIns="0" rtlCol="0" anchor="ctr"/>
          <a:lstStyle/>
          <a:p>
            <a:pPr algn="l" indent="0" marL="0">
              <a:buNone/>
            </a:pPr>
            <a:r>
              <a:rPr lang="en-US" sz="3000" b="1" dirty="0">
                <a:solidFill>
                  <a:schemeClr val="tx2"/>
                </a:solidFill>
              </a:rPr>
              <a:t>Proposed solution: forecast, then balance</a:t>
            </a:r>
            <a:endParaRPr lang="en-US" sz="3000" dirty="0"/>
          </a:p>
        </p:txBody>
      </p:sp>
      <p:sp>
        <p:nvSpPr>
          <p:cNvPr id="3" name="Text 1"/>
          <p:cNvSpPr txBox="1"/>
          <p:nvPr/>
        </p:nvSpPr>
        <p:spPr>
          <a:xfrm>
            <a:off x="9631375" y="320040"/>
            <a:ext cx="2011680" cy="731520"/>
          </a:xfrm>
          <a:prstGeom prst="rect">
            <a:avLst/>
          </a:prstGeom>
          <a:noFill/>
          <a:ln/>
        </p:spPr>
        <p:txBody>
          <a:bodyPr wrap="square" lIns="0" tIns="0" rIns="0" bIns="0" rtlCol="0" anchor="ctr"/>
          <a:lstStyle/>
          <a:p>
            <a:pPr algn="r" indent="0" marL="0">
              <a:buNone/>
            </a:pPr>
            <a:r>
              <a:rPr lang="en-US" sz="1400" i="1" dirty="0">
                <a:solidFill>
                  <a:schemeClr val="accent2"/>
                </a:solidFill>
              </a:rPr>
              <a:t>Kshitij</a:t>
            </a:r>
            <a:endParaRPr lang="en-US" sz="1400" dirty="0"/>
          </a:p>
        </p:txBody>
      </p:sp>
      <p:sp>
        <p:nvSpPr>
          <p:cNvPr id="4" name="Shape 2"/>
          <p:cNvSpPr/>
          <p:nvPr/>
        </p:nvSpPr>
        <p:spPr>
          <a:xfrm>
            <a:off x="548640" y="1325880"/>
            <a:ext cx="2542032" cy="2514600"/>
          </a:xfrm>
          <a:prstGeom prst="roundRect">
            <a:avLst>
              <a:gd name="adj" fmla="val 4364"/>
            </a:avLst>
          </a:prstGeom>
          <a:solidFill>
            <a:schemeClr val="bg2"/>
          </a:solidFill>
          <a:ln w="12700">
            <a:solidFill>
              <a:schemeClr val="bg2"/>
            </a:solidFill>
            <a:prstDash val="solid"/>
          </a:ln>
        </p:spPr>
      </p:sp>
      <p:sp>
        <p:nvSpPr>
          <p:cNvPr id="5" name="stage0-circle"/>
          <p:cNvSpPr/>
          <p:nvPr/>
        </p:nvSpPr>
        <p:spPr>
          <a:xfrm>
            <a:off x="777240" y="1508760"/>
            <a:ext cx="640080" cy="640080"/>
          </a:xfrm>
          <a:prstGeom prst="ellipse">
            <a:avLst/>
          </a:prstGeom>
          <a:solidFill>
            <a:srgbClr val="0F3B3F"/>
          </a:solidFill>
          <a:ln w="12700">
            <a:solidFill>
              <a:srgbClr val="0F3B3F"/>
            </a:solidFill>
            <a:prstDash val="solid"/>
          </a:ln>
        </p:spPr>
      </p:sp>
      <p:pic>
        <p:nvPicPr>
          <p:cNvPr id="6" name="stage0-icon" descr="preencoded.png">    </p:cNvPr>
          <p:cNvPicPr>
            <a:picLocks noChangeAspect="1"/>
          </p:cNvPicPr>
          <p:nvPr/>
        </p:nvPicPr>
        <p:blipFill>
          <a:blip r:embed="rId1"/>
          <a:stretch>
            <a:fillRect/>
          </a:stretch>
        </p:blipFill>
        <p:spPr>
          <a:xfrm>
            <a:off x="930859" y="1662379"/>
            <a:ext cx="332842" cy="332842"/>
          </a:xfrm>
          <a:prstGeom prst="rect">
            <a:avLst/>
          </a:prstGeom>
        </p:spPr>
      </p:pic>
      <p:sp>
        <p:nvSpPr>
          <p:cNvPr id="7" name="Text 4"/>
          <p:cNvSpPr txBox="1"/>
          <p:nvPr/>
        </p:nvSpPr>
        <p:spPr>
          <a:xfrm>
            <a:off x="777240" y="2240280"/>
            <a:ext cx="2084832" cy="365760"/>
          </a:xfrm>
          <a:prstGeom prst="rect">
            <a:avLst/>
          </a:prstGeom>
          <a:noFill/>
          <a:ln/>
        </p:spPr>
        <p:txBody>
          <a:bodyPr wrap="square" lIns="0" tIns="0" rIns="0" bIns="0" rtlCol="0" anchor="ctr"/>
          <a:lstStyle/>
          <a:p>
            <a:pPr indent="0" marL="0">
              <a:buNone/>
            </a:pPr>
            <a:r>
              <a:rPr lang="en-US" sz="1600" b="1" dirty="0">
                <a:solidFill>
                  <a:schemeClr val="tx2"/>
                </a:solidFill>
              </a:rPr>
              <a:t>1 · Real data</a:t>
            </a:r>
            <a:endParaRPr lang="en-US" sz="1600" dirty="0"/>
          </a:p>
        </p:txBody>
      </p:sp>
      <p:sp>
        <p:nvSpPr>
          <p:cNvPr id="8" name="Text 5"/>
          <p:cNvSpPr txBox="1"/>
          <p:nvPr/>
        </p:nvSpPr>
        <p:spPr>
          <a:xfrm>
            <a:off x="777240" y="2606040"/>
            <a:ext cx="2084832" cy="1143000"/>
          </a:xfrm>
          <a:prstGeom prst="rect">
            <a:avLst/>
          </a:prstGeom>
          <a:noFill/>
          <a:ln/>
        </p:spPr>
        <p:txBody>
          <a:bodyPr wrap="square" lIns="0" tIns="0" rIns="0" bIns="0" rtlCol="0" anchor="t"/>
          <a:lstStyle/>
          <a:p>
            <a:pPr indent="0" marL="0">
              <a:buNone/>
            </a:pPr>
            <a:r>
              <a:rPr lang="en-US" sz="1300" dirty="0">
                <a:solidFill>
                  <a:schemeClr val="tx1"/>
                </a:solidFill>
              </a:rPr>
              <a:t>IESO hourly demand (Ottawa zone), ECCC and Open-Meteo weather, Ontario holidays</a:t>
            </a:r>
            <a:endParaRPr lang="en-US" sz="1300" dirty="0"/>
          </a:p>
        </p:txBody>
      </p:sp>
      <p:sp>
        <p:nvSpPr>
          <p:cNvPr id="9" name="Shape 6"/>
          <p:cNvSpPr/>
          <p:nvPr/>
        </p:nvSpPr>
        <p:spPr>
          <a:xfrm>
            <a:off x="3118104" y="2450592"/>
            <a:ext cx="192024" cy="274320"/>
          </a:xfrm>
          <a:prstGeom prst="rightArrow">
            <a:avLst/>
          </a:prstGeom>
          <a:solidFill>
            <a:schemeClr val="accent2"/>
          </a:solidFill>
          <a:ln w="12700">
            <a:solidFill>
              <a:schemeClr val="accent2"/>
            </a:solidFill>
            <a:prstDash val="solid"/>
          </a:ln>
        </p:spPr>
      </p:sp>
      <p:sp>
        <p:nvSpPr>
          <p:cNvPr id="10" name="Shape 7"/>
          <p:cNvSpPr/>
          <p:nvPr/>
        </p:nvSpPr>
        <p:spPr>
          <a:xfrm>
            <a:off x="3337560" y="1325880"/>
            <a:ext cx="2542032" cy="2514600"/>
          </a:xfrm>
          <a:prstGeom prst="roundRect">
            <a:avLst>
              <a:gd name="adj" fmla="val 4364"/>
            </a:avLst>
          </a:prstGeom>
          <a:solidFill>
            <a:schemeClr val="bg2"/>
          </a:solidFill>
          <a:ln w="12700">
            <a:solidFill>
              <a:schemeClr val="bg2"/>
            </a:solidFill>
            <a:prstDash val="solid"/>
          </a:ln>
        </p:spPr>
      </p:sp>
      <p:sp>
        <p:nvSpPr>
          <p:cNvPr id="11" name="stage1-circle"/>
          <p:cNvSpPr/>
          <p:nvPr/>
        </p:nvSpPr>
        <p:spPr>
          <a:xfrm>
            <a:off x="3566160" y="1508760"/>
            <a:ext cx="640080" cy="640080"/>
          </a:xfrm>
          <a:prstGeom prst="ellipse">
            <a:avLst/>
          </a:prstGeom>
          <a:solidFill>
            <a:srgbClr val="0F3B3F"/>
          </a:solidFill>
          <a:ln w="12700">
            <a:solidFill>
              <a:srgbClr val="0F3B3F"/>
            </a:solidFill>
            <a:prstDash val="solid"/>
          </a:ln>
        </p:spPr>
      </p:sp>
      <p:pic>
        <p:nvPicPr>
          <p:cNvPr id="12" name="stage1-icon" descr="preencoded.png">    </p:cNvPr>
          <p:cNvPicPr>
            <a:picLocks noChangeAspect="1"/>
          </p:cNvPicPr>
          <p:nvPr/>
        </p:nvPicPr>
        <p:blipFill>
          <a:blip r:embed="rId2"/>
          <a:stretch>
            <a:fillRect/>
          </a:stretch>
        </p:blipFill>
        <p:spPr>
          <a:xfrm>
            <a:off x="3719779" y="1662379"/>
            <a:ext cx="332842" cy="332842"/>
          </a:xfrm>
          <a:prstGeom prst="rect">
            <a:avLst/>
          </a:prstGeom>
        </p:spPr>
      </p:pic>
      <p:sp>
        <p:nvSpPr>
          <p:cNvPr id="13" name="Text 9"/>
          <p:cNvSpPr txBox="1"/>
          <p:nvPr/>
        </p:nvSpPr>
        <p:spPr>
          <a:xfrm>
            <a:off x="3566160" y="2240280"/>
            <a:ext cx="2084832" cy="365760"/>
          </a:xfrm>
          <a:prstGeom prst="rect">
            <a:avLst/>
          </a:prstGeom>
          <a:noFill/>
          <a:ln/>
        </p:spPr>
        <p:txBody>
          <a:bodyPr wrap="square" lIns="0" tIns="0" rIns="0" bIns="0" rtlCol="0" anchor="ctr"/>
          <a:lstStyle/>
          <a:p>
            <a:pPr indent="0" marL="0">
              <a:buNone/>
            </a:pPr>
            <a:r>
              <a:rPr lang="en-US" sz="1600" b="1" dirty="0">
                <a:solidFill>
                  <a:schemeClr val="tx2"/>
                </a:solidFill>
              </a:rPr>
              <a:t>2 · Features</a:t>
            </a:r>
            <a:endParaRPr lang="en-US" sz="1600" dirty="0"/>
          </a:p>
        </p:txBody>
      </p:sp>
      <p:sp>
        <p:nvSpPr>
          <p:cNvPr id="14" name="Text 10"/>
          <p:cNvSpPr txBox="1"/>
          <p:nvPr/>
        </p:nvSpPr>
        <p:spPr>
          <a:xfrm>
            <a:off x="3566160" y="2606040"/>
            <a:ext cx="2084832" cy="1143000"/>
          </a:xfrm>
          <a:prstGeom prst="rect">
            <a:avLst/>
          </a:prstGeom>
          <a:noFill/>
          <a:ln/>
        </p:spPr>
        <p:txBody>
          <a:bodyPr wrap="square" lIns="0" tIns="0" rIns="0" bIns="0" rtlCol="0" anchor="t"/>
          <a:lstStyle/>
          <a:p>
            <a:pPr indent="0" marL="0">
              <a:buNone/>
            </a:pPr>
            <a:r>
              <a:rPr lang="en-US" sz="1300" dirty="0">
                <a:solidFill>
                  <a:schemeClr val="tx1"/>
                </a:solidFill>
              </a:rPr>
              <a:t>Lags t-1, t-24, t-168; temperature, HDD/CDD; hour, weekday, month, holiday flag</a:t>
            </a:r>
            <a:endParaRPr lang="en-US" sz="1300" dirty="0"/>
          </a:p>
        </p:txBody>
      </p:sp>
      <p:sp>
        <p:nvSpPr>
          <p:cNvPr id="15" name="Shape 11"/>
          <p:cNvSpPr/>
          <p:nvPr/>
        </p:nvSpPr>
        <p:spPr>
          <a:xfrm>
            <a:off x="5907024" y="2450592"/>
            <a:ext cx="192024" cy="274320"/>
          </a:xfrm>
          <a:prstGeom prst="rightArrow">
            <a:avLst/>
          </a:prstGeom>
          <a:solidFill>
            <a:schemeClr val="accent2"/>
          </a:solidFill>
          <a:ln w="12700">
            <a:solidFill>
              <a:schemeClr val="accent2"/>
            </a:solidFill>
            <a:prstDash val="solid"/>
          </a:ln>
        </p:spPr>
      </p:sp>
      <p:sp>
        <p:nvSpPr>
          <p:cNvPr id="16" name="Shape 12"/>
          <p:cNvSpPr/>
          <p:nvPr/>
        </p:nvSpPr>
        <p:spPr>
          <a:xfrm>
            <a:off x="6126480" y="1325880"/>
            <a:ext cx="2542032" cy="2514600"/>
          </a:xfrm>
          <a:prstGeom prst="roundRect">
            <a:avLst>
              <a:gd name="adj" fmla="val 4364"/>
            </a:avLst>
          </a:prstGeom>
          <a:solidFill>
            <a:schemeClr val="bg2"/>
          </a:solidFill>
          <a:ln w="12700">
            <a:solidFill>
              <a:schemeClr val="bg2"/>
            </a:solidFill>
            <a:prstDash val="solid"/>
          </a:ln>
        </p:spPr>
      </p:sp>
      <p:sp>
        <p:nvSpPr>
          <p:cNvPr id="17" name="stage2-circle"/>
          <p:cNvSpPr/>
          <p:nvPr/>
        </p:nvSpPr>
        <p:spPr>
          <a:xfrm>
            <a:off x="6355080" y="1508760"/>
            <a:ext cx="640080" cy="640080"/>
          </a:xfrm>
          <a:prstGeom prst="ellipse">
            <a:avLst/>
          </a:prstGeom>
          <a:solidFill>
            <a:srgbClr val="F2A541"/>
          </a:solidFill>
          <a:ln w="12700">
            <a:solidFill>
              <a:srgbClr val="F2A541"/>
            </a:solidFill>
            <a:prstDash val="solid"/>
          </a:ln>
        </p:spPr>
      </p:sp>
      <p:pic>
        <p:nvPicPr>
          <p:cNvPr id="18" name="stage2-icon" descr="preencoded.png">    </p:cNvPr>
          <p:cNvPicPr>
            <a:picLocks noChangeAspect="1"/>
          </p:cNvPicPr>
          <p:nvPr/>
        </p:nvPicPr>
        <p:blipFill>
          <a:blip r:embed="rId3"/>
          <a:stretch>
            <a:fillRect/>
          </a:stretch>
        </p:blipFill>
        <p:spPr>
          <a:xfrm>
            <a:off x="6508699" y="1662379"/>
            <a:ext cx="332842" cy="332842"/>
          </a:xfrm>
          <a:prstGeom prst="rect">
            <a:avLst/>
          </a:prstGeom>
        </p:spPr>
      </p:pic>
      <p:sp>
        <p:nvSpPr>
          <p:cNvPr id="19" name="Text 14"/>
          <p:cNvSpPr txBox="1"/>
          <p:nvPr/>
        </p:nvSpPr>
        <p:spPr>
          <a:xfrm>
            <a:off x="6355080" y="2240280"/>
            <a:ext cx="2084832" cy="365760"/>
          </a:xfrm>
          <a:prstGeom prst="rect">
            <a:avLst/>
          </a:prstGeom>
          <a:noFill/>
          <a:ln/>
        </p:spPr>
        <p:txBody>
          <a:bodyPr wrap="square" lIns="0" tIns="0" rIns="0" bIns="0" rtlCol="0" anchor="ctr"/>
          <a:lstStyle/>
          <a:p>
            <a:pPr indent="0" marL="0">
              <a:buNone/>
            </a:pPr>
            <a:r>
              <a:rPr lang="en-US" sz="1600" b="1" dirty="0">
                <a:solidFill>
                  <a:schemeClr val="tx2"/>
                </a:solidFill>
              </a:rPr>
              <a:t>3 · ML models</a:t>
            </a:r>
            <a:endParaRPr lang="en-US" sz="1600" dirty="0"/>
          </a:p>
        </p:txBody>
      </p:sp>
      <p:sp>
        <p:nvSpPr>
          <p:cNvPr id="20" name="Text 15"/>
          <p:cNvSpPr txBox="1"/>
          <p:nvPr/>
        </p:nvSpPr>
        <p:spPr>
          <a:xfrm>
            <a:off x="6355080" y="2606040"/>
            <a:ext cx="2084832" cy="1143000"/>
          </a:xfrm>
          <a:prstGeom prst="rect">
            <a:avLst/>
          </a:prstGeom>
          <a:noFill/>
          <a:ln/>
        </p:spPr>
        <p:txBody>
          <a:bodyPr wrap="square" lIns="0" tIns="0" rIns="0" bIns="0" rtlCol="0" anchor="t"/>
          <a:lstStyle/>
          <a:p>
            <a:pPr indent="0" marL="0">
              <a:buNone/>
            </a:pPr>
            <a:r>
              <a:rPr lang="en-US" sz="1300" dirty="0">
                <a:solidFill>
                  <a:schemeClr val="tx1"/>
                </a:solidFill>
              </a:rPr>
              <a:t>Linear Regression (baseline), Random Forest, XGBoost</a:t>
            </a:r>
            <a:endParaRPr lang="en-US" sz="1300" dirty="0"/>
          </a:p>
        </p:txBody>
      </p:sp>
      <p:sp>
        <p:nvSpPr>
          <p:cNvPr id="21" name="Shape 16"/>
          <p:cNvSpPr/>
          <p:nvPr/>
        </p:nvSpPr>
        <p:spPr>
          <a:xfrm>
            <a:off x="8695944" y="2450592"/>
            <a:ext cx="192024" cy="274320"/>
          </a:xfrm>
          <a:prstGeom prst="rightArrow">
            <a:avLst/>
          </a:prstGeom>
          <a:solidFill>
            <a:schemeClr val="accent2"/>
          </a:solidFill>
          <a:ln w="12700">
            <a:solidFill>
              <a:schemeClr val="accent2"/>
            </a:solidFill>
            <a:prstDash val="solid"/>
          </a:ln>
        </p:spPr>
      </p:sp>
      <p:sp>
        <p:nvSpPr>
          <p:cNvPr id="22" name="Shape 17"/>
          <p:cNvSpPr/>
          <p:nvPr/>
        </p:nvSpPr>
        <p:spPr>
          <a:xfrm>
            <a:off x="8915400" y="1325880"/>
            <a:ext cx="2542032" cy="2514600"/>
          </a:xfrm>
          <a:prstGeom prst="roundRect">
            <a:avLst>
              <a:gd name="adj" fmla="val 4364"/>
            </a:avLst>
          </a:prstGeom>
          <a:solidFill>
            <a:schemeClr val="bg2"/>
          </a:solidFill>
          <a:ln w="12700">
            <a:solidFill>
              <a:schemeClr val="bg2"/>
            </a:solidFill>
            <a:prstDash val="solid"/>
          </a:ln>
        </p:spPr>
      </p:sp>
      <p:sp>
        <p:nvSpPr>
          <p:cNvPr id="23" name="stage3-circle"/>
          <p:cNvSpPr/>
          <p:nvPr/>
        </p:nvSpPr>
        <p:spPr>
          <a:xfrm>
            <a:off x="9144000" y="1508760"/>
            <a:ext cx="640080" cy="640080"/>
          </a:xfrm>
          <a:prstGeom prst="ellipse">
            <a:avLst/>
          </a:prstGeom>
          <a:solidFill>
            <a:srgbClr val="0F3B3F"/>
          </a:solidFill>
          <a:ln w="12700">
            <a:solidFill>
              <a:srgbClr val="0F3B3F"/>
            </a:solidFill>
            <a:prstDash val="solid"/>
          </a:ln>
        </p:spPr>
      </p:sp>
      <p:pic>
        <p:nvPicPr>
          <p:cNvPr id="24" name="stage3-icon" descr="preencoded.png">    </p:cNvPr>
          <p:cNvPicPr>
            <a:picLocks noChangeAspect="1"/>
          </p:cNvPicPr>
          <p:nvPr/>
        </p:nvPicPr>
        <p:blipFill>
          <a:blip r:embed="rId4"/>
          <a:stretch>
            <a:fillRect/>
          </a:stretch>
        </p:blipFill>
        <p:spPr>
          <a:xfrm>
            <a:off x="9297619" y="1662379"/>
            <a:ext cx="332842" cy="332842"/>
          </a:xfrm>
          <a:prstGeom prst="rect">
            <a:avLst/>
          </a:prstGeom>
        </p:spPr>
      </p:pic>
      <p:sp>
        <p:nvSpPr>
          <p:cNvPr id="25" name="Text 19"/>
          <p:cNvSpPr txBox="1"/>
          <p:nvPr/>
        </p:nvSpPr>
        <p:spPr>
          <a:xfrm>
            <a:off x="9144000" y="2240280"/>
            <a:ext cx="2084832" cy="365760"/>
          </a:xfrm>
          <a:prstGeom prst="rect">
            <a:avLst/>
          </a:prstGeom>
          <a:noFill/>
          <a:ln/>
        </p:spPr>
        <p:txBody>
          <a:bodyPr wrap="square" lIns="0" tIns="0" rIns="0" bIns="0" rtlCol="0" anchor="ctr"/>
          <a:lstStyle/>
          <a:p>
            <a:pPr indent="0" marL="0">
              <a:buNone/>
            </a:pPr>
            <a:r>
              <a:rPr lang="en-US" sz="1600" b="1" dirty="0">
                <a:solidFill>
                  <a:schemeClr val="tx2"/>
                </a:solidFill>
              </a:rPr>
              <a:t>4 · Forecasts</a:t>
            </a:r>
            <a:endParaRPr lang="en-US" sz="1600" dirty="0"/>
          </a:p>
        </p:txBody>
      </p:sp>
      <p:sp>
        <p:nvSpPr>
          <p:cNvPr id="26" name="Text 20"/>
          <p:cNvSpPr txBox="1"/>
          <p:nvPr/>
        </p:nvSpPr>
        <p:spPr>
          <a:xfrm>
            <a:off x="9144000" y="2606040"/>
            <a:ext cx="2084832" cy="1143000"/>
          </a:xfrm>
          <a:prstGeom prst="rect">
            <a:avLst/>
          </a:prstGeom>
          <a:noFill/>
          <a:ln/>
        </p:spPr>
        <p:txBody>
          <a:bodyPr wrap="square" lIns="0" tIns="0" rIns="0" bIns="0" rtlCol="0" anchor="t"/>
          <a:lstStyle/>
          <a:p>
            <a:pPr indent="0" marL="0">
              <a:buNone/>
            </a:pPr>
            <a:r>
              <a:rPr lang="en-US" sz="1300" dirty="0">
                <a:solidFill>
                  <a:schemeClr val="tx1"/>
                </a:solidFill>
              </a:rPr>
              <a:t>Next-hour demand and next-day baseload (daily minimum)</a:t>
            </a:r>
            <a:endParaRPr lang="en-US" sz="1300" dirty="0"/>
          </a:p>
        </p:txBody>
      </p:sp>
      <p:sp>
        <p:nvSpPr>
          <p:cNvPr id="27" name="Shape 21"/>
          <p:cNvSpPr/>
          <p:nvPr/>
        </p:nvSpPr>
        <p:spPr>
          <a:xfrm>
            <a:off x="548640" y="4114800"/>
            <a:ext cx="11094415" cy="1828800"/>
          </a:xfrm>
          <a:prstGeom prst="roundRect">
            <a:avLst>
              <a:gd name="adj" fmla="val 6000"/>
            </a:avLst>
          </a:prstGeom>
          <a:solidFill>
            <a:schemeClr val="tx2"/>
          </a:solidFill>
          <a:ln w="12700">
            <a:solidFill>
              <a:schemeClr val="tx2"/>
            </a:solidFill>
            <a:prstDash val="solid"/>
          </a:ln>
        </p:spPr>
      </p:sp>
      <p:sp>
        <p:nvSpPr>
          <p:cNvPr id="28" name="netload-circle"/>
          <p:cNvSpPr/>
          <p:nvPr/>
        </p:nvSpPr>
        <p:spPr>
          <a:xfrm>
            <a:off x="822960" y="4343400"/>
            <a:ext cx="731520" cy="731520"/>
          </a:xfrm>
          <a:prstGeom prst="ellipse">
            <a:avLst/>
          </a:prstGeom>
          <a:solidFill>
            <a:srgbClr val="F2A541"/>
          </a:solidFill>
          <a:ln w="12700">
            <a:solidFill>
              <a:srgbClr val="F2A541"/>
            </a:solidFill>
            <a:prstDash val="solid"/>
          </a:ln>
        </p:spPr>
      </p:sp>
      <p:pic>
        <p:nvPicPr>
          <p:cNvPr id="29" name="netload-icon" descr="preencoded.png">    </p:cNvPr>
          <p:cNvPicPr>
            <a:picLocks noChangeAspect="1"/>
          </p:cNvPicPr>
          <p:nvPr/>
        </p:nvPicPr>
        <p:blipFill>
          <a:blip r:embed="rId5"/>
          <a:stretch>
            <a:fillRect/>
          </a:stretch>
        </p:blipFill>
        <p:spPr>
          <a:xfrm>
            <a:off x="998525" y="4518965"/>
            <a:ext cx="380390" cy="380390"/>
          </a:xfrm>
          <a:prstGeom prst="rect">
            <a:avLst/>
          </a:prstGeom>
        </p:spPr>
      </p:pic>
      <p:sp>
        <p:nvSpPr>
          <p:cNvPr id="30" name="Text 23"/>
          <p:cNvSpPr txBox="1"/>
          <p:nvPr/>
        </p:nvSpPr>
        <p:spPr>
          <a:xfrm>
            <a:off x="1828800" y="4206240"/>
            <a:ext cx="9539935" cy="1645920"/>
          </a:xfrm>
          <a:prstGeom prst="rect">
            <a:avLst/>
          </a:prstGeom>
          <a:noFill/>
          <a:ln/>
        </p:spPr>
        <p:txBody>
          <a:bodyPr wrap="square" lIns="0" tIns="0" rIns="0" bIns="0" rtlCol="0" anchor="ctr"/>
          <a:lstStyle/>
          <a:p>
            <a:pPr indent="0" marL="0">
              <a:buNone/>
            </a:pPr>
            <a:r>
              <a:rPr lang="en-US" sz="1800" b="1" dirty="0">
                <a:solidFill>
                  <a:schemeClr val="accent1"/>
                </a:solidFill>
              </a:rPr>
              <a:t>5 · Scenario layer: live supply-demand view</a:t>
            </a:r>
            <a:endParaRPr lang="en-US" sz="1800" dirty="0"/>
          </a:p>
          <a:p>
            <a:pPr indent="0" marL="0">
              <a:buNone/>
            </a:pPr>
            <a:r>
              <a:rPr lang="en-US" sz="1600" b="1" dirty="0">
                <a:solidFill>
                  <a:schemeClr val="bg1"/>
                </a:solidFill>
              </a:rPr>
              <a:t>Net load = forecast demand − solar farm − wind farm + EV fleet charging</a:t>
            </a:r>
            <a:endParaRPr lang="en-US" sz="1800" dirty="0"/>
          </a:p>
          <a:p>
            <a:pPr indent="0" marL="0">
              <a:buNone/>
            </a:pPr>
            <a:r>
              <a:rPr lang="en-US" sz="1300" dirty="0">
                <a:solidFill>
                  <a:schemeClr val="bg2"/>
                </a:solidFill>
              </a:rPr>
              <a:t>Solar and wind output are estimated from weather data with physical models, and EV charging from workday and holiday schedules. The result shows, hour by hour, how much dispatchable supply is needed and when flexible EV charging can be shifted.</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899855" cy="731520"/>
          </a:xfrm>
          <a:prstGeom prst="rect">
            <a:avLst/>
          </a:prstGeom>
          <a:noFill/>
          <a:ln/>
        </p:spPr>
        <p:txBody>
          <a:bodyPr wrap="square" lIns="0" tIns="0" rIns="0" bIns="0" rtlCol="0" anchor="ctr"/>
          <a:lstStyle/>
          <a:p>
            <a:pPr algn="l" indent="0" marL="0">
              <a:buNone/>
            </a:pPr>
            <a:r>
              <a:rPr lang="en-US" sz="3000" b="1" dirty="0">
                <a:solidFill>
                  <a:schemeClr val="tx2"/>
                </a:solidFill>
              </a:rPr>
              <a:t>Data: real where possible, assumed where not</a:t>
            </a:r>
            <a:endParaRPr lang="en-US" sz="3000" dirty="0"/>
          </a:p>
        </p:txBody>
      </p:sp>
      <p:sp>
        <p:nvSpPr>
          <p:cNvPr id="3" name="Text 1"/>
          <p:cNvSpPr txBox="1"/>
          <p:nvPr/>
        </p:nvSpPr>
        <p:spPr>
          <a:xfrm>
            <a:off x="9631375" y="320040"/>
            <a:ext cx="2011680" cy="731520"/>
          </a:xfrm>
          <a:prstGeom prst="rect">
            <a:avLst/>
          </a:prstGeom>
          <a:noFill/>
          <a:ln/>
        </p:spPr>
        <p:txBody>
          <a:bodyPr wrap="square" lIns="0" tIns="0" rIns="0" bIns="0" rtlCol="0" anchor="ctr"/>
          <a:lstStyle/>
          <a:p>
            <a:pPr algn="r" indent="0" marL="0">
              <a:buNone/>
            </a:pPr>
            <a:r>
              <a:rPr lang="en-US" sz="1400" i="1" dirty="0">
                <a:solidFill>
                  <a:schemeClr val="accent2"/>
                </a:solidFill>
              </a:rPr>
              <a:t>Victor</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291840"/>
                <a:gridCol w="4480560"/>
                <a:gridCol w="1737360"/>
                <a:gridCol w="1581912"/>
              </a:tblGrid>
              <a:tr h="475488">
                <a:tc>
                  <a:txBody>
                    <a:bodyPr/>
                    <a:lstStyle/>
                    <a:p>
                      <a:pPr indent="0" marL="0">
                        <a:buNone/>
                      </a:pPr>
                      <a:r>
                        <a:rPr lang="en-US" sz="1300" b="1" dirty="0">
                          <a:solidFill>
                            <a:srgbClr val="FFFFFF"/>
                          </a:solidFill>
                        </a:rPr>
                        <a:t>Component</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0F3B3F"/>
                    </a:solidFill>
                  </a:tcPr>
                </a:tc>
                <a:tc>
                  <a:txBody>
                    <a:bodyPr/>
                    <a:lstStyle/>
                    <a:p>
                      <a:pPr indent="0" marL="0">
                        <a:buNone/>
                      </a:pPr>
                      <a:r>
                        <a:rPr lang="en-US" sz="1300" b="1" dirty="0">
                          <a:solidFill>
                            <a:srgbClr val="FFFFFF"/>
                          </a:solidFill>
                        </a:rPr>
                        <a:t>Source</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0F3B3F"/>
                    </a:solidFill>
                  </a:tcPr>
                </a:tc>
                <a:tc>
                  <a:txBody>
                    <a:bodyPr/>
                    <a:lstStyle/>
                    <a:p>
                      <a:pPr indent="0" marL="0">
                        <a:buNone/>
                      </a:pPr>
                      <a:r>
                        <a:rPr lang="en-US" sz="1300" b="1" dirty="0">
                          <a:solidFill>
                            <a:srgbClr val="FFFFFF"/>
                          </a:solidFill>
                        </a:rPr>
                        <a:t>Resolution</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0F3B3F"/>
                    </a:solidFill>
                  </a:tcPr>
                </a:tc>
                <a:tc>
                  <a:txBody>
                    <a:bodyPr/>
                    <a:lstStyle/>
                    <a:p>
                      <a:pPr indent="0" marL="0">
                        <a:buNone/>
                      </a:pPr>
                      <a:r>
                        <a:rPr lang="en-US" sz="1300" b="1" dirty="0">
                          <a:solidFill>
                            <a:srgbClr val="FFFFFF"/>
                          </a:solidFill>
                        </a:rPr>
                        <a:t>Type</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0F3B3F"/>
                    </a:solidFill>
                  </a:tcPr>
                </a:tc>
              </a:tr>
              <a:tr h="475488">
                <a:tc>
                  <a:txBody>
                    <a:bodyPr/>
                    <a:lstStyle/>
                    <a:p>
                      <a:pPr indent="0" marL="0">
                        <a:buNone/>
                      </a:pPr>
                      <a:r>
                        <a:rPr lang="en-US" sz="1300" dirty="0">
                          <a:solidFill>
                            <a:srgbClr val="1B2A2F"/>
                          </a:solidFill>
                        </a:rPr>
                        <a:t>Ottawa-zone electricity demand (target)</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IESO Hourly Zonal Demand Report, Ottawa zone [5]</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Hourly, 2020–2025</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3B3F"/>
                          </a:solidFill>
                        </a:rPr>
                        <a:t>REAL</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8FB996"/>
                    </a:solidFill>
                  </a:tcPr>
                </a:tc>
              </a:tr>
              <a:tr h="475488">
                <a:tc>
                  <a:txBody>
                    <a:bodyPr/>
                    <a:lstStyle/>
                    <a:p>
                      <a:pPr indent="0" marL="0">
                        <a:buNone/>
                      </a:pPr>
                      <a:r>
                        <a:rPr lang="en-US" sz="1300" dirty="0">
                          <a:solidFill>
                            <a:srgbClr val="1B2A2F"/>
                          </a:solidFill>
                        </a:rPr>
                        <a:t>Temperature, humidity</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ECCC historical climate data, Ottawa station [6]</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Hourly</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3B3F"/>
                          </a:solidFill>
                        </a:rPr>
                        <a:t>REAL</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8FB996"/>
                    </a:solidFill>
                  </a:tcPr>
                </a:tc>
              </a:tr>
              <a:tr h="475488">
                <a:tc>
                  <a:txBody>
                    <a:bodyPr/>
                    <a:lstStyle/>
                    <a:p>
                      <a:pPr indent="0" marL="0">
                        <a:buNone/>
                      </a:pPr>
                      <a:r>
                        <a:rPr lang="en-US" sz="1300" dirty="0">
                          <a:solidFill>
                            <a:srgbClr val="1B2A2F"/>
                          </a:solidFill>
                        </a:rPr>
                        <a:t>Solar irradiance, 100 m wind speed</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Open-Meteo historical weather API [7]</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Hourly</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3B3F"/>
                          </a:solidFill>
                        </a:rPr>
                        <a:t>REAL</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8FB996"/>
                    </a:solidFill>
                  </a:tcPr>
                </a:tc>
              </a:tr>
              <a:tr h="475488">
                <a:tc>
                  <a:txBody>
                    <a:bodyPr/>
                    <a:lstStyle/>
                    <a:p>
                      <a:pPr indent="0" marL="0">
                        <a:buNone/>
                      </a:pPr>
                      <a:r>
                        <a:rPr lang="en-US" sz="1300" dirty="0">
                          <a:solidFill>
                            <a:srgbClr val="1B2A2F"/>
                          </a:solidFill>
                        </a:rPr>
                        <a:t>Holidays, workdays</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Ontario statutory holiday calendar</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Daily</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3B3F"/>
                          </a:solidFill>
                        </a:rPr>
                        <a:t>REAL</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8FB996"/>
                    </a:solidFill>
                  </a:tcPr>
                </a:tc>
              </a:tr>
              <a:tr h="475488">
                <a:tc>
                  <a:txBody>
                    <a:bodyPr/>
                    <a:lstStyle/>
                    <a:p>
                      <a:pPr indent="0" marL="0">
                        <a:buNone/>
                      </a:pPr>
                      <a:r>
                        <a:rPr lang="en-US" sz="1300" dirty="0">
                          <a:solidFill>
                            <a:srgbClr val="1B2A2F"/>
                          </a:solidFill>
                        </a:rPr>
                        <a:t>Solar farm output</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pvlib PV model [8] driven by real irradiance</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Hourly</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A2F"/>
                          </a:solidFill>
                        </a:rPr>
                        <a:t>ASSUMED</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2A541"/>
                    </a:solidFill>
                  </a:tcPr>
                </a:tc>
              </a:tr>
              <a:tr h="475488">
                <a:tc>
                  <a:txBody>
                    <a:bodyPr/>
                    <a:lstStyle/>
                    <a:p>
                      <a:pPr indent="0" marL="0">
                        <a:buNone/>
                      </a:pPr>
                      <a:r>
                        <a:rPr lang="en-US" sz="1300" dirty="0">
                          <a:solidFill>
                            <a:srgbClr val="1B2A2F"/>
                          </a:solidFill>
                        </a:rPr>
                        <a:t>Wind farm output</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Generic turbine power curve driven by real wind speed</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Hourly</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A2F"/>
                          </a:solidFill>
                        </a:rPr>
                        <a:t>ASSUMED</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2A541"/>
                    </a:solidFill>
                  </a:tcPr>
                </a:tc>
              </a:tr>
              <a:tr h="475488">
                <a:tc>
                  <a:txBody>
                    <a:bodyPr/>
                    <a:lstStyle/>
                    <a:p>
                      <a:pPr indent="0" marL="0">
                        <a:buNone/>
                      </a:pPr>
                      <a:r>
                        <a:rPr lang="en-US" sz="1300" dirty="0">
                          <a:solidFill>
                            <a:srgbClr val="1B2A2F"/>
                          </a:solidFill>
                        </a:rPr>
                        <a:t>Residential vs. industrial split, EV fleet load</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Calendar-based profiles (next slide)</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rPr>
                        <a:t>Hourly</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A2F"/>
                          </a:solidFill>
                        </a:rPr>
                        <a:t>ASSUMED</a:t>
                      </a:r>
                      <a:endParaRPr lang="en-US" sz="1300" dirty="0"/>
                    </a:p>
                  </a:txBody>
                  <a:tcPr marL="91440" marR="91440" marT="36576" marB="36576"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F2A541"/>
                    </a:solidFill>
                  </a:tcPr>
                </a:tc>
              </a:tr>
            </a:tbl>
          </a:graphicData>
        </a:graphic>
      </p:graphicFrame>
      <p:sp>
        <p:nvSpPr>
          <p:cNvPr id="5" name="Text 2"/>
          <p:cNvSpPr txBox="1"/>
          <p:nvPr/>
        </p:nvSpPr>
        <p:spPr>
          <a:xfrm>
            <a:off x="548640" y="5349240"/>
            <a:ext cx="11094415" cy="457200"/>
          </a:xfrm>
          <a:prstGeom prst="rect">
            <a:avLst/>
          </a:prstGeom>
          <a:noFill/>
          <a:ln/>
        </p:spPr>
        <p:txBody>
          <a:bodyPr wrap="square" lIns="0" tIns="0" rIns="0" bIns="0" rtlCol="0" anchor="ctr"/>
          <a:lstStyle/>
          <a:p>
            <a:pPr indent="0" marL="0">
              <a:buNone/>
            </a:pPr>
            <a:r>
              <a:rPr lang="en-US" sz="1400" i="1" dirty="0">
                <a:solidFill>
                  <a:schemeClr val="tx2"/>
                </a:solidFill>
              </a:rPr>
              <a:t>Data split: training 2020–2023, validation 2024, test 2025. The split is chronological with no shuffling, so no future data leaks into training.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899855" cy="731520"/>
          </a:xfrm>
          <a:prstGeom prst="rect">
            <a:avLst/>
          </a:prstGeom>
          <a:noFill/>
          <a:ln/>
        </p:spPr>
        <p:txBody>
          <a:bodyPr wrap="square" lIns="0" tIns="0" rIns="0" bIns="0" rtlCol="0" anchor="ctr"/>
          <a:lstStyle/>
          <a:p>
            <a:pPr algn="l" indent="0" marL="0">
              <a:buNone/>
            </a:pPr>
            <a:r>
              <a:rPr lang="en-US" sz="3000" b="1" dirty="0">
                <a:solidFill>
                  <a:schemeClr val="tx2"/>
                </a:solidFill>
              </a:rPr>
              <a:t>Scenario assumptions: explicit and adjustable</a:t>
            </a:r>
            <a:endParaRPr lang="en-US" sz="3000" dirty="0"/>
          </a:p>
        </p:txBody>
      </p:sp>
      <p:sp>
        <p:nvSpPr>
          <p:cNvPr id="3" name="Text 1"/>
          <p:cNvSpPr txBox="1"/>
          <p:nvPr/>
        </p:nvSpPr>
        <p:spPr>
          <a:xfrm>
            <a:off x="9631375" y="320040"/>
            <a:ext cx="2011680" cy="731520"/>
          </a:xfrm>
          <a:prstGeom prst="rect">
            <a:avLst/>
          </a:prstGeom>
          <a:noFill/>
          <a:ln/>
        </p:spPr>
        <p:txBody>
          <a:bodyPr wrap="square" lIns="0" tIns="0" rIns="0" bIns="0" rtlCol="0" anchor="ctr"/>
          <a:lstStyle/>
          <a:p>
            <a:pPr algn="r" indent="0" marL="0">
              <a:buNone/>
            </a:pPr>
            <a:r>
              <a:rPr lang="en-US" sz="1400" i="1" dirty="0">
                <a:solidFill>
                  <a:schemeClr val="accent2"/>
                </a:solidFill>
              </a:rPr>
              <a:t>Kshitij</a:t>
            </a:r>
            <a:endParaRPr lang="en-US" sz="1400" dirty="0"/>
          </a:p>
        </p:txBody>
      </p:sp>
      <p:sp>
        <p:nvSpPr>
          <p:cNvPr id="4" name="Shape 2"/>
          <p:cNvSpPr/>
          <p:nvPr/>
        </p:nvSpPr>
        <p:spPr>
          <a:xfrm>
            <a:off x="548640" y="1280160"/>
            <a:ext cx="3511296" cy="2240280"/>
          </a:xfrm>
          <a:prstGeom prst="roundRect">
            <a:avLst>
              <a:gd name="adj" fmla="val 4898"/>
            </a:avLst>
          </a:prstGeom>
          <a:solidFill>
            <a:schemeClr val="bg2"/>
          </a:solidFill>
          <a:ln w="12700">
            <a:solidFill>
              <a:schemeClr val="bg2"/>
            </a:solidFill>
            <a:prstDash val="solid"/>
          </a:ln>
        </p:spPr>
      </p:sp>
      <p:sp>
        <p:nvSpPr>
          <p:cNvPr id="5" name="asm0-circle"/>
          <p:cNvSpPr/>
          <p:nvPr/>
        </p:nvSpPr>
        <p:spPr>
          <a:xfrm>
            <a:off x="777240" y="1508760"/>
            <a:ext cx="594360" cy="594360"/>
          </a:xfrm>
          <a:prstGeom prst="ellipse">
            <a:avLst/>
          </a:prstGeom>
          <a:solidFill>
            <a:srgbClr val="2D8C8C"/>
          </a:solidFill>
          <a:ln w="12700">
            <a:solidFill>
              <a:srgbClr val="2D8C8C"/>
            </a:solidFill>
            <a:prstDash val="solid"/>
          </a:ln>
        </p:spPr>
      </p:sp>
      <p:pic>
        <p:nvPicPr>
          <p:cNvPr id="6" name="asm0-icon" descr="preencoded.png">    </p:cNvPr>
          <p:cNvPicPr>
            <a:picLocks noChangeAspect="1"/>
          </p:cNvPicPr>
          <p:nvPr/>
        </p:nvPicPr>
        <p:blipFill>
          <a:blip r:embed="rId1"/>
          <a:stretch>
            <a:fillRect/>
          </a:stretch>
        </p:blipFill>
        <p:spPr>
          <a:xfrm>
            <a:off x="919886" y="1651406"/>
            <a:ext cx="309067" cy="309067"/>
          </a:xfrm>
          <a:prstGeom prst="rect">
            <a:avLst/>
          </a:prstGeom>
        </p:spPr>
      </p:pic>
      <p:sp>
        <p:nvSpPr>
          <p:cNvPr id="7" name="Text 4"/>
          <p:cNvSpPr txBox="1"/>
          <p:nvPr/>
        </p:nvSpPr>
        <p:spPr>
          <a:xfrm>
            <a:off x="1508760" y="1508760"/>
            <a:ext cx="2322576" cy="594360"/>
          </a:xfrm>
          <a:prstGeom prst="rect">
            <a:avLst/>
          </a:prstGeom>
          <a:noFill/>
          <a:ln/>
        </p:spPr>
        <p:txBody>
          <a:bodyPr wrap="square" lIns="0" tIns="0" rIns="0" bIns="0" rtlCol="0" anchor="ctr"/>
          <a:lstStyle/>
          <a:p>
            <a:pPr indent="0" marL="0">
              <a:buNone/>
            </a:pPr>
            <a:r>
              <a:rPr lang="en-US" sz="1700" b="1" dirty="0">
                <a:solidFill>
                  <a:schemeClr val="tx2"/>
                </a:solidFill>
              </a:rPr>
              <a:t>Solar farm</a:t>
            </a:r>
            <a:endParaRPr lang="en-US" sz="1700" dirty="0"/>
          </a:p>
        </p:txBody>
      </p:sp>
      <p:sp>
        <p:nvSpPr>
          <p:cNvPr id="8" name="Text 5"/>
          <p:cNvSpPr txBox="1"/>
          <p:nvPr/>
        </p:nvSpPr>
        <p:spPr>
          <a:xfrm>
            <a:off x="777240" y="2194560"/>
            <a:ext cx="3054096" cy="1188720"/>
          </a:xfrm>
          <a:prstGeom prst="rect">
            <a:avLst/>
          </a:prstGeom>
          <a:noFill/>
          <a:ln/>
        </p:spPr>
        <p:txBody>
          <a:bodyPr wrap="square" lIns="0" tIns="0" rIns="0" bIns="0" rtlCol="0" anchor="t"/>
          <a:lstStyle/>
          <a:p>
            <a:pPr indent="0" marL="0">
              <a:buNone/>
            </a:pPr>
            <a:r>
              <a:rPr lang="en-US" sz="1300" dirty="0">
                <a:solidFill>
                  <a:schemeClr val="tx1"/>
                </a:solidFill>
              </a:rPr>
              <a:t>A 10 MW (AC) fixed-tilt array near Ottawa. Output is modelled with pvlib from real irradiance and temperature: zero at night, reduced under snow.</a:t>
            </a:r>
            <a:endParaRPr lang="en-US" sz="1300" dirty="0"/>
          </a:p>
        </p:txBody>
      </p:sp>
      <p:sp>
        <p:nvSpPr>
          <p:cNvPr id="9" name="Shape 6"/>
          <p:cNvSpPr/>
          <p:nvPr/>
        </p:nvSpPr>
        <p:spPr>
          <a:xfrm>
            <a:off x="4334256" y="1280160"/>
            <a:ext cx="3511296" cy="2240280"/>
          </a:xfrm>
          <a:prstGeom prst="roundRect">
            <a:avLst>
              <a:gd name="adj" fmla="val 4898"/>
            </a:avLst>
          </a:prstGeom>
          <a:solidFill>
            <a:schemeClr val="bg2"/>
          </a:solidFill>
          <a:ln w="12700">
            <a:solidFill>
              <a:schemeClr val="bg2"/>
            </a:solidFill>
            <a:prstDash val="solid"/>
          </a:ln>
        </p:spPr>
      </p:sp>
      <p:sp>
        <p:nvSpPr>
          <p:cNvPr id="10" name="asm1-circle"/>
          <p:cNvSpPr/>
          <p:nvPr/>
        </p:nvSpPr>
        <p:spPr>
          <a:xfrm>
            <a:off x="4562856" y="1508760"/>
            <a:ext cx="594360" cy="594360"/>
          </a:xfrm>
          <a:prstGeom prst="ellipse">
            <a:avLst/>
          </a:prstGeom>
          <a:solidFill>
            <a:srgbClr val="2D8C8C"/>
          </a:solidFill>
          <a:ln w="12700">
            <a:solidFill>
              <a:srgbClr val="2D8C8C"/>
            </a:solidFill>
            <a:prstDash val="solid"/>
          </a:ln>
        </p:spPr>
      </p:sp>
      <p:pic>
        <p:nvPicPr>
          <p:cNvPr id="11" name="asm1-icon" descr="preencoded.png">    </p:cNvPr>
          <p:cNvPicPr>
            <a:picLocks noChangeAspect="1"/>
          </p:cNvPicPr>
          <p:nvPr/>
        </p:nvPicPr>
        <p:blipFill>
          <a:blip r:embed="rId2"/>
          <a:stretch>
            <a:fillRect/>
          </a:stretch>
        </p:blipFill>
        <p:spPr>
          <a:xfrm>
            <a:off x="4705502" y="1651406"/>
            <a:ext cx="309067" cy="309067"/>
          </a:xfrm>
          <a:prstGeom prst="rect">
            <a:avLst/>
          </a:prstGeom>
        </p:spPr>
      </p:pic>
      <p:sp>
        <p:nvSpPr>
          <p:cNvPr id="12" name="Text 8"/>
          <p:cNvSpPr txBox="1"/>
          <p:nvPr/>
        </p:nvSpPr>
        <p:spPr>
          <a:xfrm>
            <a:off x="5294376" y="1508760"/>
            <a:ext cx="2322576" cy="594360"/>
          </a:xfrm>
          <a:prstGeom prst="rect">
            <a:avLst/>
          </a:prstGeom>
          <a:noFill/>
          <a:ln/>
        </p:spPr>
        <p:txBody>
          <a:bodyPr wrap="square" lIns="0" tIns="0" rIns="0" bIns="0" rtlCol="0" anchor="ctr"/>
          <a:lstStyle/>
          <a:p>
            <a:pPr indent="0" marL="0">
              <a:buNone/>
            </a:pPr>
            <a:r>
              <a:rPr lang="en-US" sz="1700" b="1" dirty="0">
                <a:solidFill>
                  <a:schemeClr val="tx2"/>
                </a:solidFill>
              </a:rPr>
              <a:t>Wind farm</a:t>
            </a:r>
            <a:endParaRPr lang="en-US" sz="1700" dirty="0"/>
          </a:p>
        </p:txBody>
      </p:sp>
      <p:sp>
        <p:nvSpPr>
          <p:cNvPr id="13" name="Text 9"/>
          <p:cNvSpPr txBox="1"/>
          <p:nvPr/>
        </p:nvSpPr>
        <p:spPr>
          <a:xfrm>
            <a:off x="4562856" y="2194560"/>
            <a:ext cx="3054096" cy="1188720"/>
          </a:xfrm>
          <a:prstGeom prst="rect">
            <a:avLst/>
          </a:prstGeom>
          <a:noFill/>
          <a:ln/>
        </p:spPr>
        <p:txBody>
          <a:bodyPr wrap="square" lIns="0" tIns="0" rIns="0" bIns="0" rtlCol="0" anchor="t"/>
          <a:lstStyle/>
          <a:p>
            <a:pPr indent="0" marL="0">
              <a:buNone/>
            </a:pPr>
            <a:r>
              <a:rPr lang="en-US" sz="1300" dirty="0">
                <a:solidFill>
                  <a:schemeClr val="tx1"/>
                </a:solidFill>
              </a:rPr>
              <a:t>A 20 MW farm (e.g., six 3.3 MW turbines). Power curve: cut-in 3 m/s, rated 12 m/s, cut-out 25 m/s, applied to 100 m wind speed.</a:t>
            </a:r>
            <a:endParaRPr lang="en-US" sz="1300" dirty="0"/>
          </a:p>
        </p:txBody>
      </p:sp>
      <p:sp>
        <p:nvSpPr>
          <p:cNvPr id="14" name="Shape 10"/>
          <p:cNvSpPr/>
          <p:nvPr/>
        </p:nvSpPr>
        <p:spPr>
          <a:xfrm>
            <a:off x="8119872" y="1280160"/>
            <a:ext cx="3511296" cy="2240280"/>
          </a:xfrm>
          <a:prstGeom prst="roundRect">
            <a:avLst>
              <a:gd name="adj" fmla="val 4898"/>
            </a:avLst>
          </a:prstGeom>
          <a:solidFill>
            <a:schemeClr val="bg2"/>
          </a:solidFill>
          <a:ln w="12700">
            <a:solidFill>
              <a:schemeClr val="bg2"/>
            </a:solidFill>
            <a:prstDash val="solid"/>
          </a:ln>
        </p:spPr>
      </p:sp>
      <p:sp>
        <p:nvSpPr>
          <p:cNvPr id="15" name="asm2-circle"/>
          <p:cNvSpPr/>
          <p:nvPr/>
        </p:nvSpPr>
        <p:spPr>
          <a:xfrm>
            <a:off x="8348472" y="1508760"/>
            <a:ext cx="594360" cy="594360"/>
          </a:xfrm>
          <a:prstGeom prst="ellipse">
            <a:avLst/>
          </a:prstGeom>
          <a:solidFill>
            <a:srgbClr val="2D8C8C"/>
          </a:solidFill>
          <a:ln w="12700">
            <a:solidFill>
              <a:srgbClr val="2D8C8C"/>
            </a:solidFill>
            <a:prstDash val="solid"/>
          </a:ln>
        </p:spPr>
      </p:sp>
      <p:pic>
        <p:nvPicPr>
          <p:cNvPr id="16" name="asm2-icon" descr="preencoded.png">    </p:cNvPr>
          <p:cNvPicPr>
            <a:picLocks noChangeAspect="1"/>
          </p:cNvPicPr>
          <p:nvPr/>
        </p:nvPicPr>
        <p:blipFill>
          <a:blip r:embed="rId3"/>
          <a:stretch>
            <a:fillRect/>
          </a:stretch>
        </p:blipFill>
        <p:spPr>
          <a:xfrm>
            <a:off x="8491118" y="1651406"/>
            <a:ext cx="309067" cy="309067"/>
          </a:xfrm>
          <a:prstGeom prst="rect">
            <a:avLst/>
          </a:prstGeom>
        </p:spPr>
      </p:pic>
      <p:sp>
        <p:nvSpPr>
          <p:cNvPr id="17" name="Text 12"/>
          <p:cNvSpPr txBox="1"/>
          <p:nvPr/>
        </p:nvSpPr>
        <p:spPr>
          <a:xfrm>
            <a:off x="9079992" y="1508760"/>
            <a:ext cx="2322576" cy="594360"/>
          </a:xfrm>
          <a:prstGeom prst="rect">
            <a:avLst/>
          </a:prstGeom>
          <a:noFill/>
          <a:ln/>
        </p:spPr>
        <p:txBody>
          <a:bodyPr wrap="square" lIns="0" tIns="0" rIns="0" bIns="0" rtlCol="0" anchor="ctr"/>
          <a:lstStyle/>
          <a:p>
            <a:pPr indent="0" marL="0">
              <a:buNone/>
            </a:pPr>
            <a:r>
              <a:rPr lang="en-US" sz="1700" b="1" dirty="0">
                <a:solidFill>
                  <a:schemeClr val="tx2"/>
                </a:solidFill>
              </a:rPr>
              <a:t>Residential</a:t>
            </a:r>
            <a:endParaRPr lang="en-US" sz="1700" dirty="0"/>
          </a:p>
        </p:txBody>
      </p:sp>
      <p:sp>
        <p:nvSpPr>
          <p:cNvPr id="18" name="Text 13"/>
          <p:cNvSpPr txBox="1"/>
          <p:nvPr/>
        </p:nvSpPr>
        <p:spPr>
          <a:xfrm>
            <a:off x="8348472" y="2194560"/>
            <a:ext cx="3054096" cy="1188720"/>
          </a:xfrm>
          <a:prstGeom prst="rect">
            <a:avLst/>
          </a:prstGeom>
          <a:noFill/>
          <a:ln/>
        </p:spPr>
        <p:txBody>
          <a:bodyPr wrap="square" lIns="0" tIns="0" rIns="0" bIns="0" rtlCol="0" anchor="t"/>
          <a:lstStyle/>
          <a:p>
            <a:pPr indent="0" marL="0">
              <a:buNone/>
            </a:pPr>
            <a:r>
              <a:rPr lang="en-US" sz="1300" dirty="0">
                <a:solidFill>
                  <a:schemeClr val="tx1"/>
                </a:solidFill>
              </a:rPr>
              <a:t>Follows temperature (heating and cooling degree-hours), with morning and evening peaks; higher on weekends and holidays.</a:t>
            </a:r>
            <a:endParaRPr lang="en-US" sz="1300" dirty="0"/>
          </a:p>
        </p:txBody>
      </p:sp>
      <p:sp>
        <p:nvSpPr>
          <p:cNvPr id="19" name="Shape 14"/>
          <p:cNvSpPr/>
          <p:nvPr/>
        </p:nvSpPr>
        <p:spPr>
          <a:xfrm>
            <a:off x="548640" y="3794760"/>
            <a:ext cx="3511296" cy="2240280"/>
          </a:xfrm>
          <a:prstGeom prst="roundRect">
            <a:avLst>
              <a:gd name="adj" fmla="val 4898"/>
            </a:avLst>
          </a:prstGeom>
          <a:solidFill>
            <a:schemeClr val="bg2"/>
          </a:solidFill>
          <a:ln w="12700">
            <a:solidFill>
              <a:schemeClr val="bg2"/>
            </a:solidFill>
            <a:prstDash val="solid"/>
          </a:ln>
        </p:spPr>
      </p:sp>
      <p:sp>
        <p:nvSpPr>
          <p:cNvPr id="20" name="asm3-circle"/>
          <p:cNvSpPr/>
          <p:nvPr/>
        </p:nvSpPr>
        <p:spPr>
          <a:xfrm>
            <a:off x="777240" y="4023360"/>
            <a:ext cx="594360" cy="594360"/>
          </a:xfrm>
          <a:prstGeom prst="ellipse">
            <a:avLst/>
          </a:prstGeom>
          <a:solidFill>
            <a:srgbClr val="2D8C8C"/>
          </a:solidFill>
          <a:ln w="12700">
            <a:solidFill>
              <a:srgbClr val="2D8C8C"/>
            </a:solidFill>
            <a:prstDash val="solid"/>
          </a:ln>
        </p:spPr>
      </p:sp>
      <p:pic>
        <p:nvPicPr>
          <p:cNvPr id="21" name="asm3-icon" descr="preencoded.png">    </p:cNvPr>
          <p:cNvPicPr>
            <a:picLocks noChangeAspect="1"/>
          </p:cNvPicPr>
          <p:nvPr/>
        </p:nvPicPr>
        <p:blipFill>
          <a:blip r:embed="rId4"/>
          <a:stretch>
            <a:fillRect/>
          </a:stretch>
        </p:blipFill>
        <p:spPr>
          <a:xfrm>
            <a:off x="919886" y="4166006"/>
            <a:ext cx="309067" cy="309067"/>
          </a:xfrm>
          <a:prstGeom prst="rect">
            <a:avLst/>
          </a:prstGeom>
        </p:spPr>
      </p:pic>
      <p:sp>
        <p:nvSpPr>
          <p:cNvPr id="22" name="Text 16"/>
          <p:cNvSpPr txBox="1"/>
          <p:nvPr/>
        </p:nvSpPr>
        <p:spPr>
          <a:xfrm>
            <a:off x="1508760" y="4023360"/>
            <a:ext cx="2322576" cy="594360"/>
          </a:xfrm>
          <a:prstGeom prst="rect">
            <a:avLst/>
          </a:prstGeom>
          <a:noFill/>
          <a:ln/>
        </p:spPr>
        <p:txBody>
          <a:bodyPr wrap="square" lIns="0" tIns="0" rIns="0" bIns="0" rtlCol="0" anchor="ctr"/>
          <a:lstStyle/>
          <a:p>
            <a:pPr indent="0" marL="0">
              <a:buNone/>
            </a:pPr>
            <a:r>
              <a:rPr lang="en-US" sz="1700" b="1" dirty="0">
                <a:solidFill>
                  <a:schemeClr val="tx2"/>
                </a:solidFill>
              </a:rPr>
              <a:t>Industrial / commercial</a:t>
            </a:r>
            <a:endParaRPr lang="en-US" sz="1700" dirty="0"/>
          </a:p>
        </p:txBody>
      </p:sp>
      <p:sp>
        <p:nvSpPr>
          <p:cNvPr id="23" name="Text 17"/>
          <p:cNvSpPr txBox="1"/>
          <p:nvPr/>
        </p:nvSpPr>
        <p:spPr>
          <a:xfrm>
            <a:off x="777240" y="4709160"/>
            <a:ext cx="3054096" cy="1188720"/>
          </a:xfrm>
          <a:prstGeom prst="rect">
            <a:avLst/>
          </a:prstGeom>
          <a:noFill/>
          <a:ln/>
        </p:spPr>
        <p:txBody>
          <a:bodyPr wrap="square" lIns="0" tIns="0" rIns="0" bIns="0" rtlCol="0" anchor="t"/>
          <a:lstStyle/>
          <a:p>
            <a:pPr indent="0" marL="0">
              <a:buNone/>
            </a:pPr>
            <a:r>
              <a:rPr lang="en-US" sz="1300" dirty="0">
                <a:solidFill>
                  <a:schemeClr val="tx1"/>
                </a:solidFill>
              </a:rPr>
              <a:t>A flat daytime block on workdays, reduced on weekends and statutory holidays, and minimal overnight.</a:t>
            </a:r>
            <a:endParaRPr lang="en-US" sz="1300" dirty="0"/>
          </a:p>
        </p:txBody>
      </p:sp>
      <p:sp>
        <p:nvSpPr>
          <p:cNvPr id="24" name="Shape 18"/>
          <p:cNvSpPr/>
          <p:nvPr/>
        </p:nvSpPr>
        <p:spPr>
          <a:xfrm>
            <a:off x="4334256" y="3794760"/>
            <a:ext cx="3511296" cy="2240280"/>
          </a:xfrm>
          <a:prstGeom prst="roundRect">
            <a:avLst>
              <a:gd name="adj" fmla="val 4898"/>
            </a:avLst>
          </a:prstGeom>
          <a:solidFill>
            <a:schemeClr val="bg2"/>
          </a:solidFill>
          <a:ln w="12700">
            <a:solidFill>
              <a:schemeClr val="bg2"/>
            </a:solidFill>
            <a:prstDash val="solid"/>
          </a:ln>
        </p:spPr>
      </p:sp>
      <p:sp>
        <p:nvSpPr>
          <p:cNvPr id="25" name="asm4-circle"/>
          <p:cNvSpPr/>
          <p:nvPr/>
        </p:nvSpPr>
        <p:spPr>
          <a:xfrm>
            <a:off x="4562856" y="4023360"/>
            <a:ext cx="594360" cy="594360"/>
          </a:xfrm>
          <a:prstGeom prst="ellipse">
            <a:avLst/>
          </a:prstGeom>
          <a:solidFill>
            <a:srgbClr val="2D8C8C"/>
          </a:solidFill>
          <a:ln w="12700">
            <a:solidFill>
              <a:srgbClr val="2D8C8C"/>
            </a:solidFill>
            <a:prstDash val="solid"/>
          </a:ln>
        </p:spPr>
      </p:sp>
      <p:pic>
        <p:nvPicPr>
          <p:cNvPr id="26" name="asm4-icon" descr="preencoded.png">    </p:cNvPr>
          <p:cNvPicPr>
            <a:picLocks noChangeAspect="1"/>
          </p:cNvPicPr>
          <p:nvPr/>
        </p:nvPicPr>
        <p:blipFill>
          <a:blip r:embed="rId5"/>
          <a:stretch>
            <a:fillRect/>
          </a:stretch>
        </p:blipFill>
        <p:spPr>
          <a:xfrm>
            <a:off x="4705502" y="4166006"/>
            <a:ext cx="309067" cy="309067"/>
          </a:xfrm>
          <a:prstGeom prst="rect">
            <a:avLst/>
          </a:prstGeom>
        </p:spPr>
      </p:pic>
      <p:sp>
        <p:nvSpPr>
          <p:cNvPr id="27" name="Text 20"/>
          <p:cNvSpPr txBox="1"/>
          <p:nvPr/>
        </p:nvSpPr>
        <p:spPr>
          <a:xfrm>
            <a:off x="5294376" y="4023360"/>
            <a:ext cx="2322576" cy="594360"/>
          </a:xfrm>
          <a:prstGeom prst="rect">
            <a:avLst/>
          </a:prstGeom>
          <a:noFill/>
          <a:ln/>
        </p:spPr>
        <p:txBody>
          <a:bodyPr wrap="square" lIns="0" tIns="0" rIns="0" bIns="0" rtlCol="0" anchor="ctr"/>
          <a:lstStyle/>
          <a:p>
            <a:pPr indent="0" marL="0">
              <a:buNone/>
            </a:pPr>
            <a:r>
              <a:rPr lang="en-US" sz="1700" b="1" dirty="0">
                <a:solidFill>
                  <a:schemeClr val="tx2"/>
                </a:solidFill>
              </a:rPr>
              <a:t>EV fleet</a:t>
            </a:r>
            <a:endParaRPr lang="en-US" sz="1700" dirty="0"/>
          </a:p>
        </p:txBody>
      </p:sp>
      <p:sp>
        <p:nvSpPr>
          <p:cNvPr id="28" name="Text 21"/>
          <p:cNvSpPr txBox="1"/>
          <p:nvPr/>
        </p:nvSpPr>
        <p:spPr>
          <a:xfrm>
            <a:off x="4562856" y="4709160"/>
            <a:ext cx="3054096" cy="1188720"/>
          </a:xfrm>
          <a:prstGeom prst="rect">
            <a:avLst/>
          </a:prstGeom>
          <a:noFill/>
          <a:ln/>
        </p:spPr>
        <p:txBody>
          <a:bodyPr wrap="square" lIns="0" tIns="0" rIns="0" bIns="0" rtlCol="0" anchor="t"/>
          <a:lstStyle/>
          <a:p>
            <a:pPr indent="0" marL="0">
              <a:buNone/>
            </a:pPr>
            <a:r>
              <a:rPr lang="en-US" sz="1300" dirty="0">
                <a:solidFill>
                  <a:schemeClr val="tx1"/>
                </a:solidFill>
              </a:rPr>
              <a:t>300 fleet vehicles using about 60 kWh each per workday, charged overnight (22:00–06:00); about 30% of that on holidays.</a:t>
            </a:r>
            <a:endParaRPr lang="en-US" sz="1300" dirty="0"/>
          </a:p>
        </p:txBody>
      </p:sp>
      <p:sp>
        <p:nvSpPr>
          <p:cNvPr id="29" name="Shape 22"/>
          <p:cNvSpPr/>
          <p:nvPr/>
        </p:nvSpPr>
        <p:spPr>
          <a:xfrm>
            <a:off x="8119872" y="3794760"/>
            <a:ext cx="3511296" cy="2240280"/>
          </a:xfrm>
          <a:prstGeom prst="roundRect">
            <a:avLst>
              <a:gd name="adj" fmla="val 4898"/>
            </a:avLst>
          </a:prstGeom>
          <a:solidFill>
            <a:schemeClr val="bg2"/>
          </a:solidFill>
          <a:ln w="12700">
            <a:solidFill>
              <a:schemeClr val="bg2"/>
            </a:solidFill>
            <a:prstDash val="solid"/>
          </a:ln>
        </p:spPr>
      </p:sp>
      <p:sp>
        <p:nvSpPr>
          <p:cNvPr id="30" name="asm5-circle"/>
          <p:cNvSpPr/>
          <p:nvPr/>
        </p:nvSpPr>
        <p:spPr>
          <a:xfrm>
            <a:off x="8348472" y="4023360"/>
            <a:ext cx="594360" cy="594360"/>
          </a:xfrm>
          <a:prstGeom prst="ellipse">
            <a:avLst/>
          </a:prstGeom>
          <a:solidFill>
            <a:srgbClr val="F2A541"/>
          </a:solidFill>
          <a:ln w="12700">
            <a:solidFill>
              <a:srgbClr val="F2A541"/>
            </a:solidFill>
            <a:prstDash val="solid"/>
          </a:ln>
        </p:spPr>
      </p:sp>
      <p:pic>
        <p:nvPicPr>
          <p:cNvPr id="31" name="asm5-icon" descr="preencoded.png">    </p:cNvPr>
          <p:cNvPicPr>
            <a:picLocks noChangeAspect="1"/>
          </p:cNvPicPr>
          <p:nvPr/>
        </p:nvPicPr>
        <p:blipFill>
          <a:blip r:embed="rId6"/>
          <a:stretch>
            <a:fillRect/>
          </a:stretch>
        </p:blipFill>
        <p:spPr>
          <a:xfrm>
            <a:off x="8491118" y="4166006"/>
            <a:ext cx="309067" cy="309067"/>
          </a:xfrm>
          <a:prstGeom prst="rect">
            <a:avLst/>
          </a:prstGeom>
        </p:spPr>
      </p:pic>
      <p:sp>
        <p:nvSpPr>
          <p:cNvPr id="32" name="Text 24"/>
          <p:cNvSpPr txBox="1"/>
          <p:nvPr/>
        </p:nvSpPr>
        <p:spPr>
          <a:xfrm>
            <a:off x="9079992" y="4023360"/>
            <a:ext cx="2322576" cy="594360"/>
          </a:xfrm>
          <a:prstGeom prst="rect">
            <a:avLst/>
          </a:prstGeom>
          <a:noFill/>
          <a:ln/>
        </p:spPr>
        <p:txBody>
          <a:bodyPr wrap="square" lIns="0" tIns="0" rIns="0" bIns="0" rtlCol="0" anchor="ctr"/>
          <a:lstStyle/>
          <a:p>
            <a:pPr indent="0" marL="0">
              <a:buNone/>
            </a:pPr>
            <a:r>
              <a:rPr lang="en-US" sz="1700" b="1" dirty="0">
                <a:solidFill>
                  <a:schemeClr val="tx2"/>
                </a:solidFill>
              </a:rPr>
              <a:t>Calibration</a:t>
            </a:r>
            <a:endParaRPr lang="en-US" sz="1700" dirty="0"/>
          </a:p>
        </p:txBody>
      </p:sp>
      <p:sp>
        <p:nvSpPr>
          <p:cNvPr id="33" name="Text 25"/>
          <p:cNvSpPr txBox="1"/>
          <p:nvPr/>
        </p:nvSpPr>
        <p:spPr>
          <a:xfrm>
            <a:off x="8348472" y="4709160"/>
            <a:ext cx="3054096" cy="1188720"/>
          </a:xfrm>
          <a:prstGeom prst="rect">
            <a:avLst/>
          </a:prstGeom>
          <a:noFill/>
          <a:ln/>
        </p:spPr>
        <p:txBody>
          <a:bodyPr wrap="square" lIns="0" tIns="0" rIns="0" bIns="0" rtlCol="0" anchor="t"/>
          <a:lstStyle/>
          <a:p>
            <a:pPr indent="0" marL="0">
              <a:buNone/>
            </a:pPr>
            <a:r>
              <a:rPr lang="en-US" sz="1300" dirty="0">
                <a:solidFill>
                  <a:schemeClr val="tx1"/>
                </a:solidFill>
              </a:rPr>
              <a:t>Component shares are scaled so that they add up to the real IESO Ottawa-zone total. Every parameter can be varied for stress tests.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899855" cy="731520"/>
          </a:xfrm>
          <a:prstGeom prst="rect">
            <a:avLst/>
          </a:prstGeom>
          <a:noFill/>
          <a:ln/>
        </p:spPr>
        <p:txBody>
          <a:bodyPr wrap="square" lIns="0" tIns="0" rIns="0" bIns="0" rtlCol="0" anchor="ctr"/>
          <a:lstStyle/>
          <a:p>
            <a:pPr algn="l" indent="0" marL="0">
              <a:buNone/>
            </a:pPr>
            <a:r>
              <a:rPr lang="en-US" sz="3000" b="1" dirty="0">
                <a:solidFill>
                  <a:schemeClr val="tx2"/>
                </a:solidFill>
              </a:rPr>
              <a:t>Methodology: models, baselines and evaluation</a:t>
            </a:r>
            <a:endParaRPr lang="en-US" sz="3000" dirty="0"/>
          </a:p>
        </p:txBody>
      </p:sp>
      <p:sp>
        <p:nvSpPr>
          <p:cNvPr id="3" name="Text 1"/>
          <p:cNvSpPr txBox="1"/>
          <p:nvPr/>
        </p:nvSpPr>
        <p:spPr>
          <a:xfrm>
            <a:off x="9631375" y="320040"/>
            <a:ext cx="2011680" cy="731520"/>
          </a:xfrm>
          <a:prstGeom prst="rect">
            <a:avLst/>
          </a:prstGeom>
          <a:noFill/>
          <a:ln/>
        </p:spPr>
        <p:txBody>
          <a:bodyPr wrap="square" lIns="0" tIns="0" rIns="0" bIns="0" rtlCol="0" anchor="ctr"/>
          <a:lstStyle/>
          <a:p>
            <a:pPr algn="r" indent="0" marL="0">
              <a:buNone/>
            </a:pPr>
            <a:r>
              <a:rPr lang="en-US" sz="1400" i="1" dirty="0">
                <a:solidFill>
                  <a:schemeClr val="accent2"/>
                </a:solidFill>
              </a:rPr>
              <a:t>Victor</a:t>
            </a:r>
            <a:endParaRPr lang="en-US" sz="1400" dirty="0"/>
          </a:p>
        </p:txBody>
      </p:sp>
      <p:sp>
        <p:nvSpPr>
          <p:cNvPr id="4" name="Shape 2"/>
          <p:cNvSpPr/>
          <p:nvPr/>
        </p:nvSpPr>
        <p:spPr>
          <a:xfrm>
            <a:off x="548640" y="1280160"/>
            <a:ext cx="6035040" cy="868680"/>
          </a:xfrm>
          <a:prstGeom prst="roundRect">
            <a:avLst>
              <a:gd name="adj" fmla="val 12632"/>
            </a:avLst>
          </a:prstGeom>
          <a:solidFill>
            <a:schemeClr val="bg2"/>
          </a:solidFill>
          <a:ln w="12700">
            <a:solidFill>
              <a:schemeClr val="bg2"/>
            </a:solidFill>
            <a:prstDash val="solid"/>
          </a:ln>
        </p:spPr>
      </p:sp>
      <p:sp>
        <p:nvSpPr>
          <p:cNvPr id="5" name="Text 3"/>
          <p:cNvSpPr txBox="1"/>
          <p:nvPr/>
        </p:nvSpPr>
        <p:spPr>
          <a:xfrm>
            <a:off x="777240" y="1325880"/>
            <a:ext cx="5577840" cy="777240"/>
          </a:xfrm>
          <a:prstGeom prst="rect">
            <a:avLst/>
          </a:prstGeom>
          <a:noFill/>
          <a:ln/>
        </p:spPr>
        <p:txBody>
          <a:bodyPr wrap="square" lIns="0" tIns="0" rIns="0" bIns="0" rtlCol="0" anchor="ctr"/>
          <a:lstStyle/>
          <a:p>
            <a:pPr indent="0" marL="0">
              <a:buNone/>
            </a:pPr>
            <a:r>
              <a:rPr lang="en-US" sz="1500" b="1" dirty="0">
                <a:solidFill>
                  <a:srgbClr val="0F3B3F"/>
                </a:solidFill>
              </a:rPr>
              <a:t>Persistence / seasonal naive</a:t>
            </a:r>
            <a:endParaRPr lang="en-US" sz="1500" dirty="0"/>
          </a:p>
          <a:p>
            <a:pPr indent="0" marL="0">
              <a:buNone/>
            </a:pPr>
            <a:r>
              <a:rPr lang="en-US" sz="1300" dirty="0">
                <a:solidFill>
                  <a:srgbClr val="1B2A2F"/>
                </a:solidFill>
              </a:rPr>
              <a:t>The minimum bar for every model: demand(t+1) = demand(t), or the same hour last week</a:t>
            </a:r>
            <a:endParaRPr lang="en-US" sz="1500" dirty="0"/>
          </a:p>
        </p:txBody>
      </p:sp>
      <p:sp>
        <p:nvSpPr>
          <p:cNvPr id="6" name="Shape 4"/>
          <p:cNvSpPr/>
          <p:nvPr/>
        </p:nvSpPr>
        <p:spPr>
          <a:xfrm>
            <a:off x="548640" y="2267712"/>
            <a:ext cx="6035040" cy="868680"/>
          </a:xfrm>
          <a:prstGeom prst="roundRect">
            <a:avLst>
              <a:gd name="adj" fmla="val 12632"/>
            </a:avLst>
          </a:prstGeom>
          <a:solidFill>
            <a:schemeClr val="bg2"/>
          </a:solidFill>
          <a:ln w="12700">
            <a:solidFill>
              <a:schemeClr val="bg2"/>
            </a:solidFill>
            <a:prstDash val="solid"/>
          </a:ln>
        </p:spPr>
      </p:sp>
      <p:sp>
        <p:nvSpPr>
          <p:cNvPr id="7" name="Text 5"/>
          <p:cNvSpPr txBox="1"/>
          <p:nvPr/>
        </p:nvSpPr>
        <p:spPr>
          <a:xfrm>
            <a:off x="777240" y="2313432"/>
            <a:ext cx="5577840" cy="777240"/>
          </a:xfrm>
          <a:prstGeom prst="rect">
            <a:avLst/>
          </a:prstGeom>
          <a:noFill/>
          <a:ln/>
        </p:spPr>
        <p:txBody>
          <a:bodyPr wrap="square" lIns="0" tIns="0" rIns="0" bIns="0" rtlCol="0" anchor="ctr"/>
          <a:lstStyle/>
          <a:p>
            <a:pPr indent="0" marL="0">
              <a:buNone/>
            </a:pPr>
            <a:r>
              <a:rPr lang="en-US" sz="1500" b="1" dirty="0">
                <a:solidFill>
                  <a:srgbClr val="0F3B3F"/>
                </a:solidFill>
              </a:rPr>
              <a:t>Linear Regression</a:t>
            </a:r>
            <a:endParaRPr lang="en-US" sz="1500" dirty="0"/>
          </a:p>
          <a:p>
            <a:pPr indent="0" marL="0">
              <a:buNone/>
            </a:pPr>
            <a:r>
              <a:rPr lang="en-US" sz="1300" dirty="0">
                <a:solidFill>
                  <a:srgbClr val="1B2A2F"/>
                </a:solidFill>
              </a:rPr>
              <a:t>An interpretable baseline that shows how much of the load is linear in temperature and calendar</a:t>
            </a:r>
            <a:endParaRPr lang="en-US" sz="1500" dirty="0"/>
          </a:p>
        </p:txBody>
      </p:sp>
      <p:sp>
        <p:nvSpPr>
          <p:cNvPr id="8" name="Shape 6"/>
          <p:cNvSpPr/>
          <p:nvPr/>
        </p:nvSpPr>
        <p:spPr>
          <a:xfrm>
            <a:off x="548640" y="3255264"/>
            <a:ext cx="6035040" cy="868680"/>
          </a:xfrm>
          <a:prstGeom prst="roundRect">
            <a:avLst>
              <a:gd name="adj" fmla="val 12632"/>
            </a:avLst>
          </a:prstGeom>
          <a:solidFill>
            <a:schemeClr val="tx2"/>
          </a:solidFill>
          <a:ln w="12700">
            <a:solidFill>
              <a:schemeClr val="tx2"/>
            </a:solidFill>
            <a:prstDash val="solid"/>
          </a:ln>
        </p:spPr>
      </p:sp>
      <p:sp>
        <p:nvSpPr>
          <p:cNvPr id="9" name="Text 7"/>
          <p:cNvSpPr txBox="1"/>
          <p:nvPr/>
        </p:nvSpPr>
        <p:spPr>
          <a:xfrm>
            <a:off x="777240" y="3300984"/>
            <a:ext cx="5577840" cy="777240"/>
          </a:xfrm>
          <a:prstGeom prst="rect">
            <a:avLst/>
          </a:prstGeom>
          <a:noFill/>
          <a:ln/>
        </p:spPr>
        <p:txBody>
          <a:bodyPr wrap="square" lIns="0" tIns="0" rIns="0" bIns="0" rtlCol="0" anchor="ctr"/>
          <a:lstStyle/>
          <a:p>
            <a:pPr indent="0" marL="0">
              <a:buNone/>
            </a:pPr>
            <a:r>
              <a:rPr lang="en-US" sz="1500" b="1" dirty="0">
                <a:solidFill>
                  <a:srgbClr val="F2A541"/>
                </a:solidFill>
              </a:rPr>
              <a:t>Random Forest</a:t>
            </a:r>
            <a:endParaRPr lang="en-US" sz="1500" dirty="0"/>
          </a:p>
          <a:p>
            <a:pPr indent="0" marL="0">
              <a:buNone/>
            </a:pPr>
            <a:r>
              <a:rPr lang="en-US" sz="1300" dirty="0">
                <a:solidFill>
                  <a:srgbClr val="FFFFFF"/>
                </a:solidFill>
              </a:rPr>
              <a:t>An ensemble of bagged trees [9] that captures the nonlinear (U-shaped) heating and cooling response</a:t>
            </a:r>
            <a:endParaRPr lang="en-US" sz="1500" dirty="0"/>
          </a:p>
        </p:txBody>
      </p:sp>
      <p:sp>
        <p:nvSpPr>
          <p:cNvPr id="10" name="Shape 8"/>
          <p:cNvSpPr/>
          <p:nvPr/>
        </p:nvSpPr>
        <p:spPr>
          <a:xfrm>
            <a:off x="548640" y="4242816"/>
            <a:ext cx="6035040" cy="868680"/>
          </a:xfrm>
          <a:prstGeom prst="roundRect">
            <a:avLst>
              <a:gd name="adj" fmla="val 12632"/>
            </a:avLst>
          </a:prstGeom>
          <a:solidFill>
            <a:schemeClr val="tx2"/>
          </a:solidFill>
          <a:ln w="12700">
            <a:solidFill>
              <a:schemeClr val="tx2"/>
            </a:solidFill>
            <a:prstDash val="solid"/>
          </a:ln>
        </p:spPr>
      </p:sp>
      <p:sp>
        <p:nvSpPr>
          <p:cNvPr id="11" name="Text 9"/>
          <p:cNvSpPr txBox="1"/>
          <p:nvPr/>
        </p:nvSpPr>
        <p:spPr>
          <a:xfrm>
            <a:off x="777240" y="4288536"/>
            <a:ext cx="5577840" cy="777240"/>
          </a:xfrm>
          <a:prstGeom prst="rect">
            <a:avLst/>
          </a:prstGeom>
          <a:noFill/>
          <a:ln/>
        </p:spPr>
        <p:txBody>
          <a:bodyPr wrap="square" lIns="0" tIns="0" rIns="0" bIns="0" rtlCol="0" anchor="ctr"/>
          <a:lstStyle/>
          <a:p>
            <a:pPr indent="0" marL="0">
              <a:buNone/>
            </a:pPr>
            <a:r>
              <a:rPr lang="en-US" sz="1500" b="1" dirty="0">
                <a:solidFill>
                  <a:srgbClr val="F2A541"/>
                </a:solidFill>
              </a:rPr>
              <a:t>XGBoost</a:t>
            </a:r>
            <a:endParaRPr lang="en-US" sz="1500" dirty="0"/>
          </a:p>
          <a:p>
            <a:pPr indent="0" marL="0">
              <a:buNone/>
            </a:pPr>
            <a:r>
              <a:rPr lang="en-US" sz="1300" dirty="0">
                <a:solidFill>
                  <a:srgbClr val="FFFFFF"/>
                </a:solidFill>
              </a:rPr>
              <a:t>Gradient-boosted trees [10]; achieved the lowest RMSE of the three models in [1]</a:t>
            </a:r>
            <a:endParaRPr lang="en-US" sz="1500" dirty="0"/>
          </a:p>
        </p:txBody>
      </p:sp>
      <p:sp>
        <p:nvSpPr>
          <p:cNvPr id="12" name="Text 10"/>
          <p:cNvSpPr txBox="1"/>
          <p:nvPr/>
        </p:nvSpPr>
        <p:spPr>
          <a:xfrm>
            <a:off x="548640" y="5303520"/>
            <a:ext cx="6035040" cy="411480"/>
          </a:xfrm>
          <a:prstGeom prst="rect">
            <a:avLst/>
          </a:prstGeom>
          <a:noFill/>
          <a:ln/>
        </p:spPr>
        <p:txBody>
          <a:bodyPr wrap="square" lIns="0" tIns="0" rIns="0" bIns="0" rtlCol="0" anchor="ctr"/>
          <a:lstStyle/>
          <a:p>
            <a:pPr indent="0" marL="0">
              <a:buNone/>
            </a:pPr>
            <a:r>
              <a:rPr lang="en-US" sz="1300" i="1" dirty="0">
                <a:solidFill>
                  <a:schemeClr val="tx2"/>
                </a:solidFill>
              </a:rPr>
              <a:t>Stretch goal: an LSTM sequence model [4], if time allows.</a:t>
            </a:r>
            <a:endParaRPr lang="en-US" sz="1300" dirty="0"/>
          </a:p>
        </p:txBody>
      </p:sp>
      <p:sp>
        <p:nvSpPr>
          <p:cNvPr id="13" name="Text 11"/>
          <p:cNvSpPr txBox="1"/>
          <p:nvPr/>
        </p:nvSpPr>
        <p:spPr>
          <a:xfrm>
            <a:off x="6949440" y="1280160"/>
            <a:ext cx="4663440" cy="411480"/>
          </a:xfrm>
          <a:prstGeom prst="rect">
            <a:avLst/>
          </a:prstGeom>
          <a:noFill/>
          <a:ln/>
        </p:spPr>
        <p:txBody>
          <a:bodyPr wrap="square" lIns="0" tIns="0" rIns="0" bIns="0" rtlCol="0" anchor="ctr"/>
          <a:lstStyle/>
          <a:p>
            <a:pPr indent="0" marL="0">
              <a:buNone/>
            </a:pPr>
            <a:r>
              <a:rPr lang="en-US" sz="1700" b="1" dirty="0">
                <a:solidFill>
                  <a:schemeClr val="tx2"/>
                </a:solidFill>
              </a:rPr>
              <a:t>Evaluation on the unseen 2025 test year</a:t>
            </a:r>
            <a:endParaRPr lang="en-US" sz="1700" dirty="0"/>
          </a:p>
        </p:txBody>
      </p:sp>
      <p:sp>
        <p:nvSpPr>
          <p:cNvPr id="14" name="Shape 12"/>
          <p:cNvSpPr/>
          <p:nvPr/>
        </p:nvSpPr>
        <p:spPr>
          <a:xfrm>
            <a:off x="6949440" y="1828800"/>
            <a:ext cx="2148840" cy="1143000"/>
          </a:xfrm>
          <a:prstGeom prst="roundRect">
            <a:avLst>
              <a:gd name="adj" fmla="val 9600"/>
            </a:avLst>
          </a:prstGeom>
          <a:solidFill>
            <a:schemeClr val="bg2"/>
          </a:solidFill>
          <a:ln w="12700">
            <a:solidFill>
              <a:schemeClr val="bg2"/>
            </a:solidFill>
            <a:prstDash val="solid"/>
          </a:ln>
        </p:spPr>
      </p:sp>
      <p:sp>
        <p:nvSpPr>
          <p:cNvPr id="15" name="Text 13"/>
          <p:cNvSpPr txBox="1"/>
          <p:nvPr/>
        </p:nvSpPr>
        <p:spPr>
          <a:xfrm>
            <a:off x="6949440" y="1828800"/>
            <a:ext cx="2148840" cy="1143000"/>
          </a:xfrm>
          <a:prstGeom prst="rect">
            <a:avLst/>
          </a:prstGeom>
          <a:noFill/>
          <a:ln/>
        </p:spPr>
        <p:txBody>
          <a:bodyPr wrap="square" lIns="0" tIns="0" rIns="0" bIns="0" rtlCol="0" anchor="ctr"/>
          <a:lstStyle/>
          <a:p>
            <a:pPr algn="ctr" indent="0" marL="0">
              <a:buNone/>
            </a:pPr>
            <a:r>
              <a:rPr lang="en-US" sz="3000" b="1" dirty="0">
                <a:solidFill>
                  <a:srgbClr val="2D8C8C"/>
                </a:solidFill>
              </a:rPr>
              <a:t>MAE</a:t>
            </a:r>
            <a:endParaRPr lang="en-US" sz="3000" dirty="0"/>
          </a:p>
          <a:p>
            <a:pPr algn="ctr" indent="0" marL="0">
              <a:buNone/>
            </a:pPr>
            <a:r>
              <a:rPr lang="en-US" sz="1200" dirty="0">
                <a:solidFill>
                  <a:srgbClr val="1B2A2F"/>
                </a:solidFill>
              </a:rPr>
              <a:t>MW</a:t>
            </a:r>
            <a:endParaRPr lang="en-US" sz="3000" dirty="0"/>
          </a:p>
        </p:txBody>
      </p:sp>
      <p:sp>
        <p:nvSpPr>
          <p:cNvPr id="16" name="Shape 14"/>
          <p:cNvSpPr/>
          <p:nvPr/>
        </p:nvSpPr>
        <p:spPr>
          <a:xfrm>
            <a:off x="9326880" y="1828800"/>
            <a:ext cx="2148840" cy="1143000"/>
          </a:xfrm>
          <a:prstGeom prst="roundRect">
            <a:avLst>
              <a:gd name="adj" fmla="val 9600"/>
            </a:avLst>
          </a:prstGeom>
          <a:solidFill>
            <a:schemeClr val="bg2"/>
          </a:solidFill>
          <a:ln w="12700">
            <a:solidFill>
              <a:schemeClr val="bg2"/>
            </a:solidFill>
            <a:prstDash val="solid"/>
          </a:ln>
        </p:spPr>
      </p:sp>
      <p:sp>
        <p:nvSpPr>
          <p:cNvPr id="17" name="Text 15"/>
          <p:cNvSpPr txBox="1"/>
          <p:nvPr/>
        </p:nvSpPr>
        <p:spPr>
          <a:xfrm>
            <a:off x="9326880" y="1828800"/>
            <a:ext cx="2148840" cy="1143000"/>
          </a:xfrm>
          <a:prstGeom prst="rect">
            <a:avLst/>
          </a:prstGeom>
          <a:noFill/>
          <a:ln/>
        </p:spPr>
        <p:txBody>
          <a:bodyPr wrap="square" lIns="0" tIns="0" rIns="0" bIns="0" rtlCol="0" anchor="ctr"/>
          <a:lstStyle/>
          <a:p>
            <a:pPr algn="ctr" indent="0" marL="0">
              <a:buNone/>
            </a:pPr>
            <a:r>
              <a:rPr lang="en-US" sz="3000" b="1" dirty="0">
                <a:solidFill>
                  <a:srgbClr val="2D8C8C"/>
                </a:solidFill>
              </a:rPr>
              <a:t>RMSE</a:t>
            </a:r>
            <a:endParaRPr lang="en-US" sz="3000" dirty="0"/>
          </a:p>
          <a:p>
            <a:pPr algn="ctr" indent="0" marL="0">
              <a:buNone/>
            </a:pPr>
            <a:r>
              <a:rPr lang="en-US" sz="1200" dirty="0">
                <a:solidFill>
                  <a:srgbClr val="1B2A2F"/>
                </a:solidFill>
              </a:rPr>
              <a:t>MW</a:t>
            </a:r>
            <a:endParaRPr lang="en-US" sz="3000" dirty="0"/>
          </a:p>
        </p:txBody>
      </p:sp>
      <p:sp>
        <p:nvSpPr>
          <p:cNvPr id="18" name="Shape 16"/>
          <p:cNvSpPr/>
          <p:nvPr/>
        </p:nvSpPr>
        <p:spPr>
          <a:xfrm>
            <a:off x="6949440" y="3154680"/>
            <a:ext cx="2148840" cy="1143000"/>
          </a:xfrm>
          <a:prstGeom prst="roundRect">
            <a:avLst>
              <a:gd name="adj" fmla="val 9600"/>
            </a:avLst>
          </a:prstGeom>
          <a:solidFill>
            <a:schemeClr val="bg2"/>
          </a:solidFill>
          <a:ln w="12700">
            <a:solidFill>
              <a:schemeClr val="bg2"/>
            </a:solidFill>
            <a:prstDash val="solid"/>
          </a:ln>
        </p:spPr>
      </p:sp>
      <p:sp>
        <p:nvSpPr>
          <p:cNvPr id="19" name="Text 17"/>
          <p:cNvSpPr txBox="1"/>
          <p:nvPr/>
        </p:nvSpPr>
        <p:spPr>
          <a:xfrm>
            <a:off x="6949440" y="3154680"/>
            <a:ext cx="2148840" cy="1143000"/>
          </a:xfrm>
          <a:prstGeom prst="rect">
            <a:avLst/>
          </a:prstGeom>
          <a:noFill/>
          <a:ln/>
        </p:spPr>
        <p:txBody>
          <a:bodyPr wrap="square" lIns="0" tIns="0" rIns="0" bIns="0" rtlCol="0" anchor="ctr"/>
          <a:lstStyle/>
          <a:p>
            <a:pPr algn="ctr" indent="0" marL="0">
              <a:buNone/>
            </a:pPr>
            <a:r>
              <a:rPr lang="en-US" sz="3000" b="1" dirty="0">
                <a:solidFill>
                  <a:srgbClr val="2D8C8C"/>
                </a:solidFill>
              </a:rPr>
              <a:t>MAPE</a:t>
            </a:r>
            <a:endParaRPr lang="en-US" sz="3000" dirty="0"/>
          </a:p>
          <a:p>
            <a:pPr algn="ctr" indent="0" marL="0">
              <a:buNone/>
            </a:pPr>
            <a:r>
              <a:rPr lang="en-US" sz="1200" dirty="0">
                <a:solidFill>
                  <a:srgbClr val="1B2A2F"/>
                </a:solidFill>
              </a:rPr>
              <a:t>%</a:t>
            </a:r>
            <a:endParaRPr lang="en-US" sz="3000" dirty="0"/>
          </a:p>
        </p:txBody>
      </p:sp>
      <p:sp>
        <p:nvSpPr>
          <p:cNvPr id="20" name="Shape 18"/>
          <p:cNvSpPr/>
          <p:nvPr/>
        </p:nvSpPr>
        <p:spPr>
          <a:xfrm>
            <a:off x="9326880" y="3154680"/>
            <a:ext cx="2148840" cy="1143000"/>
          </a:xfrm>
          <a:prstGeom prst="roundRect">
            <a:avLst>
              <a:gd name="adj" fmla="val 9600"/>
            </a:avLst>
          </a:prstGeom>
          <a:solidFill>
            <a:schemeClr val="bg2"/>
          </a:solidFill>
          <a:ln w="12700">
            <a:solidFill>
              <a:schemeClr val="bg2"/>
            </a:solidFill>
            <a:prstDash val="solid"/>
          </a:ln>
        </p:spPr>
      </p:sp>
      <p:sp>
        <p:nvSpPr>
          <p:cNvPr id="21" name="Text 19"/>
          <p:cNvSpPr txBox="1"/>
          <p:nvPr/>
        </p:nvSpPr>
        <p:spPr>
          <a:xfrm>
            <a:off x="9326880" y="3154680"/>
            <a:ext cx="2148840" cy="1143000"/>
          </a:xfrm>
          <a:prstGeom prst="rect">
            <a:avLst/>
          </a:prstGeom>
          <a:noFill/>
          <a:ln/>
        </p:spPr>
        <p:txBody>
          <a:bodyPr wrap="square" lIns="0" tIns="0" rIns="0" bIns="0" rtlCol="0" anchor="ctr"/>
          <a:lstStyle/>
          <a:p>
            <a:pPr algn="ctr" indent="0" marL="0">
              <a:buNone/>
            </a:pPr>
            <a:r>
              <a:rPr lang="en-US" sz="3000" b="1" dirty="0">
                <a:solidFill>
                  <a:srgbClr val="2D8C8C"/>
                </a:solidFill>
              </a:rPr>
              <a:t>R²</a:t>
            </a:r>
            <a:endParaRPr lang="en-US" sz="3000" dirty="0"/>
          </a:p>
          <a:p>
            <a:pPr algn="ctr" indent="0" marL="0">
              <a:buNone/>
            </a:pPr>
            <a:r>
              <a:rPr lang="en-US" sz="1200" dirty="0">
                <a:solidFill>
                  <a:srgbClr val="1B2A2F"/>
                </a:solidFill>
              </a:rPr>
              <a:t>goodness of fit</a:t>
            </a:r>
            <a:endParaRPr lang="en-US" sz="3000" dirty="0"/>
          </a:p>
        </p:txBody>
      </p:sp>
      <p:sp>
        <p:nvSpPr>
          <p:cNvPr id="22" name="Text 20"/>
          <p:cNvSpPr txBox="1"/>
          <p:nvPr/>
        </p:nvSpPr>
        <p:spPr>
          <a:xfrm>
            <a:off x="6949440" y="4572000"/>
            <a:ext cx="4663440" cy="1143000"/>
          </a:xfrm>
          <a:prstGeom prst="rect">
            <a:avLst/>
          </a:prstGeom>
          <a:noFill/>
          <a:ln/>
        </p:spPr>
        <p:txBody>
          <a:bodyPr wrap="square" lIns="0" tIns="0" rIns="0" bIns="0" rtlCol="0" anchor="t"/>
          <a:lstStyle/>
          <a:p>
            <a:pPr indent="0" marL="0">
              <a:buNone/>
            </a:pPr>
            <a:r>
              <a:rPr lang="en-US" sz="1300" b="1" dirty="0">
                <a:solidFill>
                  <a:schemeClr val="tx1"/>
                </a:solidFill>
              </a:rPr>
              <a:t>Critical analysis: </a:t>
            </a:r>
            <a:pPr indent="0" marL="0">
              <a:buNone/>
            </a:pPr>
            <a:r>
              <a:rPr lang="en-US" sz="1300" dirty="0">
                <a:solidFill>
                  <a:schemeClr val="tx1"/>
                </a:solidFill>
              </a:rPr>
              <a:t>errors by season, peak hours and holidays; feature importance; residual plots; and finally, net-load error once the solar, wind and EV scenarios are added.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899855" cy="731520"/>
          </a:xfrm>
          <a:prstGeom prst="rect">
            <a:avLst/>
          </a:prstGeom>
          <a:noFill/>
          <a:ln/>
        </p:spPr>
        <p:txBody>
          <a:bodyPr wrap="square" lIns="0" tIns="0" rIns="0" bIns="0" rtlCol="0" anchor="ctr"/>
          <a:lstStyle/>
          <a:p>
            <a:pPr algn="l" indent="0" marL="0">
              <a:buNone/>
            </a:pPr>
            <a:r>
              <a:rPr lang="en-US" sz="3000" b="1" dirty="0">
                <a:solidFill>
                  <a:schemeClr val="tx2"/>
                </a:solidFill>
              </a:rPr>
              <a:t>Feasibility and timeline</a:t>
            </a:r>
            <a:endParaRPr lang="en-US" sz="3000" dirty="0"/>
          </a:p>
        </p:txBody>
      </p:sp>
      <p:sp>
        <p:nvSpPr>
          <p:cNvPr id="3" name="Text 1"/>
          <p:cNvSpPr txBox="1"/>
          <p:nvPr/>
        </p:nvSpPr>
        <p:spPr>
          <a:xfrm>
            <a:off x="9631375" y="320040"/>
            <a:ext cx="2011680" cy="731520"/>
          </a:xfrm>
          <a:prstGeom prst="rect">
            <a:avLst/>
          </a:prstGeom>
          <a:noFill/>
          <a:ln/>
        </p:spPr>
        <p:txBody>
          <a:bodyPr wrap="square" lIns="0" tIns="0" rIns="0" bIns="0" rtlCol="0" anchor="ctr"/>
          <a:lstStyle/>
          <a:p>
            <a:pPr algn="r" indent="0" marL="0">
              <a:buNone/>
            </a:pPr>
            <a:r>
              <a:rPr lang="en-US" sz="1400" i="1" dirty="0">
                <a:solidFill>
                  <a:schemeClr val="accent2"/>
                </a:solidFill>
              </a:rPr>
              <a:t>Kshitij</a:t>
            </a:r>
            <a:endParaRPr lang="en-US" sz="1400" dirty="0"/>
          </a:p>
        </p:txBody>
      </p:sp>
      <p:sp>
        <p:nvSpPr>
          <p:cNvPr id="4" name="Shape 2"/>
          <p:cNvSpPr/>
          <p:nvPr/>
        </p:nvSpPr>
        <p:spPr>
          <a:xfrm>
            <a:off x="548640" y="1280160"/>
            <a:ext cx="5394960" cy="4480560"/>
          </a:xfrm>
          <a:prstGeom prst="roundRect">
            <a:avLst>
              <a:gd name="adj" fmla="val 2449"/>
            </a:avLst>
          </a:prstGeom>
          <a:solidFill>
            <a:schemeClr val="bg2"/>
          </a:solidFill>
          <a:ln w="12700">
            <a:solidFill>
              <a:schemeClr val="bg2"/>
            </a:solidFill>
            <a:prstDash val="solid"/>
          </a:ln>
        </p:spPr>
      </p:sp>
      <p:sp>
        <p:nvSpPr>
          <p:cNvPr id="5" name="Text 3"/>
          <p:cNvSpPr txBox="1"/>
          <p:nvPr/>
        </p:nvSpPr>
        <p:spPr>
          <a:xfrm>
            <a:off x="777240" y="1417320"/>
            <a:ext cx="4937760" cy="4206240"/>
          </a:xfrm>
          <a:prstGeom prst="rect">
            <a:avLst/>
          </a:prstGeom>
          <a:noFill/>
          <a:ln/>
        </p:spPr>
        <p:txBody>
          <a:bodyPr wrap="square" lIns="0" tIns="0" rIns="0" bIns="0" rtlCol="0" anchor="t"/>
          <a:lstStyle/>
          <a:p>
            <a:pPr indent="0" marL="0">
              <a:spcAft>
                <a:spcPts val="800"/>
              </a:spcAft>
              <a:buNone/>
            </a:pPr>
            <a:r>
              <a:rPr lang="en-US" sz="1700" b="1" dirty="0">
                <a:solidFill>
                  <a:srgbClr val="0F3B3F"/>
                </a:solidFill>
              </a:rPr>
              <a:t>Why this scope is realistic</a:t>
            </a:r>
            <a:endParaRPr lang="en-US" sz="1400" dirty="0"/>
          </a:p>
          <a:p>
            <a:pPr marL="342900" indent="-342900">
              <a:spcAft>
                <a:spcPts val="800"/>
              </a:spcAft>
              <a:buSzPct val="100000"/>
              <a:buChar char="•"/>
            </a:pPr>
            <a:r>
              <a:rPr lang="en-US" sz="1400" dirty="0">
                <a:solidFill>
                  <a:srgbClr val="1B2A2F"/>
                </a:solidFill>
              </a:rPr>
              <a:t>The data is free, public and hourly: about 52,000 rows for 2020–2025, small enough to train in seconds to minutes on a laptop.</a:t>
            </a:r>
            <a:endParaRPr lang="en-US" sz="1400" dirty="0"/>
          </a:p>
          <a:p>
            <a:pPr marL="342900" indent="-342900">
              <a:spcAft>
                <a:spcPts val="800"/>
              </a:spcAft>
              <a:buSzPct val="100000"/>
              <a:buChar char="•"/>
            </a:pPr>
            <a:r>
              <a:rPr lang="en-US" sz="1400" dirty="0">
                <a:solidFill>
                  <a:srgbClr val="1B2A2F"/>
                </a:solidFill>
              </a:rPr>
              <a:t>We use standard, well-documented libraries: pandas, scikit-learn, XGBoost and pvlib.</a:t>
            </a:r>
            <a:endParaRPr lang="en-US" sz="1400" dirty="0"/>
          </a:p>
          <a:p>
            <a:pPr marL="342900" indent="-342900">
              <a:spcAft>
                <a:spcPts val="800"/>
              </a:spcAft>
              <a:buSzPct val="100000"/>
              <a:buChar char="•"/>
            </a:pPr>
            <a:r>
              <a:rPr lang="en-US" sz="1400" dirty="0">
                <a:solidFill>
                  <a:srgbClr val="1B2A2F"/>
                </a:solidFill>
              </a:rPr>
              <a:t>The core ML deliverable (steps 1–4) does not depend on the scenario layer, so the scenarios cannot put it at risk.</a:t>
            </a:r>
            <a:endParaRPr lang="en-US" sz="1400" dirty="0"/>
          </a:p>
          <a:p>
            <a:pPr marL="342900" indent="-342900">
              <a:spcAft>
                <a:spcPts val="800"/>
              </a:spcAft>
              <a:buSzPct val="100000"/>
              <a:buChar char="•"/>
            </a:pPr>
            <a:r>
              <a:rPr lang="en-US" sz="1400" dirty="0">
                <a:solidFill>
                  <a:srgbClr val="1B2A2F"/>
                </a:solidFill>
              </a:rPr>
              <a:t>Clear fallback: if the zonal data is incomplete, we will use IESO's Ontario-wide hourly demand with the same pipeline.</a:t>
            </a:r>
            <a:endParaRPr lang="en-US" sz="1400" dirty="0"/>
          </a:p>
          <a:p>
            <a:pPr marL="342900" indent="-342900">
              <a:spcAft>
                <a:spcPts val="800"/>
              </a:spcAft>
              <a:buSzPct val="100000"/>
              <a:buChar char="•"/>
            </a:pPr>
            <a:r>
              <a:rPr lang="en-US" sz="1400" dirty="0">
                <a:solidFill>
                  <a:srgbClr val="1B2A2F"/>
                </a:solidFill>
              </a:rPr>
              <a:t>Out of scope: real-time control, power-flow simulation of the grid, and private utility data.</a:t>
            </a:r>
            <a:endParaRPr lang="en-US" sz="1400" dirty="0"/>
          </a:p>
        </p:txBody>
      </p:sp>
      <p:sp>
        <p:nvSpPr>
          <p:cNvPr id="6" name="Shape 4"/>
          <p:cNvSpPr/>
          <p:nvPr/>
        </p:nvSpPr>
        <p:spPr>
          <a:xfrm>
            <a:off x="6675120" y="1463040"/>
            <a:ext cx="0" cy="4114800"/>
          </a:xfrm>
          <a:prstGeom prst="line">
            <a:avLst/>
          </a:prstGeom>
          <a:noFill/>
          <a:ln w="25400">
            <a:solidFill>
              <a:srgbClr val="2D8C8C"/>
            </a:solidFill>
            <a:prstDash val="solid"/>
          </a:ln>
        </p:spPr>
      </p:sp>
      <p:sp>
        <p:nvSpPr>
          <p:cNvPr id="7" name="Shape 5"/>
          <p:cNvSpPr/>
          <p:nvPr/>
        </p:nvSpPr>
        <p:spPr>
          <a:xfrm>
            <a:off x="6537960" y="1435608"/>
            <a:ext cx="274320" cy="274320"/>
          </a:xfrm>
          <a:prstGeom prst="ellipse">
            <a:avLst/>
          </a:prstGeom>
          <a:solidFill>
            <a:schemeClr val="accent1"/>
          </a:solidFill>
          <a:ln w="25400">
            <a:solidFill>
              <a:schemeClr val="bg1"/>
            </a:solidFill>
            <a:prstDash val="solid"/>
          </a:ln>
        </p:spPr>
      </p:sp>
      <p:sp>
        <p:nvSpPr>
          <p:cNvPr id="8" name="Text 6"/>
          <p:cNvSpPr txBox="1"/>
          <p:nvPr/>
        </p:nvSpPr>
        <p:spPr>
          <a:xfrm>
            <a:off x="7040880" y="1280160"/>
            <a:ext cx="4572000" cy="658368"/>
          </a:xfrm>
          <a:prstGeom prst="rect">
            <a:avLst/>
          </a:prstGeom>
          <a:noFill/>
          <a:ln/>
        </p:spPr>
        <p:txBody>
          <a:bodyPr wrap="square" lIns="0" tIns="0" rIns="0" bIns="0" rtlCol="0" anchor="t"/>
          <a:lstStyle/>
          <a:p>
            <a:pPr indent="0" marL="0">
              <a:buNone/>
            </a:pPr>
            <a:r>
              <a:rPr lang="en-US" sz="1400" b="1" dirty="0">
                <a:solidFill>
                  <a:srgbClr val="0F3B3F"/>
                </a:solidFill>
              </a:rPr>
              <a:t>Oct 13</a:t>
            </a:r>
            <a:endParaRPr lang="en-US" sz="1400" dirty="0"/>
          </a:p>
          <a:p>
            <a:pPr indent="0" marL="0">
              <a:buNone/>
            </a:pPr>
            <a:r>
              <a:rPr lang="en-US" sz="1400" dirty="0">
                <a:solidFill>
                  <a:srgbClr val="1B2A2F"/>
                </a:solidFill>
              </a:rPr>
              <a:t>Proposal (this talk)</a:t>
            </a:r>
            <a:endParaRPr lang="en-US" sz="1400" dirty="0"/>
          </a:p>
        </p:txBody>
      </p:sp>
      <p:sp>
        <p:nvSpPr>
          <p:cNvPr id="9" name="Shape 7"/>
          <p:cNvSpPr/>
          <p:nvPr/>
        </p:nvSpPr>
        <p:spPr>
          <a:xfrm>
            <a:off x="6537960" y="2185416"/>
            <a:ext cx="274320" cy="274320"/>
          </a:xfrm>
          <a:prstGeom prst="ellipse">
            <a:avLst/>
          </a:prstGeom>
          <a:solidFill>
            <a:schemeClr val="accent2"/>
          </a:solidFill>
          <a:ln w="25400">
            <a:solidFill>
              <a:schemeClr val="bg1"/>
            </a:solidFill>
            <a:prstDash val="solid"/>
          </a:ln>
        </p:spPr>
      </p:sp>
      <p:sp>
        <p:nvSpPr>
          <p:cNvPr id="10" name="Text 8"/>
          <p:cNvSpPr txBox="1"/>
          <p:nvPr/>
        </p:nvSpPr>
        <p:spPr>
          <a:xfrm>
            <a:off x="7040880" y="2029968"/>
            <a:ext cx="4572000" cy="658368"/>
          </a:xfrm>
          <a:prstGeom prst="rect">
            <a:avLst/>
          </a:prstGeom>
          <a:noFill/>
          <a:ln/>
        </p:spPr>
        <p:txBody>
          <a:bodyPr wrap="square" lIns="0" tIns="0" rIns="0" bIns="0" rtlCol="0" anchor="t"/>
          <a:lstStyle/>
          <a:p>
            <a:pPr indent="0" marL="0">
              <a:buNone/>
            </a:pPr>
            <a:r>
              <a:rPr lang="en-US" sz="1400" b="1" dirty="0">
                <a:solidFill>
                  <a:srgbClr val="0F3B3F"/>
                </a:solidFill>
              </a:rPr>
              <a:t>Oct 14–31</a:t>
            </a:r>
            <a:endParaRPr lang="en-US" sz="1400" dirty="0"/>
          </a:p>
          <a:p>
            <a:pPr indent="0" marL="0">
              <a:buNone/>
            </a:pPr>
            <a:r>
              <a:rPr lang="en-US" sz="1400" dirty="0">
                <a:solidFill>
                  <a:srgbClr val="1B2A2F"/>
                </a:solidFill>
              </a:rPr>
              <a:t>Collect and clean data; build features; explore the data</a:t>
            </a:r>
            <a:endParaRPr lang="en-US" sz="1400" dirty="0"/>
          </a:p>
        </p:txBody>
      </p:sp>
      <p:sp>
        <p:nvSpPr>
          <p:cNvPr id="11" name="Shape 9"/>
          <p:cNvSpPr/>
          <p:nvPr/>
        </p:nvSpPr>
        <p:spPr>
          <a:xfrm>
            <a:off x="6537960" y="2935224"/>
            <a:ext cx="274320" cy="274320"/>
          </a:xfrm>
          <a:prstGeom prst="ellipse">
            <a:avLst/>
          </a:prstGeom>
          <a:solidFill>
            <a:schemeClr val="accent2"/>
          </a:solidFill>
          <a:ln w="25400">
            <a:solidFill>
              <a:schemeClr val="bg1"/>
            </a:solidFill>
            <a:prstDash val="solid"/>
          </a:ln>
        </p:spPr>
      </p:sp>
      <p:sp>
        <p:nvSpPr>
          <p:cNvPr id="12" name="Text 10"/>
          <p:cNvSpPr txBox="1"/>
          <p:nvPr/>
        </p:nvSpPr>
        <p:spPr>
          <a:xfrm>
            <a:off x="7040880" y="2779776"/>
            <a:ext cx="4572000" cy="658368"/>
          </a:xfrm>
          <a:prstGeom prst="rect">
            <a:avLst/>
          </a:prstGeom>
          <a:noFill/>
          <a:ln/>
        </p:spPr>
        <p:txBody>
          <a:bodyPr wrap="square" lIns="0" tIns="0" rIns="0" bIns="0" rtlCol="0" anchor="t"/>
          <a:lstStyle/>
          <a:p>
            <a:pPr indent="0" marL="0">
              <a:buNone/>
            </a:pPr>
            <a:r>
              <a:rPr lang="en-US" sz="1400" b="1" dirty="0">
                <a:solidFill>
                  <a:srgbClr val="0F3B3F"/>
                </a:solidFill>
              </a:rPr>
              <a:t>Nov 1–15</a:t>
            </a:r>
            <a:endParaRPr lang="en-US" sz="1400" dirty="0"/>
          </a:p>
          <a:p>
            <a:pPr indent="0" marL="0">
              <a:buNone/>
            </a:pPr>
            <a:r>
              <a:rPr lang="en-US" sz="1400" dirty="0">
                <a:solidFill>
                  <a:srgbClr val="1B2A2F"/>
                </a:solidFill>
              </a:rPr>
              <a:t>Train the baselines, RF and XGBoost; tune on 2024 data</a:t>
            </a:r>
            <a:endParaRPr lang="en-US" sz="1400" dirty="0"/>
          </a:p>
        </p:txBody>
      </p:sp>
      <p:sp>
        <p:nvSpPr>
          <p:cNvPr id="13" name="Shape 11"/>
          <p:cNvSpPr/>
          <p:nvPr/>
        </p:nvSpPr>
        <p:spPr>
          <a:xfrm>
            <a:off x="6537960" y="3685032"/>
            <a:ext cx="274320" cy="274320"/>
          </a:xfrm>
          <a:prstGeom prst="ellipse">
            <a:avLst/>
          </a:prstGeom>
          <a:solidFill>
            <a:schemeClr val="accent2"/>
          </a:solidFill>
          <a:ln w="25400">
            <a:solidFill>
              <a:schemeClr val="bg1"/>
            </a:solidFill>
            <a:prstDash val="solid"/>
          </a:ln>
        </p:spPr>
      </p:sp>
      <p:sp>
        <p:nvSpPr>
          <p:cNvPr id="14" name="Text 12"/>
          <p:cNvSpPr txBox="1"/>
          <p:nvPr/>
        </p:nvSpPr>
        <p:spPr>
          <a:xfrm>
            <a:off x="7040880" y="3529584"/>
            <a:ext cx="4572000" cy="658368"/>
          </a:xfrm>
          <a:prstGeom prst="rect">
            <a:avLst/>
          </a:prstGeom>
          <a:noFill/>
          <a:ln/>
        </p:spPr>
        <p:txBody>
          <a:bodyPr wrap="square" lIns="0" tIns="0" rIns="0" bIns="0" rtlCol="0" anchor="t"/>
          <a:lstStyle/>
          <a:p>
            <a:pPr indent="0" marL="0">
              <a:buNone/>
            </a:pPr>
            <a:r>
              <a:rPr lang="en-US" sz="1400" b="1" dirty="0">
                <a:solidFill>
                  <a:srgbClr val="0F3B3F"/>
                </a:solidFill>
              </a:rPr>
              <a:t>Nov 16–28</a:t>
            </a:r>
            <a:endParaRPr lang="en-US" sz="1400" dirty="0"/>
          </a:p>
          <a:p>
            <a:pPr indent="0" marL="0">
              <a:buNone/>
            </a:pPr>
            <a:r>
              <a:rPr lang="en-US" sz="1400" dirty="0">
                <a:solidFill>
                  <a:srgbClr val="1B2A2F"/>
                </a:solidFill>
              </a:rPr>
              <a:t>Build the scenario layer: solar, wind, EV and net load</a:t>
            </a:r>
            <a:endParaRPr lang="en-US" sz="1400" dirty="0"/>
          </a:p>
        </p:txBody>
      </p:sp>
      <p:sp>
        <p:nvSpPr>
          <p:cNvPr id="15" name="Shape 13"/>
          <p:cNvSpPr/>
          <p:nvPr/>
        </p:nvSpPr>
        <p:spPr>
          <a:xfrm>
            <a:off x="6537960" y="4434840"/>
            <a:ext cx="274320" cy="274320"/>
          </a:xfrm>
          <a:prstGeom prst="ellipse">
            <a:avLst/>
          </a:prstGeom>
          <a:solidFill>
            <a:schemeClr val="accent2"/>
          </a:solidFill>
          <a:ln w="25400">
            <a:solidFill>
              <a:schemeClr val="bg1"/>
            </a:solidFill>
            <a:prstDash val="solid"/>
          </a:ln>
        </p:spPr>
      </p:sp>
      <p:sp>
        <p:nvSpPr>
          <p:cNvPr id="16" name="Text 14"/>
          <p:cNvSpPr txBox="1"/>
          <p:nvPr/>
        </p:nvSpPr>
        <p:spPr>
          <a:xfrm>
            <a:off x="7040880" y="4279392"/>
            <a:ext cx="4572000" cy="658368"/>
          </a:xfrm>
          <a:prstGeom prst="rect">
            <a:avLst/>
          </a:prstGeom>
          <a:noFill/>
          <a:ln/>
        </p:spPr>
        <p:txBody>
          <a:bodyPr wrap="square" lIns="0" tIns="0" rIns="0" bIns="0" rtlCol="0" anchor="t"/>
          <a:lstStyle/>
          <a:p>
            <a:pPr indent="0" marL="0">
              <a:buNone/>
            </a:pPr>
            <a:r>
              <a:rPr lang="en-US" sz="1400" b="1" dirty="0">
                <a:solidFill>
                  <a:srgbClr val="0F3B3F"/>
                </a:solidFill>
              </a:rPr>
              <a:t>Nov 29–Dec 8</a:t>
            </a:r>
            <a:endParaRPr lang="en-US" sz="1400" dirty="0"/>
          </a:p>
          <a:p>
            <a:pPr indent="0" marL="0">
              <a:buNone/>
            </a:pPr>
            <a:r>
              <a:rPr lang="en-US" sz="1400" dirty="0">
                <a:solidFill>
                  <a:srgbClr val="1B2A2F"/>
                </a:solidFill>
              </a:rPr>
              <a:t>Analyse the test year; prepare the final presentation</a:t>
            </a:r>
            <a:endParaRPr lang="en-US" sz="1400" dirty="0"/>
          </a:p>
        </p:txBody>
      </p:sp>
      <p:sp>
        <p:nvSpPr>
          <p:cNvPr id="17" name="Shape 15"/>
          <p:cNvSpPr/>
          <p:nvPr/>
        </p:nvSpPr>
        <p:spPr>
          <a:xfrm>
            <a:off x="6537960" y="5184648"/>
            <a:ext cx="274320" cy="274320"/>
          </a:xfrm>
          <a:prstGeom prst="ellipse">
            <a:avLst/>
          </a:prstGeom>
          <a:solidFill>
            <a:schemeClr val="accent2"/>
          </a:solidFill>
          <a:ln w="25400">
            <a:solidFill>
              <a:schemeClr val="bg1"/>
            </a:solidFill>
            <a:prstDash val="solid"/>
          </a:ln>
        </p:spPr>
      </p:sp>
      <p:sp>
        <p:nvSpPr>
          <p:cNvPr id="18" name="Text 16"/>
          <p:cNvSpPr txBox="1"/>
          <p:nvPr/>
        </p:nvSpPr>
        <p:spPr>
          <a:xfrm>
            <a:off x="7040880" y="5029200"/>
            <a:ext cx="4572000" cy="658368"/>
          </a:xfrm>
          <a:prstGeom prst="rect">
            <a:avLst/>
          </a:prstGeom>
          <a:noFill/>
          <a:ln/>
        </p:spPr>
        <p:txBody>
          <a:bodyPr wrap="square" lIns="0" tIns="0" rIns="0" bIns="0" rtlCol="0" anchor="t"/>
          <a:lstStyle/>
          <a:p>
            <a:pPr indent="0" marL="0">
              <a:buNone/>
            </a:pPr>
            <a:r>
              <a:rPr lang="en-US" sz="1400" b="1" dirty="0">
                <a:solidFill>
                  <a:srgbClr val="0F3B3F"/>
                </a:solidFill>
              </a:rPr>
              <a:t>Dec 14</a:t>
            </a:r>
            <a:endParaRPr lang="en-US" sz="1400" dirty="0"/>
          </a:p>
          <a:p>
            <a:pPr indent="0" marL="0">
              <a:buNone/>
            </a:pPr>
            <a:r>
              <a:rPr lang="en-US" sz="1400" dirty="0">
                <a:solidFill>
                  <a:srgbClr val="1B2A2F"/>
                </a:solidFill>
              </a:rPr>
              <a:t>Submit the final report in IEEE format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899855" cy="731520"/>
          </a:xfrm>
          <a:prstGeom prst="rect">
            <a:avLst/>
          </a:prstGeom>
          <a:noFill/>
          <a:ln/>
        </p:spPr>
        <p:txBody>
          <a:bodyPr wrap="square" lIns="0" tIns="0" rIns="0" bIns="0" rtlCol="0" anchor="ctr"/>
          <a:lstStyle/>
          <a:p>
            <a:pPr algn="l" indent="0" marL="0">
              <a:buNone/>
            </a:pPr>
            <a:r>
              <a:rPr lang="en-US" sz="3000" b="1" dirty="0">
                <a:solidFill>
                  <a:schemeClr val="tx2"/>
                </a:solidFill>
              </a:rPr>
              <a:t>Team contributions and use of AI</a:t>
            </a:r>
            <a:endParaRPr lang="en-US" sz="3000" dirty="0"/>
          </a:p>
        </p:txBody>
      </p:sp>
      <p:sp>
        <p:nvSpPr>
          <p:cNvPr id="3" name="Shape 1"/>
          <p:cNvSpPr/>
          <p:nvPr/>
        </p:nvSpPr>
        <p:spPr>
          <a:xfrm>
            <a:off x="548640" y="1280160"/>
            <a:ext cx="5394960" cy="1234440"/>
          </a:xfrm>
          <a:prstGeom prst="roundRect">
            <a:avLst>
              <a:gd name="adj" fmla="val 8889"/>
            </a:avLst>
          </a:prstGeom>
          <a:solidFill>
            <a:schemeClr val="bg2"/>
          </a:solidFill>
          <a:ln w="12700">
            <a:solidFill>
              <a:schemeClr val="bg2"/>
            </a:solidFill>
            <a:prstDash val="solid"/>
          </a:ln>
        </p:spPr>
      </p:sp>
      <p:sp>
        <p:nvSpPr>
          <p:cNvPr id="4" name="person0-circle"/>
          <p:cNvSpPr/>
          <p:nvPr/>
        </p:nvSpPr>
        <p:spPr>
          <a:xfrm>
            <a:off x="777240" y="1554480"/>
            <a:ext cx="685800" cy="685800"/>
          </a:xfrm>
          <a:prstGeom prst="ellipse">
            <a:avLst/>
          </a:prstGeom>
          <a:solidFill>
            <a:srgbClr val="0F3B3F"/>
          </a:solidFill>
          <a:ln w="12700">
            <a:solidFill>
              <a:srgbClr val="0F3B3F"/>
            </a:solidFill>
            <a:prstDash val="solid"/>
          </a:ln>
        </p:spPr>
      </p:sp>
      <p:pic>
        <p:nvPicPr>
          <p:cNvPr id="5" name="person0-icon" descr="preencoded.png">    </p:cNvPr>
          <p:cNvPicPr>
            <a:picLocks noChangeAspect="1"/>
          </p:cNvPicPr>
          <p:nvPr/>
        </p:nvPicPr>
        <p:blipFill>
          <a:blip r:embed="rId1"/>
          <a:stretch>
            <a:fillRect/>
          </a:stretch>
        </p:blipFill>
        <p:spPr>
          <a:xfrm>
            <a:off x="941832" y="1719072"/>
            <a:ext cx="356616" cy="356616"/>
          </a:xfrm>
          <a:prstGeom prst="rect">
            <a:avLst/>
          </a:prstGeom>
        </p:spPr>
      </p:pic>
      <p:sp>
        <p:nvSpPr>
          <p:cNvPr id="6" name="Text 3"/>
          <p:cNvSpPr txBox="1"/>
          <p:nvPr/>
        </p:nvSpPr>
        <p:spPr>
          <a:xfrm>
            <a:off x="1691640" y="1371600"/>
            <a:ext cx="4069080" cy="1051560"/>
          </a:xfrm>
          <a:prstGeom prst="rect">
            <a:avLst/>
          </a:prstGeom>
          <a:noFill/>
          <a:ln/>
        </p:spPr>
        <p:txBody>
          <a:bodyPr wrap="square" lIns="0" tIns="0" rIns="0" bIns="0" rtlCol="0" anchor="ctr"/>
          <a:lstStyle/>
          <a:p>
            <a:pPr indent="0" marL="0">
              <a:buNone/>
            </a:pPr>
            <a:r>
              <a:rPr lang="en-US" sz="1700" b="1" dirty="0">
                <a:solidFill>
                  <a:srgbClr val="0F3B3F"/>
                </a:solidFill>
              </a:rPr>
              <a:t>Kshitij</a:t>
            </a:r>
            <a:endParaRPr lang="en-US" sz="1700" dirty="0"/>
          </a:p>
          <a:p>
            <a:pPr indent="0" marL="0">
              <a:buNone/>
            </a:pPr>
            <a:r>
              <a:rPr lang="en-US" sz="1300" dirty="0">
                <a:solidFill>
                  <a:srgbClr val="1B2A2F"/>
                </a:solidFill>
              </a:rPr>
              <a:t>Problem definition and research question; smart-grid scenario layer (solar, wind, EV, net load); feasibility and timeline; slide design.</a:t>
            </a:r>
            <a:endParaRPr lang="en-US" sz="1700" dirty="0"/>
          </a:p>
        </p:txBody>
      </p:sp>
      <p:sp>
        <p:nvSpPr>
          <p:cNvPr id="7" name="Shape 4"/>
          <p:cNvSpPr/>
          <p:nvPr/>
        </p:nvSpPr>
        <p:spPr>
          <a:xfrm>
            <a:off x="548640" y="2697480"/>
            <a:ext cx="5394960" cy="1234440"/>
          </a:xfrm>
          <a:prstGeom prst="roundRect">
            <a:avLst>
              <a:gd name="adj" fmla="val 8889"/>
            </a:avLst>
          </a:prstGeom>
          <a:solidFill>
            <a:schemeClr val="bg2"/>
          </a:solidFill>
          <a:ln w="12700">
            <a:solidFill>
              <a:schemeClr val="bg2"/>
            </a:solidFill>
            <a:prstDash val="solid"/>
          </a:ln>
        </p:spPr>
      </p:sp>
      <p:sp>
        <p:nvSpPr>
          <p:cNvPr id="8" name="person1-circle"/>
          <p:cNvSpPr/>
          <p:nvPr/>
        </p:nvSpPr>
        <p:spPr>
          <a:xfrm>
            <a:off x="777240" y="2971800"/>
            <a:ext cx="685800" cy="685800"/>
          </a:xfrm>
          <a:prstGeom prst="ellipse">
            <a:avLst/>
          </a:prstGeom>
          <a:solidFill>
            <a:srgbClr val="0F3B3F"/>
          </a:solidFill>
          <a:ln w="12700">
            <a:solidFill>
              <a:srgbClr val="0F3B3F"/>
            </a:solidFill>
            <a:prstDash val="solid"/>
          </a:ln>
        </p:spPr>
      </p:sp>
      <p:pic>
        <p:nvPicPr>
          <p:cNvPr id="9" name="person1-icon" descr="preencoded.png">    </p:cNvPr>
          <p:cNvPicPr>
            <a:picLocks noChangeAspect="1"/>
          </p:cNvPicPr>
          <p:nvPr/>
        </p:nvPicPr>
        <p:blipFill>
          <a:blip r:embed="rId2"/>
          <a:stretch>
            <a:fillRect/>
          </a:stretch>
        </p:blipFill>
        <p:spPr>
          <a:xfrm>
            <a:off x="941832" y="3136392"/>
            <a:ext cx="356616" cy="356616"/>
          </a:xfrm>
          <a:prstGeom prst="rect">
            <a:avLst/>
          </a:prstGeom>
        </p:spPr>
      </p:pic>
      <p:sp>
        <p:nvSpPr>
          <p:cNvPr id="10" name="Text 6"/>
          <p:cNvSpPr txBox="1"/>
          <p:nvPr/>
        </p:nvSpPr>
        <p:spPr>
          <a:xfrm>
            <a:off x="1691640" y="2788920"/>
            <a:ext cx="4069080" cy="1051560"/>
          </a:xfrm>
          <a:prstGeom prst="rect">
            <a:avLst/>
          </a:prstGeom>
          <a:noFill/>
          <a:ln/>
        </p:spPr>
        <p:txBody>
          <a:bodyPr wrap="square" lIns="0" tIns="0" rIns="0" bIns="0" rtlCol="0" anchor="ctr"/>
          <a:lstStyle/>
          <a:p>
            <a:pPr indent="0" marL="0">
              <a:buNone/>
            </a:pPr>
            <a:r>
              <a:rPr lang="en-US" sz="1700" b="1" dirty="0">
                <a:solidFill>
                  <a:srgbClr val="0F3B3F"/>
                </a:solidFill>
              </a:rPr>
              <a:t>Victor</a:t>
            </a:r>
            <a:endParaRPr lang="en-US" sz="1700" dirty="0"/>
          </a:p>
          <a:p>
            <a:pPr indent="0" marL="0">
              <a:buNone/>
            </a:pPr>
            <a:r>
              <a:rPr lang="en-US" sz="1300" dirty="0">
                <a:solidFill>
                  <a:srgbClr val="1B2A2F"/>
                </a:solidFill>
              </a:rPr>
              <a:t>State-of-the-art review; data sources and preprocessing pipeline; model training and evaluation design.</a:t>
            </a:r>
            <a:endParaRPr lang="en-US" sz="1700" dirty="0"/>
          </a:p>
        </p:txBody>
      </p:sp>
      <p:sp>
        <p:nvSpPr>
          <p:cNvPr id="11" name="Text 7"/>
          <p:cNvSpPr txBox="1"/>
          <p:nvPr/>
        </p:nvSpPr>
        <p:spPr>
          <a:xfrm>
            <a:off x="548640" y="4160520"/>
            <a:ext cx="5394960" cy="457200"/>
          </a:xfrm>
          <a:prstGeom prst="rect">
            <a:avLst/>
          </a:prstGeom>
          <a:noFill/>
          <a:ln/>
        </p:spPr>
        <p:txBody>
          <a:bodyPr wrap="square" lIns="0" tIns="0" rIns="0" bIns="0" rtlCol="0" anchor="ctr"/>
          <a:lstStyle/>
          <a:p>
            <a:pPr indent="0" marL="0">
              <a:buNone/>
            </a:pPr>
            <a:r>
              <a:rPr lang="en-US" sz="1300" i="1" dirty="0">
                <a:solidFill>
                  <a:schemeClr val="tx2"/>
                </a:solidFill>
              </a:rPr>
              <a:t>Both members will share the coding and the writing of the final report.</a:t>
            </a:r>
            <a:endParaRPr lang="en-US" sz="1300" dirty="0"/>
          </a:p>
        </p:txBody>
      </p:sp>
      <p:sp>
        <p:nvSpPr>
          <p:cNvPr id="12" name="Shape 8"/>
          <p:cNvSpPr/>
          <p:nvPr/>
        </p:nvSpPr>
        <p:spPr>
          <a:xfrm>
            <a:off x="6309360" y="1280160"/>
            <a:ext cx="5330952" cy="4480560"/>
          </a:xfrm>
          <a:prstGeom prst="roundRect">
            <a:avLst>
              <a:gd name="adj" fmla="val 2449"/>
            </a:avLst>
          </a:prstGeom>
          <a:solidFill>
            <a:schemeClr val="tx2"/>
          </a:solidFill>
          <a:ln w="12700">
            <a:solidFill>
              <a:schemeClr val="tx2"/>
            </a:solidFill>
            <a:prstDash val="solid"/>
          </a:ln>
        </p:spPr>
      </p:sp>
      <p:sp>
        <p:nvSpPr>
          <p:cNvPr id="13" name="ai-circle"/>
          <p:cNvSpPr/>
          <p:nvPr/>
        </p:nvSpPr>
        <p:spPr>
          <a:xfrm>
            <a:off x="6537960" y="1463040"/>
            <a:ext cx="685800" cy="685800"/>
          </a:xfrm>
          <a:prstGeom prst="ellipse">
            <a:avLst/>
          </a:prstGeom>
          <a:solidFill>
            <a:srgbClr val="F2A541"/>
          </a:solidFill>
          <a:ln w="12700">
            <a:solidFill>
              <a:srgbClr val="F2A541"/>
            </a:solidFill>
            <a:prstDash val="solid"/>
          </a:ln>
        </p:spPr>
      </p:sp>
      <p:pic>
        <p:nvPicPr>
          <p:cNvPr id="14" name="ai-icon" descr="preencoded.png">    </p:cNvPr>
          <p:cNvPicPr>
            <a:picLocks noChangeAspect="1"/>
          </p:cNvPicPr>
          <p:nvPr/>
        </p:nvPicPr>
        <p:blipFill>
          <a:blip r:embed="rId3"/>
          <a:stretch>
            <a:fillRect/>
          </a:stretch>
        </p:blipFill>
        <p:spPr>
          <a:xfrm>
            <a:off x="6702552" y="1627632"/>
            <a:ext cx="356616" cy="356616"/>
          </a:xfrm>
          <a:prstGeom prst="rect">
            <a:avLst/>
          </a:prstGeom>
        </p:spPr>
      </p:pic>
      <p:sp>
        <p:nvSpPr>
          <p:cNvPr id="15" name="Text 10"/>
          <p:cNvSpPr txBox="1"/>
          <p:nvPr/>
        </p:nvSpPr>
        <p:spPr>
          <a:xfrm>
            <a:off x="7406640" y="1463040"/>
            <a:ext cx="4023360" cy="685800"/>
          </a:xfrm>
          <a:prstGeom prst="rect">
            <a:avLst/>
          </a:prstGeom>
          <a:noFill/>
          <a:ln/>
        </p:spPr>
        <p:txBody>
          <a:bodyPr wrap="square" lIns="0" tIns="0" rIns="0" bIns="0" rtlCol="0" anchor="ctr"/>
          <a:lstStyle/>
          <a:p>
            <a:pPr indent="0" marL="0">
              <a:buNone/>
            </a:pPr>
            <a:r>
              <a:rPr lang="en-US" sz="2000" b="1" dirty="0">
                <a:solidFill>
                  <a:schemeClr val="accent1"/>
                </a:solidFill>
              </a:rPr>
              <a:t>AI disclosure</a:t>
            </a:r>
            <a:endParaRPr lang="en-US" sz="2000" dirty="0"/>
          </a:p>
        </p:txBody>
      </p:sp>
      <p:sp>
        <p:nvSpPr>
          <p:cNvPr id="16" name="Text 11"/>
          <p:cNvSpPr txBox="1"/>
          <p:nvPr/>
        </p:nvSpPr>
        <p:spPr>
          <a:xfrm>
            <a:off x="6537960" y="2331720"/>
            <a:ext cx="4892040" cy="3291840"/>
          </a:xfrm>
          <a:prstGeom prst="rect">
            <a:avLst/>
          </a:prstGeom>
          <a:noFill/>
          <a:ln/>
        </p:spPr>
        <p:txBody>
          <a:bodyPr wrap="square" lIns="0" tIns="0" rIns="0" bIns="0" rtlCol="0" anchor="t"/>
          <a:lstStyle/>
          <a:p>
            <a:pPr indent="0" marL="0">
              <a:spcAft>
                <a:spcPts val="1000"/>
              </a:spcAft>
              <a:buNone/>
            </a:pPr>
            <a:r>
              <a:rPr lang="en-US" sz="1400" b="1" dirty="0">
                <a:solidFill>
                  <a:srgbClr val="F2A541"/>
                </a:solidFill>
              </a:rPr>
              <a:t>ChatGPT (OpenAI): </a:t>
            </a:r>
            <a:pPr indent="0" marL="0">
              <a:spcAft>
                <a:spcPts val="1000"/>
              </a:spcAft>
              <a:buNone/>
            </a:pPr>
            <a:r>
              <a:rPr lang="en-US" sz="1400" dirty="0">
                <a:solidFill>
                  <a:srgbClr val="FFFFFF"/>
                </a:solidFill>
              </a:rPr>
              <a:t>creating summary tables and illustrative diagrams for our draft.</a:t>
            </a:r>
            <a:endParaRPr lang="en-US" sz="1400" dirty="0"/>
          </a:p>
          <a:p>
            <a:pPr indent="0" marL="0">
              <a:spcAft>
                <a:spcPts val="1000"/>
              </a:spcAft>
              <a:buNone/>
            </a:pPr>
            <a:r>
              <a:rPr lang="en-US" sz="1400" b="1" dirty="0">
                <a:solidFill>
                  <a:srgbClr val="F2A541"/>
                </a:solidFill>
              </a:rPr>
              <a:t>Claude (Anthropic), via Claude Code: </a:t>
            </a:r>
            <a:pPr indent="0" marL="0">
              <a:spcAft>
                <a:spcPts val="1000"/>
              </a:spcAft>
              <a:buNone/>
            </a:pPr>
            <a:r>
              <a:rPr lang="en-US" sz="1400" dirty="0">
                <a:solidFill>
                  <a:srgbClr val="FFFFFF"/>
                </a:solidFill>
              </a:rPr>
              <a:t>restructuring the deck for the 5-minute limit, improving slide wording and layout, proofreading, checking citations, and drafting the scenario assumptions for our review.</a:t>
            </a:r>
            <a:endParaRPr lang="en-US" sz="1400" dirty="0"/>
          </a:p>
          <a:p>
            <a:pPr indent="0" marL="0">
              <a:spcAft>
                <a:spcPts val="1000"/>
              </a:spcAft>
              <a:buNone/>
            </a:pPr>
            <a:r>
              <a:rPr lang="en-US" sz="1400" b="1" dirty="0">
                <a:solidFill>
                  <a:srgbClr val="F2A541"/>
                </a:solidFill>
              </a:rPr>
              <a:t>Our own work: </a:t>
            </a:r>
            <a:pPr indent="0" marL="0">
              <a:spcAft>
                <a:spcPts val="1000"/>
              </a:spcAft>
              <a:buNone/>
            </a:pPr>
            <a:r>
              <a:rPr lang="en-US" sz="1400" dirty="0">
                <a:solidFill>
                  <a:srgbClr val="FFFFFF"/>
                </a:solidFill>
              </a:rPr>
              <a:t>the choice of problem, papers, data sources and methods. We checked every number against the cited papers and take responsibility for all content.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899855" cy="731520"/>
          </a:xfrm>
          <a:prstGeom prst="rect">
            <a:avLst/>
          </a:prstGeom>
          <a:noFill/>
          <a:ln/>
        </p:spPr>
        <p:txBody>
          <a:bodyPr wrap="square" lIns="0" tIns="0" rIns="0" bIns="0" rtlCol="0" anchor="ctr"/>
          <a:lstStyle/>
          <a:p>
            <a:pPr algn="l" indent="0" marL="0">
              <a:buNone/>
            </a:pPr>
            <a:r>
              <a:rPr lang="en-US" sz="3000" b="1" dirty="0">
                <a:solidFill>
                  <a:schemeClr val="tx2"/>
                </a:solidFill>
              </a:rPr>
              <a:t>References</a:t>
            </a:r>
            <a:endParaRPr lang="en-US" sz="3000" dirty="0"/>
          </a:p>
        </p:txBody>
      </p:sp>
      <p:sp>
        <p:nvSpPr>
          <p:cNvPr id="3" name="Text 1"/>
          <p:cNvSpPr txBox="1"/>
          <p:nvPr/>
        </p:nvSpPr>
        <p:spPr>
          <a:xfrm>
            <a:off x="548640" y="1234440"/>
            <a:ext cx="11094415" cy="502920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[1] M. M. Gökçe and E. Duman, “Performance Comparison of Simple Regression, Random Forest and XGBoost Algorithms for Forecasting Electricity Demand,” in Proc. 3rd Int. Informatics and Software Engineering Conf. (IISEC), Ankara, Turkey, 2022. doi: 10.1109/IISEC56263.2022.9998213.</a:t>
            </a:r>
            <a:endParaRPr lang="en-US" sz="1100" dirty="0"/>
          </a:p>
          <a:p>
            <a:pPr indent="0" marL="0">
              <a:spcAft>
                <a:spcPts val="500"/>
              </a:spcAft>
              <a:buNone/>
            </a:pPr>
            <a:r>
              <a:rPr lang="en-US" sz="1100" dirty="0">
                <a:solidFill>
                  <a:schemeClr val="tx1"/>
                </a:solidFill>
              </a:rPr>
              <a:t>[2] K. Rawal and A. Ahmad, “A Comparative Analysis of Supervised Machine Learning Algorithms for Electricity Demand Forecasting,” in Proc. 2nd Int. Conf. Power, Control and Computing Technologies (ICPC2T), 2022, pp. 1–6. doi: 10.1109/ICPC2T53885.2022.9776960.</a:t>
            </a:r>
            <a:endParaRPr lang="en-US" sz="1100" dirty="0"/>
          </a:p>
          <a:p>
            <a:pPr indent="0" marL="0">
              <a:spcAft>
                <a:spcPts val="500"/>
              </a:spcAft>
              <a:buNone/>
            </a:pPr>
            <a:r>
              <a:rPr lang="en-US" sz="1100" dirty="0">
                <a:solidFill>
                  <a:schemeClr val="tx1"/>
                </a:solidFill>
              </a:rPr>
              <a:t>[3] B. Ibrahim, L. Rabelo, E. Gutierrez-Franco and N. Clavijo-Buritica, “Machine Learning for Short-Term Load Forecasting in Smart Grids,” Energies, vol. 15, no. 21, art. 8079, 2022. doi: 10.3390/en15218079.</a:t>
            </a:r>
            <a:endParaRPr lang="en-US" sz="1100" dirty="0"/>
          </a:p>
          <a:p>
            <a:pPr indent="0" marL="0">
              <a:spcAft>
                <a:spcPts val="500"/>
              </a:spcAft>
              <a:buNone/>
            </a:pPr>
            <a:r>
              <a:rPr lang="en-US" sz="1100" dirty="0">
                <a:solidFill>
                  <a:schemeClr val="tx1"/>
                </a:solidFill>
              </a:rPr>
              <a:t>[4] W. Kong, Z. Y. Dong, Y. Jia, D. J. Hill, Y. Xu and Y. Zhang, “Short-Term Residential Load Forecasting Based on LSTM Recurrent Neural Network,” IEEE Trans. Smart Grid, vol. 10, no. 1, pp. 841–851, 2019. doi: 10.1109/TSG.2017.2753802.</a:t>
            </a:r>
            <a:endParaRPr lang="en-US" sz="1100" dirty="0"/>
          </a:p>
          <a:p>
            <a:pPr indent="0" marL="0">
              <a:spcAft>
                <a:spcPts val="500"/>
              </a:spcAft>
              <a:buNone/>
            </a:pPr>
            <a:r>
              <a:rPr lang="en-US" sz="1100" dirty="0">
                <a:solidFill>
                  <a:schemeClr val="tx1"/>
                </a:solidFill>
              </a:rPr>
              <a:t>[5] Independent Electricity System Operator (IESO), “Hourly Zonal Demand Report.” [Online]. Available: https://reports-public.ieso.ca/public/DemandZonal/</a:t>
            </a:r>
            <a:endParaRPr lang="en-US" sz="1100" dirty="0"/>
          </a:p>
          <a:p>
            <a:pPr indent="0" marL="0">
              <a:spcAft>
                <a:spcPts val="500"/>
              </a:spcAft>
              <a:buNone/>
            </a:pPr>
            <a:r>
              <a:rPr lang="en-US" sz="1100" dirty="0">
                <a:solidFill>
                  <a:schemeClr val="tx1"/>
                </a:solidFill>
              </a:rPr>
              <a:t>[6] Environment and Climate Change Canada, “Historical Climate Data.” [Online]. Available: https://climate.weather.gc.ca/</a:t>
            </a:r>
            <a:endParaRPr lang="en-US" sz="1100" dirty="0"/>
          </a:p>
          <a:p>
            <a:pPr indent="0" marL="0">
              <a:spcAft>
                <a:spcPts val="500"/>
              </a:spcAft>
              <a:buNone/>
            </a:pPr>
            <a:r>
              <a:rPr lang="en-US" sz="1100" dirty="0">
                <a:solidFill>
                  <a:schemeClr val="tx1"/>
                </a:solidFill>
              </a:rPr>
              <a:t>[7] Open-Meteo, “Historical Weather API.” [Online]. Available: https://open-meteo.com/en/docs/historical-weather-api</a:t>
            </a:r>
            <a:endParaRPr lang="en-US" sz="1100" dirty="0"/>
          </a:p>
          <a:p>
            <a:pPr indent="0" marL="0">
              <a:spcAft>
                <a:spcPts val="500"/>
              </a:spcAft>
              <a:buNone/>
            </a:pPr>
            <a:r>
              <a:rPr lang="en-US" sz="1100" dirty="0">
                <a:solidFill>
                  <a:schemeClr val="tx1"/>
                </a:solidFill>
              </a:rPr>
              <a:t>[8] W. F. Holmgren, C. W. Hansen and M. A. Mikofski, “pvlib python: a python package for modeling solar energy systems,” J. Open Source Software, vol. 3, no. 29, p. 884, 2018. doi: 10.21105/joss.00884.</a:t>
            </a:r>
            <a:endParaRPr lang="en-US" sz="1100" dirty="0"/>
          </a:p>
          <a:p>
            <a:pPr indent="0" marL="0">
              <a:spcAft>
                <a:spcPts val="500"/>
              </a:spcAft>
              <a:buNone/>
            </a:pPr>
            <a:r>
              <a:rPr lang="en-US" sz="1100" dirty="0">
                <a:solidFill>
                  <a:schemeClr val="tx1"/>
                </a:solidFill>
              </a:rPr>
              <a:t>[9] L. Breiman, “Random Forests,” Machine Learning, vol. 45, no. 1, pp. 5–32, 2001. doi: 10.1023/A:1010933404324.</a:t>
            </a:r>
            <a:endParaRPr lang="en-US" sz="1100" dirty="0"/>
          </a:p>
          <a:p>
            <a:pPr indent="0" marL="0">
              <a:spcAft>
                <a:spcPts val="500"/>
              </a:spcAft>
              <a:buNone/>
            </a:pPr>
            <a:r>
              <a:rPr lang="en-US" sz="1100" dirty="0">
                <a:solidFill>
                  <a:schemeClr val="tx1"/>
                </a:solidFill>
              </a:rPr>
              <a:t>[10] T. Chen and C. Guestrin, “XGBoost: A Scalable Tree Boosting System,” in Proc. 22nd ACM SIGKDD Int. Conf. Knowledge Discovery and Data Mining, 2016, pp. 785–794. doi: 10.1145/2939672.2939785.</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qa-circle"/>
          <p:cNvSpPr/>
          <p:nvPr/>
        </p:nvSpPr>
        <p:spPr>
          <a:xfrm>
            <a:off x="5547208" y="1828800"/>
            <a:ext cx="1097280" cy="1097280"/>
          </a:xfrm>
          <a:prstGeom prst="ellipse">
            <a:avLst/>
          </a:prstGeom>
          <a:solidFill>
            <a:srgbClr val="F2A541"/>
          </a:solidFill>
          <a:ln w="12700">
            <a:solidFill>
              <a:srgbClr val="F2A541"/>
            </a:solidFill>
            <a:prstDash val="solid"/>
          </a:ln>
        </p:spPr>
      </p:sp>
      <p:pic>
        <p:nvPicPr>
          <p:cNvPr id="3" name="qa-icon" descr="preencoded.png">    </p:cNvPr>
          <p:cNvPicPr>
            <a:picLocks noChangeAspect="1"/>
          </p:cNvPicPr>
          <p:nvPr/>
        </p:nvPicPr>
        <p:blipFill>
          <a:blip r:embed="rId1"/>
          <a:stretch>
            <a:fillRect/>
          </a:stretch>
        </p:blipFill>
        <p:spPr>
          <a:xfrm>
            <a:off x="5810555" y="2092147"/>
            <a:ext cx="570586" cy="570586"/>
          </a:xfrm>
          <a:prstGeom prst="rect">
            <a:avLst/>
          </a:prstGeom>
        </p:spPr>
      </p:pic>
      <p:sp>
        <p:nvSpPr>
          <p:cNvPr id="4" name="Text 1"/>
          <p:cNvSpPr txBox="1"/>
          <p:nvPr/>
        </p:nvSpPr>
        <p:spPr>
          <a:xfrm>
            <a:off x="0" y="3200400"/>
            <a:ext cx="12191695" cy="914400"/>
          </a:xfrm>
          <a:prstGeom prst="rect">
            <a:avLst/>
          </a:prstGeom>
          <a:noFill/>
          <a:ln/>
        </p:spPr>
        <p:txBody>
          <a:bodyPr wrap="square" rtlCol="0" anchor="ctr"/>
          <a:lstStyle/>
          <a:p>
            <a:pPr algn="ctr" indent="0" marL="0">
              <a:buNone/>
            </a:pPr>
            <a:r>
              <a:rPr lang="en-US" sz="4400" b="1" dirty="0">
                <a:solidFill>
                  <a:schemeClr val="bg1"/>
                </a:solidFill>
              </a:rPr>
              <a:t>Questions?</a:t>
            </a:r>
            <a:endParaRPr lang="en-US" sz="4400" dirty="0"/>
          </a:p>
        </p:txBody>
      </p:sp>
      <p:sp>
        <p:nvSpPr>
          <p:cNvPr id="5" name="Text 2"/>
          <p:cNvSpPr txBox="1"/>
          <p:nvPr/>
        </p:nvSpPr>
        <p:spPr>
          <a:xfrm>
            <a:off x="914400" y="4114800"/>
            <a:ext cx="10362895" cy="548640"/>
          </a:xfrm>
          <a:prstGeom prst="rect">
            <a:avLst/>
          </a:prstGeom>
          <a:noFill/>
          <a:ln/>
        </p:spPr>
        <p:txBody>
          <a:bodyPr wrap="square" rtlCol="0" anchor="ctr"/>
          <a:lstStyle/>
          <a:p>
            <a:pPr algn="ctr" indent="0" marL="0">
              <a:buNone/>
            </a:pPr>
            <a:r>
              <a:rPr lang="en-US" sz="1800" dirty="0">
                <a:solidFill>
                  <a:schemeClr val="accent1"/>
                </a:solidFill>
              </a:rPr>
              <a:t>Forecasting Ottawa's load from real data and balancing it against solar, wind and EV fleets</a:t>
            </a:r>
            <a:endParaRPr lang="en-US" sz="1800" dirty="0"/>
          </a:p>
        </p:txBody>
      </p:sp>
    </p:spTree>
  </p:cSld>
  <p:clrMapOvr>
    <a:masterClrMapping/>
  </p:clrMapOvr>
</p:sld>
</file>

<file path=ppt/theme/theme1.xml><?xml version="1.0" encoding="utf-8"?>
<a:theme xmlns:a="http://schemas.openxmlformats.org/drawingml/2006/main" name="Ottawa Grid">
  <a:themeElements>
    <a:clrScheme name="Ottawa Grid">
      <a:dk1>
        <a:srgbClr val="1B2A2F"/>
      </a:dk1>
      <a:lt1>
        <a:srgbClr val="FFFFFF"/>
      </a:lt1>
      <a:dk2>
        <a:srgbClr val="0F3B3F"/>
      </a:dk2>
      <a:lt2>
        <a:srgbClr val="EEF4F3"/>
      </a:lt2>
      <a:accent1>
        <a:srgbClr val="F2A541"/>
      </a:accent1>
      <a:accent2>
        <a:srgbClr val="2D8C8C"/>
      </a:accent2>
      <a:accent3>
        <a:srgbClr val="C8553D"/>
      </a:accent3>
      <a:accent4>
        <a:srgbClr val="5B7F95"/>
      </a:accent4>
      <a:accent5>
        <a:srgbClr val="8FB996"/>
      </a:accent5>
      <a:accent6>
        <a:srgbClr val="6B5B95"/>
      </a:accent6>
      <a:hlink>
        <a:srgbClr val="2D8C8C"/>
      </a:hlink>
      <a:folHlink>
        <a:srgbClr val="5B7F95"/>
      </a:folHlink>
    </a:clrScheme>
    <a:fontScheme name="Ottawa Gri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Ottawa's Electricity Load for a Smarter Grid</dc:title>
  <dc:subject>PptxGenJS Presentation</dc:subject>
  <dc:creator>Kshitij and Victor</dc:creator>
  <cp:lastModifiedBy>Kshitij and Victor</cp:lastModifiedBy>
  <cp:revision>1</cp:revision>
  <dcterms:created xsi:type="dcterms:W3CDTF">2026-10-12T21:36:38Z</dcterms:created>
  <dcterms:modified xsi:type="dcterms:W3CDTF">2026-10-12T21:36:38Z</dcterms:modified>
</cp:coreProperties>
</file>