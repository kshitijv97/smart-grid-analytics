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a4fc9f4-91ed-7e4a-2032-c221b61c09ba}">
          <p14:sldIdLst>
            <p14:sldId id="256"/>
            <p14:sldId id="257"/>
          </p14:sldIdLst>
        </p14:section>
        <p14:section name="State of the art" id="{074ce957-b07f-63b7-2cba-b1ad3c83fb20}">
          <p14:sldIdLst>
            <p14:sldId id="258"/>
            <p14:sldId id="259"/>
          </p14:sldIdLst>
        </p14:section>
        <p14:section name="Proposal" id="{9fe16567-592c-b233-614e-69a4d5de6cc5}">
          <p14:sldIdLst>
            <p14:sldId id="260"/>
            <p14:sldId id="261"/>
            <p14:sldId id="262"/>
            <p14:sldId id="263"/>
          </p14:sldIdLst>
        </p14:section>
        <p14:section name="Plan" id="{312bbaee-0342-c972-877b-84aaf05fafde}">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3B3F"/>
                </a:solidFill>
                <a:latin typeface="+mn-lt"/>
              </a:defRPr>
            </a:pPr>
            <a:r>
              <a:rPr sz="1200" b="0" i="0" u="none" strike="noStrike">
                <a:solidFill>
                  <a:srgbClr val="0F3B3F"/>
                </a:solidFill>
                <a:latin typeface="+mn-lt"/>
              </a:rPr>
              <a:t>Ibrahim et al. [3]: 1-h-ahead MAPE (lower is better)</a:t>
            </a:r>
          </a:p>
        </c:rich>
      </c:tx>
      <c:layout/>
      <c:overlay val="0"/>
    </c:title>
    <c:autoTitleDeleted val="0"/>
    <c:plotArea>
      <c:layout/>
      <c:barChart>
        <c:barDir val="bar"/>
        <c:grouping val="clustered"/>
        <c:varyColors val="0"/>
        <c:ser>
          <c:idx val="0"/>
          <c:order val="0"/>
          <c:tx>
            <c:strRef>
              <c:f>Sheet1!$B$1</c:f>
              <c:strCache>
                <c:ptCount val="1"/>
                <c:pt idx="0">
                  <c:v>MAPE (%)</c:v>
                </c:pt>
              </c:strCache>
            </c:strRef>
          </c:tx>
          <c:spPr>
            <a:solidFill>
              <a:srgbClr val="5B7F95"/>
            </a:solidFill>
            <a:effectLst/>
          </c:spPr>
          <c:invertIfNegative val="0"/>
          <c:dLbls>
            <c:numFmt formatCode="0.00&quot;%&quot;" sourceLinked="0"/>
            <c:txPr>
              <a:bodyPr/>
              <a:lstStyle/>
              <a:p>
                <a:pPr>
                  <a:defRPr b="0" i="0" strike="noStrike" sz="1100" u="none">
                    <a:solidFill>
                      <a:srgbClr val="1B2A2F"/>
                    </a:solidFill>
                    <a:latin typeface="+mn-lt"/>
                  </a:defRPr>
                </a:pPr>
              </a:p>
            </c:txPr>
            <c:showLegendKey val="0"/>
            <c:showVal val="1"/>
            <c:showCatName val="0"/>
            <c:showSerName val="0"/>
            <c:showPercent val="0"/>
            <c:showBubbleSize val="0"/>
            <c:showLeaderLines val="0"/>
          </c:dLbls>
          <c:dPt>
            <c:idx val="0"/>
            <c:invertIfNegative val="0"/>
            <c:bubble3D val="0"/>
            <c:spPr>
              <a:solidFill>
                <a:srgbClr val="5B7F95"/>
              </a:solidFill>
              <a:effectLst/>
            </c:spPr>
          </c:dPt>
          <c:dPt>
            <c:idx val="1"/>
            <c:invertIfNegative val="0"/>
            <c:bubble3D val="0"/>
            <c:spPr>
              <a:solidFill>
                <a:srgbClr val="2D8C8C"/>
              </a:solidFill>
              <a:effectLst/>
            </c:spPr>
          </c:dPt>
          <c:dPt>
            <c:idx val="2"/>
            <c:invertIfNegative val="0"/>
            <c:bubble3D val="0"/>
            <c:spPr>
              <a:solidFill>
                <a:srgbClr val="F2A541"/>
              </a:solidFill>
              <a:effectLst/>
            </c:spPr>
          </c:dPt>
          <c:dPt>
            <c:idx val="3"/>
            <c:invertIfNegative val="0"/>
            <c:bubble3D val="0"/>
            <c:spPr>
              <a:solidFill>
                <a:srgbClr val="F2A541"/>
              </a:solidFill>
              <a:effectLst/>
            </c:spPr>
          </c:dPt>
          <c:dPt>
            <c:idx val="4"/>
            <c:invertIfNegative val="0"/>
            <c:bubble3D val="0"/>
            <c:spPr>
              <a:solidFill>
                <a:srgbClr val="5B7F95"/>
              </a:solidFill>
              <a:effectLst/>
            </c:spPr>
          </c:dPt>
          <c:dPt>
            <c:idx val="5"/>
            <c:invertIfNegative val="0"/>
            <c:bubble3D val="0"/>
            <c:spPr>
              <a:solidFill>
                <a:srgbClr val="5B7F95"/>
              </a:solidFill>
              <a:effectLst/>
            </c:spPr>
          </c:dPt>
          <c:cat>
            <c:multiLvlStrRef>
              <c:f>Sheet1!$A$2:$A$7</c:f>
              <c:multiLvlStrCache>
                <c:ptCount val="6"/>
                <c:lvl>
                  <c:pt idx="0">
                    <c:v>Deep learning reg.</c:v>
                  </c:pt>
                  <c:pt idx="1">
                    <c:v>LightGBM</c:v>
                  </c:pt>
                  <c:pt idx="2">
                    <c:v>Random Forest</c:v>
                  </c:pt>
                  <c:pt idx="3">
                    <c:v>XGBoost</c:v>
                  </c:pt>
                  <c:pt idx="4">
                    <c:v>SVR</c:v>
                  </c:pt>
                  <c:pt idx="5">
                    <c:v>AdaBoost</c:v>
                  </c:pt>
                </c:lvl>
              </c:multiLvlStrCache>
            </c:multiLvlStrRef>
          </c:cat>
          <c:val>
            <c:numRef>
              <c:f>Sheet1!$B$2:$B$7</c:f>
              <c:numCache>
                <c:formatCode>General</c:formatCode>
                <c:ptCount val="6"/>
                <c:pt idx="0">
                  <c:v>2.9</c:v>
                </c:pt>
                <c:pt idx="1">
                  <c:v>3.07</c:v>
                </c:pt>
                <c:pt idx="2">
                  <c:v>3.22</c:v>
                </c:pt>
                <c:pt idx="3">
                  <c:v>3.45</c:v>
                </c:pt>
                <c:pt idx="4">
                  <c:v>4.9</c:v>
                </c:pt>
                <c:pt idx="5">
                  <c:v>5.7</c:v>
                </c:pt>
              </c:numCache>
            </c:numRef>
          </c:val>
        </c:ser>
        <c:dLbls>
          <c:numFmt formatCode="0.00&quot;%&quot;" sourceLinked="0"/>
          <c:txPr>
            <a:bodyPr/>
            <a:lstStyle/>
            <a:p>
              <a:pPr>
                <a:defRPr b="0" i="0" strike="noStrike" sz="1100" u="none">
                  <a:solidFill>
                    <a:srgbClr val="1B2A2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b"/>
        <c:majorGridlines>
          <c:spPr>
            <a:ln w="6350" cap="flat">
              <a:solidFill>
                <a:srgbClr val="D9E2E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1B2A2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KSHITIJ (~10 s). Introduce the team and the one-line goal: forecast Ottawa's electricity load so the grid can plan supply ahead of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KSHITIJ (~35 s). Four drivers move Ottawa's load. Our question: do tree ensembles beat linear regression for hourly demand and next-day baseload? Define baseload as the daily minimum hourly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VICTOR (~40 s). Four studies. Gökçe &amp; Duman (IEEE, Turkey): Random Forest and XGBoost beat Linear Regression; RMSE drops from 2348 to about 2040. Rawal &amp; Ahmad (IEEE, Australia): non-parametric models win, Random Forest best. Ibrahim et al. (Panama): deep regression is best at MAPE 2.9%, but Random Forest is almost as good (3.2%, R² 0.92) and trains in seconds instead of 20 minutes. Kong et al.: LSTMs shine at household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VICTOR (~35 s). Each lesson maps to a design choice on the right. Lags and temperature are the strongest predictors, so we use them. Holidays matter, so we flag Ontario holidays. Tree ensembles get within about a third of a percentage point of deep learning at a fraction of the cost, so they are our core models. And we will report errors by season and horizon, because that is where earlier models failed. The gap: nobody has done this for a single city zone with a renewables and EV net-load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KSHITIJ (~40 s). Steps 1-4 are the graded ML core, on real data. Step 5 is the smart-grid layer: we subtract assumed solar and wind farms and add EV fleet charging to get net load, the load that dispatchable supply must cover. This gives a dynamic load-distribution view without needing private utility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VICTOR (~30 s). Everything the ML model learns from is real public data: IESO zonal demand for Ottawa, ECCC and Open-Meteo weather, the holiday calendar. Only the scenario layer uses assumptions, and we label them. Chronological split avoids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KSHITIJ (~30 s). Where no public city-level data exists we make simple physical or calendar-based assumptions: a 10 MW solar farm via pvlib, a 20 MW wind farm via a standard power curve, residential load tied to temperature, industrial load tied to workdays, and a 300-vehicle EV fleet charging overnight. All are parameters, so we can run what-if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VICTOR (~30 s). Four models from naive to XGBoost, all trained on the same features and split. Metrics: MAE, RMSE, MAPE and R² on the 2025 test year, broken down by season, peaks and holidays so we can analyse where each model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KSHITIJ (~25 s). Data is public and small enough for a laptop; the core ML does not depend on the scenarios, and we have a fallback to Ontario-wide data. Timeline runs to the Dec 8 presentation and Dec 14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Either presenter (~15 s). Who did what, and how AI tools were used. Make sure this matches what you actually did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548640" y="6400800"/>
            <a:ext cx="7315200" cy="274320"/>
          </a:xfrm>
          <a:prstGeom prst="rect">
            <a:avLst/>
          </a:prstGeom>
          <a:noFill/>
          <a:ln/>
        </p:spPr>
        <p:txBody>
          <a:bodyPr wrap="square" rtlCol="0" anchor="ctr"/>
          <a:lstStyle/>
          <a:p>
            <a:pPr indent="0" marL="0">
              <a:buNone/>
            </a:pPr>
            <a:r>
              <a:rPr lang="en-US" sz="1000" dirty="0">
                <a:solidFill>
                  <a:schemeClr val="tx2">
                    <a:alpha val="70000"/>
                  </a:schemeClr>
                </a:solidFill>
              </a:rPr>
              <a:t>ELG 5255 Applied Machine Learning · Phase 1 Proposal · Kshitij &amp; Victor</a:t>
            </a:r>
            <a:endParaRPr lang="en-US" sz="1000" dirty="0"/>
          </a:p>
        </p:txBody>
      </p:sp>
      <p:sp>
        <p:nvSpPr>
          <p:cNvPr id="3" name="Text 1"/>
          <p:cNvSpPr/>
          <p:nvPr>
            <p:ph idx="101" type="title" hasCustomPrompt="1"/>
          </p:nvPr>
        </p:nvSpPr>
        <p:spPr>
          <a:xfrm>
            <a:off x="548640" y="320040"/>
            <a:ext cx="8899855"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bolt-circle"/>
          <p:cNvSpPr/>
          <p:nvPr/>
        </p:nvSpPr>
        <p:spPr>
          <a:xfrm>
            <a:off x="548640" y="1097280"/>
            <a:ext cx="914400" cy="914400"/>
          </a:xfrm>
          <a:prstGeom prst="ellipse">
            <a:avLst/>
          </a:prstGeom>
          <a:solidFill>
            <a:srgbClr val="F2A541"/>
          </a:solidFill>
          <a:ln w="12700">
            <a:solidFill>
              <a:srgbClr val="F2A541"/>
            </a:solidFill>
            <a:prstDash val="solid"/>
          </a:ln>
        </p:spPr>
      </p:sp>
      <p:pic>
        <p:nvPicPr>
          <p:cNvPr id="3" name="title-bolt-icon" descr="preencoded.png">    </p:cNvPr>
          <p:cNvPicPr>
            <a:picLocks noChangeAspect="1"/>
          </p:cNvPicPr>
          <p:nvPr/>
        </p:nvPicPr>
        <p:blipFill>
          <a:blip r:embed="rId1"/>
          <a:stretch>
            <a:fillRect/>
          </a:stretch>
        </p:blipFill>
        <p:spPr>
          <a:xfrm>
            <a:off x="768096" y="1316736"/>
            <a:ext cx="475488" cy="475488"/>
          </a:xfrm>
          <a:prstGeom prst="rect">
            <a:avLst/>
          </a:prstGeom>
        </p:spPr>
      </p:pic>
      <p:sp>
        <p:nvSpPr>
          <p:cNvPr id="4" name="Text 1"/>
          <p:cNvSpPr txBox="1"/>
          <p:nvPr/>
        </p:nvSpPr>
        <p:spPr>
          <a:xfrm>
            <a:off x="548640" y="2194560"/>
            <a:ext cx="9601200" cy="1645920"/>
          </a:xfrm>
          <a:prstGeom prst="rect">
            <a:avLst/>
          </a:prstGeom>
          <a:noFill/>
          <a:ln/>
        </p:spPr>
        <p:txBody>
          <a:bodyPr wrap="square" lIns="0" tIns="0" rIns="0" bIns="0" rtlCol="0" anchor="ctr"/>
          <a:lstStyle/>
          <a:p>
            <a:pPr indent="0" marL="0">
              <a:buNone/>
            </a:pPr>
            <a:r>
              <a:rPr lang="en-US" sz="4400" b="1" dirty="0">
                <a:solidFill>
                  <a:schemeClr val="bg1"/>
                </a:solidFill>
              </a:rPr>
              <a:t>Forecasting Ottawa's Electricity Load for a Smarter Grid</a:t>
            </a:r>
            <a:endParaRPr lang="en-US" sz="4400" dirty="0"/>
          </a:p>
        </p:txBody>
      </p:sp>
      <p:sp>
        <p:nvSpPr>
          <p:cNvPr id="5" name="Text 2"/>
          <p:cNvSpPr txBox="1"/>
          <p:nvPr/>
        </p:nvSpPr>
        <p:spPr>
          <a:xfrm>
            <a:off x="548640" y="3886200"/>
            <a:ext cx="9601200" cy="822960"/>
          </a:xfrm>
          <a:prstGeom prst="rect">
            <a:avLst/>
          </a:prstGeom>
          <a:noFill/>
          <a:ln/>
        </p:spPr>
        <p:txBody>
          <a:bodyPr wrap="square" lIns="0" tIns="0" rIns="0" bIns="0" rtlCol="0" anchor="ctr"/>
          <a:lstStyle/>
          <a:p>
            <a:pPr indent="0" marL="0">
              <a:buNone/>
            </a:pPr>
            <a:r>
              <a:rPr lang="en-US" sz="1800" dirty="0">
                <a:solidFill>
                  <a:schemeClr val="bg2"/>
                </a:solidFill>
              </a:rPr>
              <a:t>Weather- and calendar-aware ML forecasts of hourly demand and baseload, with a net-load view of solar, wind and EV fleets</a:t>
            </a:r>
            <a:endParaRPr lang="en-US" sz="1800" dirty="0"/>
          </a:p>
        </p:txBody>
      </p:sp>
      <p:sp>
        <p:nvSpPr>
          <p:cNvPr id="6" name="Text 3"/>
          <p:cNvSpPr txBox="1"/>
          <p:nvPr/>
        </p:nvSpPr>
        <p:spPr>
          <a:xfrm>
            <a:off x="548640" y="5303520"/>
            <a:ext cx="10058400" cy="731520"/>
          </a:xfrm>
          <a:prstGeom prst="rect">
            <a:avLst/>
          </a:prstGeom>
          <a:noFill/>
          <a:ln/>
        </p:spPr>
        <p:txBody>
          <a:bodyPr wrap="square" lIns="0" tIns="0" rIns="0" bIns="0" rtlCol="0" anchor="ctr"/>
          <a:lstStyle/>
          <a:p>
            <a:pPr indent="0" marL="0">
              <a:buNone/>
            </a:pPr>
            <a:r>
              <a:rPr lang="en-US" sz="1400" b="1" dirty="0">
                <a:solidFill>
                  <a:schemeClr val="accent1"/>
                </a:solidFill>
              </a:rPr>
              <a:t>Kshitij  ·  Victor</a:t>
            </a:r>
            <a:endParaRPr lang="en-US" sz="1400" dirty="0"/>
          </a:p>
          <a:p>
            <a:pPr indent="0" marL="0">
              <a:buNone/>
            </a:pPr>
            <a:r>
              <a:rPr lang="en-US" sz="1400" dirty="0">
                <a:solidFill>
                  <a:schemeClr val="accent1"/>
                </a:solidFill>
              </a:rPr>
              <a:t>ELG 5255 Applied Machine Learning · University of Ottawa · Phase 1 Proposal · October 13,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Problem: what drives Ottawa's electricity load</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Kshitij</a:t>
            </a:r>
            <a:endParaRPr lang="en-US" sz="1400" dirty="0"/>
          </a:p>
        </p:txBody>
      </p:sp>
      <p:sp>
        <p:nvSpPr>
          <p:cNvPr id="4" name="driver0-circle"/>
          <p:cNvSpPr/>
          <p:nvPr/>
        </p:nvSpPr>
        <p:spPr>
          <a:xfrm>
            <a:off x="548640" y="1325880"/>
            <a:ext cx="731520" cy="731520"/>
          </a:xfrm>
          <a:prstGeom prst="ellipse">
            <a:avLst/>
          </a:prstGeom>
          <a:solidFill>
            <a:srgbClr val="0F3B3F"/>
          </a:solidFill>
          <a:ln w="12700">
            <a:solidFill>
              <a:srgbClr val="0F3B3F"/>
            </a:solidFill>
            <a:prstDash val="solid"/>
          </a:ln>
        </p:spPr>
      </p:sp>
      <p:pic>
        <p:nvPicPr>
          <p:cNvPr id="5" name="driver0-icon" descr="preencoded.png">    </p:cNvPr>
          <p:cNvPicPr>
            <a:picLocks noChangeAspect="1"/>
          </p:cNvPicPr>
          <p:nvPr/>
        </p:nvPicPr>
        <p:blipFill>
          <a:blip r:embed="rId1"/>
          <a:stretch>
            <a:fillRect/>
          </a:stretch>
        </p:blipFill>
        <p:spPr>
          <a:xfrm>
            <a:off x="724205" y="1501445"/>
            <a:ext cx="380390" cy="380390"/>
          </a:xfrm>
          <a:prstGeom prst="rect">
            <a:avLst/>
          </a:prstGeom>
        </p:spPr>
      </p:pic>
      <p:sp>
        <p:nvSpPr>
          <p:cNvPr id="6" name="Text 3"/>
          <p:cNvSpPr txBox="1"/>
          <p:nvPr/>
        </p:nvSpPr>
        <p:spPr>
          <a:xfrm>
            <a:off x="1463040" y="1280160"/>
            <a:ext cx="4754880" cy="868680"/>
          </a:xfrm>
          <a:prstGeom prst="rect">
            <a:avLst/>
          </a:prstGeom>
          <a:noFill/>
          <a:ln/>
        </p:spPr>
        <p:txBody>
          <a:bodyPr wrap="square" lIns="0" tIns="0" rIns="0" bIns="0" rtlCol="0" anchor="ctr"/>
          <a:lstStyle/>
          <a:p>
            <a:pPr indent="0" marL="0">
              <a:buNone/>
            </a:pPr>
            <a:r>
              <a:rPr lang="en-US" sz="1800" b="1" dirty="0">
                <a:solidFill>
                  <a:schemeClr val="tx2"/>
                </a:solidFill>
              </a:rPr>
              <a:t>Weather</a:t>
            </a:r>
            <a:endParaRPr lang="en-US" sz="1800" dirty="0"/>
          </a:p>
          <a:p>
            <a:pPr indent="0" marL="0">
              <a:buNone/>
            </a:pPr>
            <a:r>
              <a:rPr lang="en-US" sz="1400" dirty="0">
                <a:solidFill>
                  <a:schemeClr val="tx1"/>
                </a:solidFill>
              </a:rPr>
              <a:t>Cold winters drive heating peaks; hot summers drive cooling peaks</a:t>
            </a:r>
            <a:endParaRPr lang="en-US" sz="1800" dirty="0"/>
          </a:p>
        </p:txBody>
      </p:sp>
      <p:sp>
        <p:nvSpPr>
          <p:cNvPr id="7" name="driver1-circle"/>
          <p:cNvSpPr/>
          <p:nvPr/>
        </p:nvSpPr>
        <p:spPr>
          <a:xfrm>
            <a:off x="548640" y="2350008"/>
            <a:ext cx="731520" cy="731520"/>
          </a:xfrm>
          <a:prstGeom prst="ellipse">
            <a:avLst/>
          </a:prstGeom>
          <a:solidFill>
            <a:srgbClr val="2D8C8C"/>
          </a:solidFill>
          <a:ln w="12700">
            <a:solidFill>
              <a:srgbClr val="2D8C8C"/>
            </a:solidFill>
            <a:prstDash val="solid"/>
          </a:ln>
        </p:spPr>
      </p:sp>
      <p:pic>
        <p:nvPicPr>
          <p:cNvPr id="8" name="driver1-icon" descr="preencoded.png">    </p:cNvPr>
          <p:cNvPicPr>
            <a:picLocks noChangeAspect="1"/>
          </p:cNvPicPr>
          <p:nvPr/>
        </p:nvPicPr>
        <p:blipFill>
          <a:blip r:embed="rId2"/>
          <a:stretch>
            <a:fillRect/>
          </a:stretch>
        </p:blipFill>
        <p:spPr>
          <a:xfrm>
            <a:off x="724205" y="2525573"/>
            <a:ext cx="380390" cy="380390"/>
          </a:xfrm>
          <a:prstGeom prst="rect">
            <a:avLst/>
          </a:prstGeom>
        </p:spPr>
      </p:pic>
      <p:sp>
        <p:nvSpPr>
          <p:cNvPr id="9" name="Text 5"/>
          <p:cNvSpPr txBox="1"/>
          <p:nvPr/>
        </p:nvSpPr>
        <p:spPr>
          <a:xfrm>
            <a:off x="1463040" y="2304288"/>
            <a:ext cx="4754880" cy="868680"/>
          </a:xfrm>
          <a:prstGeom prst="rect">
            <a:avLst/>
          </a:prstGeom>
          <a:noFill/>
          <a:ln/>
        </p:spPr>
        <p:txBody>
          <a:bodyPr wrap="square" lIns="0" tIns="0" rIns="0" bIns="0" rtlCol="0" anchor="ctr"/>
          <a:lstStyle/>
          <a:p>
            <a:pPr indent="0" marL="0">
              <a:buNone/>
            </a:pPr>
            <a:r>
              <a:rPr lang="en-US" sz="1800" b="1" dirty="0">
                <a:solidFill>
                  <a:schemeClr val="tx2"/>
                </a:solidFill>
              </a:rPr>
              <a:t>Calendar</a:t>
            </a:r>
            <a:endParaRPr lang="en-US" sz="1800" dirty="0"/>
          </a:p>
          <a:p>
            <a:pPr indent="0" marL="0">
              <a:buNone/>
            </a:pPr>
            <a:r>
              <a:rPr lang="en-US" sz="1400" dirty="0">
                <a:solidFill>
                  <a:schemeClr val="tx1"/>
                </a:solidFill>
              </a:rPr>
              <a:t>Workdays, weekends and statutory holidays change the daily shape</a:t>
            </a:r>
            <a:endParaRPr lang="en-US" sz="1800" dirty="0"/>
          </a:p>
        </p:txBody>
      </p:sp>
      <p:sp>
        <p:nvSpPr>
          <p:cNvPr id="10" name="driver2-circle"/>
          <p:cNvSpPr/>
          <p:nvPr/>
        </p:nvSpPr>
        <p:spPr>
          <a:xfrm>
            <a:off x="548640" y="3374136"/>
            <a:ext cx="731520" cy="731520"/>
          </a:xfrm>
          <a:prstGeom prst="ellipse">
            <a:avLst/>
          </a:prstGeom>
          <a:solidFill>
            <a:srgbClr val="0F3B3F"/>
          </a:solidFill>
          <a:ln w="12700">
            <a:solidFill>
              <a:srgbClr val="0F3B3F"/>
            </a:solidFill>
            <a:prstDash val="solid"/>
          </a:ln>
        </p:spPr>
      </p:sp>
      <p:pic>
        <p:nvPicPr>
          <p:cNvPr id="11" name="driver2-icon" descr="preencoded.png">    </p:cNvPr>
          <p:cNvPicPr>
            <a:picLocks noChangeAspect="1"/>
          </p:cNvPicPr>
          <p:nvPr/>
        </p:nvPicPr>
        <p:blipFill>
          <a:blip r:embed="rId3"/>
          <a:stretch>
            <a:fillRect/>
          </a:stretch>
        </p:blipFill>
        <p:spPr>
          <a:xfrm>
            <a:off x="724205" y="3549701"/>
            <a:ext cx="380390" cy="380390"/>
          </a:xfrm>
          <a:prstGeom prst="rect">
            <a:avLst/>
          </a:prstGeom>
        </p:spPr>
      </p:pic>
      <p:sp>
        <p:nvSpPr>
          <p:cNvPr id="12" name="Text 7"/>
          <p:cNvSpPr txBox="1"/>
          <p:nvPr/>
        </p:nvSpPr>
        <p:spPr>
          <a:xfrm>
            <a:off x="1463040" y="3328416"/>
            <a:ext cx="4754880" cy="868680"/>
          </a:xfrm>
          <a:prstGeom prst="rect">
            <a:avLst/>
          </a:prstGeom>
          <a:noFill/>
          <a:ln/>
        </p:spPr>
        <p:txBody>
          <a:bodyPr wrap="square" lIns="0" tIns="0" rIns="0" bIns="0" rtlCol="0" anchor="ctr"/>
          <a:lstStyle/>
          <a:p>
            <a:pPr indent="0" marL="0">
              <a:buNone/>
            </a:pPr>
            <a:r>
              <a:rPr lang="en-US" sz="1800" b="1" dirty="0">
                <a:solidFill>
                  <a:schemeClr val="tx2"/>
                </a:solidFill>
              </a:rPr>
              <a:t>Renewables</a:t>
            </a:r>
            <a:endParaRPr lang="en-US" sz="1800" dirty="0"/>
          </a:p>
          <a:p>
            <a:pPr indent="0" marL="0">
              <a:buNone/>
            </a:pPr>
            <a:r>
              <a:rPr lang="en-US" sz="1400" dirty="0">
                <a:solidFill>
                  <a:schemeClr val="tx1"/>
                </a:solidFill>
              </a:rPr>
              <a:t>Solar and wind output vary hour to hour with the forecast</a:t>
            </a:r>
            <a:endParaRPr lang="en-US" sz="1800" dirty="0"/>
          </a:p>
        </p:txBody>
      </p:sp>
      <p:sp>
        <p:nvSpPr>
          <p:cNvPr id="13" name="driver3-circle"/>
          <p:cNvSpPr/>
          <p:nvPr/>
        </p:nvSpPr>
        <p:spPr>
          <a:xfrm>
            <a:off x="548640" y="4398264"/>
            <a:ext cx="731520" cy="731520"/>
          </a:xfrm>
          <a:prstGeom prst="ellipse">
            <a:avLst/>
          </a:prstGeom>
          <a:solidFill>
            <a:srgbClr val="2D8C8C"/>
          </a:solidFill>
          <a:ln w="12700">
            <a:solidFill>
              <a:srgbClr val="2D8C8C"/>
            </a:solidFill>
            <a:prstDash val="solid"/>
          </a:ln>
        </p:spPr>
      </p:sp>
      <p:pic>
        <p:nvPicPr>
          <p:cNvPr id="14" name="driver3-icon" descr="preencoded.png">    </p:cNvPr>
          <p:cNvPicPr>
            <a:picLocks noChangeAspect="1"/>
          </p:cNvPicPr>
          <p:nvPr/>
        </p:nvPicPr>
        <p:blipFill>
          <a:blip r:embed="rId4"/>
          <a:stretch>
            <a:fillRect/>
          </a:stretch>
        </p:blipFill>
        <p:spPr>
          <a:xfrm>
            <a:off x="724205" y="4573829"/>
            <a:ext cx="380390" cy="380390"/>
          </a:xfrm>
          <a:prstGeom prst="rect">
            <a:avLst/>
          </a:prstGeom>
        </p:spPr>
      </p:pic>
      <p:sp>
        <p:nvSpPr>
          <p:cNvPr id="15" name="Text 9"/>
          <p:cNvSpPr txBox="1"/>
          <p:nvPr/>
        </p:nvSpPr>
        <p:spPr>
          <a:xfrm>
            <a:off x="1463040" y="4352544"/>
            <a:ext cx="4754880" cy="868680"/>
          </a:xfrm>
          <a:prstGeom prst="rect">
            <a:avLst/>
          </a:prstGeom>
          <a:noFill/>
          <a:ln/>
        </p:spPr>
        <p:txBody>
          <a:bodyPr wrap="square" lIns="0" tIns="0" rIns="0" bIns="0" rtlCol="0" anchor="ctr"/>
          <a:lstStyle/>
          <a:p>
            <a:pPr indent="0" marL="0">
              <a:buNone/>
            </a:pPr>
            <a:r>
              <a:rPr lang="en-US" sz="1800" b="1" dirty="0">
                <a:solidFill>
                  <a:schemeClr val="tx2"/>
                </a:solidFill>
              </a:rPr>
              <a:t>Electrification</a:t>
            </a:r>
            <a:endParaRPr lang="en-US" sz="1800" dirty="0"/>
          </a:p>
          <a:p>
            <a:pPr indent="0" marL="0">
              <a:buNone/>
            </a:pPr>
            <a:r>
              <a:rPr lang="en-US" sz="1400" dirty="0">
                <a:solidFill>
                  <a:schemeClr val="tx1"/>
                </a:solidFill>
              </a:rPr>
              <a:t>EV fleets add large, schedulable charging loads</a:t>
            </a:r>
            <a:endParaRPr lang="en-US" sz="1800" dirty="0"/>
          </a:p>
        </p:txBody>
      </p:sp>
      <p:sp>
        <p:nvSpPr>
          <p:cNvPr id="16" name="Shape 10"/>
          <p:cNvSpPr/>
          <p:nvPr/>
        </p:nvSpPr>
        <p:spPr>
          <a:xfrm>
            <a:off x="6583680" y="1325880"/>
            <a:ext cx="5056632" cy="3977640"/>
          </a:xfrm>
          <a:prstGeom prst="roundRect">
            <a:avLst>
              <a:gd name="adj" fmla="val 2759"/>
            </a:avLst>
          </a:prstGeom>
          <a:solidFill>
            <a:schemeClr val="tx2"/>
          </a:solidFill>
          <a:ln w="12700">
            <a:solidFill>
              <a:schemeClr val="tx2"/>
            </a:solidFill>
            <a:prstDash val="solid"/>
          </a:ln>
        </p:spPr>
      </p:sp>
      <p:sp>
        <p:nvSpPr>
          <p:cNvPr id="17" name="Text 11"/>
          <p:cNvSpPr txBox="1"/>
          <p:nvPr/>
        </p:nvSpPr>
        <p:spPr>
          <a:xfrm>
            <a:off x="6858000" y="1508760"/>
            <a:ext cx="4526280" cy="3611880"/>
          </a:xfrm>
          <a:prstGeom prst="rect">
            <a:avLst/>
          </a:prstGeom>
          <a:noFill/>
          <a:ln/>
        </p:spPr>
        <p:txBody>
          <a:bodyPr wrap="square" lIns="0" tIns="0" rIns="0" bIns="0" rtlCol="0" anchor="t"/>
          <a:lstStyle/>
          <a:p>
            <a:pPr indent="0" marL="0">
              <a:buNone/>
            </a:pPr>
            <a:r>
              <a:rPr lang="en-US" sz="2000" b="1" dirty="0">
                <a:solidFill>
                  <a:schemeClr val="accent1"/>
                </a:solidFill>
              </a:rPr>
              <a:t>Research question</a:t>
            </a:r>
            <a:endParaRPr lang="en-US" sz="2000" dirty="0"/>
          </a:p>
          <a:p>
            <a:pPr indent="0" marL="0">
              <a:buNone/>
            </a:pPr>
            <a:r>
              <a:rPr lang="en-US" sz="800" dirty="0">
                <a:solidFill>
                  <a:srgbClr val="000000"/>
                </a:solidFill>
              </a:rPr>
              <a:t> </a:t>
            </a:r>
            <a:endParaRPr lang="en-US" sz="2000" dirty="0"/>
          </a:p>
          <a:p>
            <a:pPr indent="0" marL="0">
              <a:buNone/>
            </a:pPr>
            <a:r>
              <a:rPr lang="en-US" sz="1600" dirty="0">
                <a:solidFill>
                  <a:schemeClr val="bg1"/>
                </a:solidFill>
              </a:rPr>
              <a:t>Can tree-ensemble models (Random Forest, XGBoost) forecast Ottawa's hourly electricity demand and next-day baseload more accurately than a Linear Regression baseline, using lagged demand, weather and calendar features?</a:t>
            </a:r>
            <a:endParaRPr lang="en-US" sz="2000" dirty="0"/>
          </a:p>
          <a:p>
            <a:pPr indent="0" marL="0">
              <a:buNone/>
            </a:pPr>
            <a:r>
              <a:rPr lang="en-US" sz="800" dirty="0">
                <a:solidFill>
                  <a:srgbClr val="000000"/>
                </a:solidFill>
              </a:rPr>
              <a:t> </a:t>
            </a:r>
            <a:endParaRPr lang="en-US" sz="2000" dirty="0"/>
          </a:p>
          <a:p>
            <a:pPr indent="0" marL="0">
              <a:buNone/>
            </a:pPr>
            <a:r>
              <a:rPr lang="en-US" sz="1400" i="1" dirty="0">
                <a:solidFill>
                  <a:schemeClr val="bg2"/>
                </a:solidFill>
              </a:rPr>
              <a:t>Why it matters: a good forecast lets the grid schedule supply, storage and flexible loads (like EV charging) ahead of demand instead of reacting to it.</a:t>
            </a:r>
            <a:endParaRPr lang="en-US" sz="2000" dirty="0"/>
          </a:p>
        </p:txBody>
      </p:sp>
      <p:sp>
        <p:nvSpPr>
          <p:cNvPr id="18" name="Text 12"/>
          <p:cNvSpPr txBox="1"/>
          <p:nvPr/>
        </p:nvSpPr>
        <p:spPr>
          <a:xfrm>
            <a:off x="548640" y="5577840"/>
            <a:ext cx="11094415" cy="457200"/>
          </a:xfrm>
          <a:prstGeom prst="rect">
            <a:avLst/>
          </a:prstGeom>
          <a:noFill/>
          <a:ln/>
        </p:spPr>
        <p:txBody>
          <a:bodyPr wrap="square" lIns="0" tIns="0" rIns="0" bIns="0" rtlCol="0" anchor="ctr"/>
          <a:lstStyle/>
          <a:p>
            <a:pPr indent="0" marL="0">
              <a:buNone/>
            </a:pPr>
            <a:r>
              <a:rPr lang="en-US" sz="1200" i="1" dirty="0">
                <a:solidFill>
                  <a:schemeClr val="tx2"/>
                </a:solidFill>
              </a:rPr>
              <a:t>Baseload = the minimum level of demand the grid must always serve (we use the daily minimum hourly load).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State of the art: what recent studies found</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Victor</a:t>
            </a:r>
            <a:endParaRPr lang="en-US" sz="1400" dirty="0"/>
          </a:p>
        </p:txBody>
      </p:sp>
      <p:graphicFrame>
        <p:nvGraphicFramePr>
          <p:cNvPr id="4" name="Chart 0" descr=""/>
          <p:cNvGraphicFramePr/>
          <p:nvPr/>
        </p:nvGraphicFramePr>
        <p:xfrm>
          <a:off x="548640" y="1234440"/>
          <a:ext cx="448056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40680"/>
            <a:ext cx="4480560" cy="502920"/>
          </a:xfrm>
          <a:prstGeom prst="rect">
            <a:avLst/>
          </a:prstGeom>
          <a:noFill/>
          <a:ln/>
        </p:spPr>
        <p:txBody>
          <a:bodyPr wrap="square" lIns="0" tIns="0" rIns="0" bIns="0" rtlCol="0" anchor="ctr"/>
          <a:lstStyle/>
          <a:p>
            <a:pPr indent="0" marL="0">
              <a:buNone/>
            </a:pPr>
            <a:r>
              <a:rPr lang="en-US" sz="1100" i="1" dirty="0">
                <a:solidFill>
                  <a:schemeClr val="tx2"/>
                </a:solidFill>
              </a:rPr>
              <a:t>Orange = the two models we propose. RF reaches R² 0.92 in 7.1 s of training vs 20 min for the deep model.</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349240" y="1234440"/>
          <a:ext cx="6291072" cy="914400"/>
        </p:xfrm>
        <a:graphic>
          <a:graphicData uri="http://schemas.openxmlformats.org/drawingml/2006/table">
            <a:tbl>
              <a:tblPr/>
              <a:tblGrid>
                <a:gridCol w="1874520"/>
                <a:gridCol w="2148840"/>
                <a:gridCol w="2267712"/>
              </a:tblGrid>
              <a:tr h="365760">
                <a:tc>
                  <a:txBody>
                    <a:bodyPr/>
                    <a:lstStyle/>
                    <a:p>
                      <a:pPr indent="0" marL="0">
                        <a:buNone/>
                      </a:pPr>
                      <a:r>
                        <a:rPr lang="en-US" sz="1100" b="1" dirty="0">
                          <a:solidFill>
                            <a:srgbClr val="FFFFFF"/>
                          </a:solidFill>
                        </a:rPr>
                        <a:t>Study</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100" b="1" dirty="0">
                          <a:solidFill>
                            <a:srgbClr val="FFFFFF"/>
                          </a:solidFill>
                        </a:rPr>
                        <a:t>Data</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100" b="1" dirty="0">
                          <a:solidFill>
                            <a:srgbClr val="FFFFFF"/>
                          </a:solidFill>
                        </a:rPr>
                        <a:t>Result</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r>
              <a:tr h="914400">
                <a:tc>
                  <a:txBody>
                    <a:bodyPr/>
                    <a:lstStyle/>
                    <a:p>
                      <a:pPr indent="0" marL="0">
                        <a:buNone/>
                      </a:pPr>
                      <a:r>
                        <a:rPr lang="en-US" sz="1100" dirty="0">
                          <a:solidFill>
                            <a:srgbClr val="1B2A2F"/>
                          </a:solidFill>
                        </a:rPr>
                        <a:t>[1] Gökçe &amp; Duman, IEEE IISEC 2022</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Turkey, hourly, 2018–21 (35,064 h); temperature, holidays, 24 h lag</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RMSE: LR 2348 · RF 2075 · XGBoost 2039. RF best on absolute and % error</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r>
              <a:tr h="777240">
                <a:tc>
                  <a:txBody>
                    <a:bodyPr/>
                    <a:lstStyle/>
                    <a:p>
                      <a:pPr indent="0" marL="0">
                        <a:buNone/>
                      </a:pPr>
                      <a:r>
                        <a:rPr lang="en-US" sz="1100" dirty="0">
                          <a:solidFill>
                            <a:srgbClr val="1B2A2F"/>
                          </a:solidFill>
                        </a:rPr>
                        <a:t>[2] Rawal &amp; Ahmad, IEEE ICPC2T 2022</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New South Wales, Australia, 2020; 8 regression models</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Non-parametric beat parametric models; Random Forest best</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r>
              <a:tr h="914400">
                <a:tc>
                  <a:txBody>
                    <a:bodyPr/>
                    <a:lstStyle/>
                    <a:p>
                      <a:pPr indent="0" marL="0">
                        <a:buNone/>
                      </a:pPr>
                      <a:r>
                        <a:rPr lang="en-US" sz="1100" dirty="0">
                          <a:solidFill>
                            <a:srgbClr val="1B2A2F"/>
                          </a:solidFill>
                        </a:rPr>
                        <a:t>[3] Ibrahim et al., Energies 2022</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Panama, hourly, 2016–19 (33,600 h); temperature, humidity, lags</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Deep regression R² 0.93; RF and LightGBM R² 0.92; 24 h-ahead Bi-LSTM only 0.40</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r>
              <a:tr h="640080">
                <a:tc>
                  <a:txBody>
                    <a:bodyPr/>
                    <a:lstStyle/>
                    <a:p>
                      <a:pPr indent="0" marL="0">
                        <a:buNone/>
                      </a:pPr>
                      <a:r>
                        <a:rPr lang="en-US" sz="1100" dirty="0">
                          <a:solidFill>
                            <a:srgbClr val="1B2A2F"/>
                          </a:solidFill>
                        </a:rPr>
                        <a:t>[4] Kong et al., IEEE Trans. Smart Grid 2019</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Household smart-meter data</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100" dirty="0">
                          <a:solidFill>
                            <a:srgbClr val="1B2A2F"/>
                          </a:solidFill>
                        </a:rPr>
                        <a:t>LSTM beats rival methods for individual homes</a:t>
                      </a:r>
                      <a:endParaRPr lang="en-US" sz="1100" dirty="0"/>
                    </a:p>
                  </a:txBody>
                  <a:tcPr marL="73152" marR="73152"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What the literature tells our design</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Victor</a:t>
            </a:r>
            <a:endParaRPr lang="en-US" sz="1400" dirty="0"/>
          </a:p>
        </p:txBody>
      </p:sp>
      <p:sp>
        <p:nvSpPr>
          <p:cNvPr id="4" name="Shape 2"/>
          <p:cNvSpPr/>
          <p:nvPr/>
        </p:nvSpPr>
        <p:spPr>
          <a:xfrm>
            <a:off x="548640" y="1234440"/>
            <a:ext cx="6766560" cy="896112"/>
          </a:xfrm>
          <a:prstGeom prst="roundRect">
            <a:avLst>
              <a:gd name="adj" fmla="val 12245"/>
            </a:avLst>
          </a:prstGeom>
          <a:solidFill>
            <a:schemeClr val="bg2"/>
          </a:solidFill>
          <a:ln w="12700">
            <a:solidFill>
              <a:schemeClr val="bg2"/>
            </a:solidFill>
            <a:prstDash val="solid"/>
          </a:ln>
        </p:spPr>
      </p:sp>
      <p:sp>
        <p:nvSpPr>
          <p:cNvPr id="5" name="lesson0-circle"/>
          <p:cNvSpPr/>
          <p:nvPr/>
        </p:nvSpPr>
        <p:spPr>
          <a:xfrm>
            <a:off x="731520" y="1389888"/>
            <a:ext cx="585216" cy="585216"/>
          </a:xfrm>
          <a:prstGeom prst="ellipse">
            <a:avLst/>
          </a:prstGeom>
          <a:solidFill>
            <a:srgbClr val="2D8C8C"/>
          </a:solidFill>
          <a:ln w="12700">
            <a:solidFill>
              <a:srgbClr val="2D8C8C"/>
            </a:solidFill>
            <a:prstDash val="solid"/>
          </a:ln>
        </p:spPr>
      </p:sp>
      <p:pic>
        <p:nvPicPr>
          <p:cNvPr id="6" name="lesson0-icon" descr="preencoded.png">    </p:cNvPr>
          <p:cNvPicPr>
            <a:picLocks noChangeAspect="1"/>
          </p:cNvPicPr>
          <p:nvPr/>
        </p:nvPicPr>
        <p:blipFill>
          <a:blip r:embed="rId1"/>
          <a:stretch>
            <a:fillRect/>
          </a:stretch>
        </p:blipFill>
        <p:spPr>
          <a:xfrm>
            <a:off x="871972" y="1530340"/>
            <a:ext cx="304312" cy="304312"/>
          </a:xfrm>
          <a:prstGeom prst="rect">
            <a:avLst/>
          </a:prstGeom>
        </p:spPr>
      </p:pic>
      <p:sp>
        <p:nvSpPr>
          <p:cNvPr id="7" name="Text 4"/>
          <p:cNvSpPr txBox="1"/>
          <p:nvPr/>
        </p:nvSpPr>
        <p:spPr>
          <a:xfrm>
            <a:off x="1508760" y="1271016"/>
            <a:ext cx="5669280" cy="822960"/>
          </a:xfrm>
          <a:prstGeom prst="rect">
            <a:avLst/>
          </a:prstGeom>
          <a:noFill/>
          <a:ln/>
        </p:spPr>
        <p:txBody>
          <a:bodyPr wrap="square" lIns="0" tIns="0" rIns="0" bIns="0" rtlCol="0" anchor="ctr"/>
          <a:lstStyle/>
          <a:p>
            <a:pPr indent="0" marL="0">
              <a:buNone/>
            </a:pPr>
            <a:r>
              <a:rPr lang="en-US" sz="1400" b="1" dirty="0">
                <a:solidFill>
                  <a:srgbClr val="0F3B3F"/>
                </a:solidFill>
              </a:rPr>
              <a:t>Lagged load + temperature drive accuracy</a:t>
            </a:r>
            <a:endParaRPr lang="en-US" sz="1400" dirty="0"/>
          </a:p>
          <a:p>
            <a:pPr indent="0" marL="0">
              <a:buNone/>
            </a:pPr>
            <a:r>
              <a:rPr lang="en-US" sz="1200" dirty="0">
                <a:solidFill>
                  <a:srgbClr val="1B2A2F"/>
                </a:solidFill>
              </a:rPr>
              <a:t>Previous-week and previous-day load and temperature were the top predictors [3]; [1] used a 24 h lag.</a:t>
            </a:r>
            <a:endParaRPr lang="en-US" sz="1400" dirty="0"/>
          </a:p>
        </p:txBody>
      </p:sp>
      <p:sp>
        <p:nvSpPr>
          <p:cNvPr id="8" name="Shape 5"/>
          <p:cNvSpPr/>
          <p:nvPr/>
        </p:nvSpPr>
        <p:spPr>
          <a:xfrm>
            <a:off x="7406640" y="1563624"/>
            <a:ext cx="274320" cy="237744"/>
          </a:xfrm>
          <a:prstGeom prst="rightArrow">
            <a:avLst/>
          </a:prstGeom>
          <a:solidFill>
            <a:schemeClr val="accent1"/>
          </a:solidFill>
          <a:ln w="12700">
            <a:solidFill>
              <a:schemeClr val="accent1"/>
            </a:solidFill>
            <a:prstDash val="solid"/>
          </a:ln>
        </p:spPr>
      </p:sp>
      <p:sp>
        <p:nvSpPr>
          <p:cNvPr id="9" name="Shape 6"/>
          <p:cNvSpPr/>
          <p:nvPr/>
        </p:nvSpPr>
        <p:spPr>
          <a:xfrm>
            <a:off x="7772400" y="1234440"/>
            <a:ext cx="3867912" cy="896112"/>
          </a:xfrm>
          <a:prstGeom prst="roundRect">
            <a:avLst>
              <a:gd name="adj" fmla="val 12245"/>
            </a:avLst>
          </a:prstGeom>
          <a:solidFill>
            <a:schemeClr val="tx2"/>
          </a:solidFill>
          <a:ln w="12700">
            <a:solidFill>
              <a:schemeClr val="tx2"/>
            </a:solidFill>
            <a:prstDash val="solid"/>
          </a:ln>
        </p:spPr>
      </p:sp>
      <p:sp>
        <p:nvSpPr>
          <p:cNvPr id="10" name="Text 7"/>
          <p:cNvSpPr txBox="1"/>
          <p:nvPr/>
        </p:nvSpPr>
        <p:spPr>
          <a:xfrm>
            <a:off x="7955280" y="1271016"/>
            <a:ext cx="3520440" cy="822960"/>
          </a:xfrm>
          <a:prstGeom prst="rect">
            <a:avLst/>
          </a:prstGeom>
          <a:noFill/>
          <a:ln/>
        </p:spPr>
        <p:txBody>
          <a:bodyPr wrap="square" lIns="0" tIns="0" rIns="0" bIns="0" rtlCol="0" anchor="ctr"/>
          <a:lstStyle/>
          <a:p>
            <a:pPr indent="0" marL="0">
              <a:buNone/>
            </a:pPr>
            <a:r>
              <a:rPr lang="en-US" sz="1300" b="1" dirty="0">
                <a:solidFill>
                  <a:schemeClr val="bg1"/>
                </a:solidFill>
              </a:rPr>
              <a:t>Lags t-1, t-24, t-168; temperature, humidity</a:t>
            </a:r>
            <a:endParaRPr lang="en-US" sz="1300" dirty="0"/>
          </a:p>
        </p:txBody>
      </p:sp>
      <p:sp>
        <p:nvSpPr>
          <p:cNvPr id="11" name="Shape 8"/>
          <p:cNvSpPr/>
          <p:nvPr/>
        </p:nvSpPr>
        <p:spPr>
          <a:xfrm>
            <a:off x="548640" y="2258568"/>
            <a:ext cx="6766560" cy="896112"/>
          </a:xfrm>
          <a:prstGeom prst="roundRect">
            <a:avLst>
              <a:gd name="adj" fmla="val 12245"/>
            </a:avLst>
          </a:prstGeom>
          <a:solidFill>
            <a:schemeClr val="bg2"/>
          </a:solidFill>
          <a:ln w="12700">
            <a:solidFill>
              <a:schemeClr val="bg2"/>
            </a:solidFill>
            <a:prstDash val="solid"/>
          </a:ln>
        </p:spPr>
      </p:sp>
      <p:sp>
        <p:nvSpPr>
          <p:cNvPr id="12" name="lesson1-circle"/>
          <p:cNvSpPr/>
          <p:nvPr/>
        </p:nvSpPr>
        <p:spPr>
          <a:xfrm>
            <a:off x="731520" y="2414016"/>
            <a:ext cx="585216" cy="585216"/>
          </a:xfrm>
          <a:prstGeom prst="ellipse">
            <a:avLst/>
          </a:prstGeom>
          <a:solidFill>
            <a:srgbClr val="2D8C8C"/>
          </a:solidFill>
          <a:ln w="12700">
            <a:solidFill>
              <a:srgbClr val="2D8C8C"/>
            </a:solidFill>
            <a:prstDash val="solid"/>
          </a:ln>
        </p:spPr>
      </p:sp>
      <p:pic>
        <p:nvPicPr>
          <p:cNvPr id="13" name="lesson1-icon" descr="preencoded.png">    </p:cNvPr>
          <p:cNvPicPr>
            <a:picLocks noChangeAspect="1"/>
          </p:cNvPicPr>
          <p:nvPr/>
        </p:nvPicPr>
        <p:blipFill>
          <a:blip r:embed="rId2"/>
          <a:stretch>
            <a:fillRect/>
          </a:stretch>
        </p:blipFill>
        <p:spPr>
          <a:xfrm>
            <a:off x="871972" y="2554468"/>
            <a:ext cx="304312" cy="304312"/>
          </a:xfrm>
          <a:prstGeom prst="rect">
            <a:avLst/>
          </a:prstGeom>
        </p:spPr>
      </p:pic>
      <p:sp>
        <p:nvSpPr>
          <p:cNvPr id="14" name="Text 10"/>
          <p:cNvSpPr txBox="1"/>
          <p:nvPr/>
        </p:nvSpPr>
        <p:spPr>
          <a:xfrm>
            <a:off x="1508760" y="2295144"/>
            <a:ext cx="5669280" cy="822960"/>
          </a:xfrm>
          <a:prstGeom prst="rect">
            <a:avLst/>
          </a:prstGeom>
          <a:noFill/>
          <a:ln/>
        </p:spPr>
        <p:txBody>
          <a:bodyPr wrap="square" lIns="0" tIns="0" rIns="0" bIns="0" rtlCol="0" anchor="ctr"/>
          <a:lstStyle/>
          <a:p>
            <a:pPr indent="0" marL="0">
              <a:buNone/>
            </a:pPr>
            <a:r>
              <a:rPr lang="en-US" sz="1400" b="1" dirty="0">
                <a:solidFill>
                  <a:srgbClr val="0F3B3F"/>
                </a:solidFill>
              </a:rPr>
              <a:t>Calendar effects matter</a:t>
            </a:r>
            <a:endParaRPr lang="en-US" sz="1400" dirty="0"/>
          </a:p>
          <a:p>
            <a:pPr indent="0" marL="0">
              <a:buNone/>
            </a:pPr>
            <a:r>
              <a:rPr lang="en-US" sz="1200" dirty="0">
                <a:solidFill>
                  <a:srgbClr val="1B2A2F"/>
                </a:solidFill>
              </a:rPr>
              <a:t>Holiday and working-day flags were inputs in both [1] and [3].</a:t>
            </a:r>
            <a:endParaRPr lang="en-US" sz="1400" dirty="0"/>
          </a:p>
        </p:txBody>
      </p:sp>
      <p:sp>
        <p:nvSpPr>
          <p:cNvPr id="15" name="Shape 11"/>
          <p:cNvSpPr/>
          <p:nvPr/>
        </p:nvSpPr>
        <p:spPr>
          <a:xfrm>
            <a:off x="7406640" y="2587752"/>
            <a:ext cx="274320" cy="237744"/>
          </a:xfrm>
          <a:prstGeom prst="rightArrow">
            <a:avLst/>
          </a:prstGeom>
          <a:solidFill>
            <a:schemeClr val="accent1"/>
          </a:solidFill>
          <a:ln w="12700">
            <a:solidFill>
              <a:schemeClr val="accent1"/>
            </a:solidFill>
            <a:prstDash val="solid"/>
          </a:ln>
        </p:spPr>
      </p:sp>
      <p:sp>
        <p:nvSpPr>
          <p:cNvPr id="16" name="Shape 12"/>
          <p:cNvSpPr/>
          <p:nvPr/>
        </p:nvSpPr>
        <p:spPr>
          <a:xfrm>
            <a:off x="7772400" y="2258568"/>
            <a:ext cx="3867912" cy="896112"/>
          </a:xfrm>
          <a:prstGeom prst="roundRect">
            <a:avLst>
              <a:gd name="adj" fmla="val 12245"/>
            </a:avLst>
          </a:prstGeom>
          <a:solidFill>
            <a:schemeClr val="tx2"/>
          </a:solidFill>
          <a:ln w="12700">
            <a:solidFill>
              <a:schemeClr val="tx2"/>
            </a:solidFill>
            <a:prstDash val="solid"/>
          </a:ln>
        </p:spPr>
      </p:sp>
      <p:sp>
        <p:nvSpPr>
          <p:cNvPr id="17" name="Text 13"/>
          <p:cNvSpPr txBox="1"/>
          <p:nvPr/>
        </p:nvSpPr>
        <p:spPr>
          <a:xfrm>
            <a:off x="7955280" y="2295144"/>
            <a:ext cx="3520440" cy="822960"/>
          </a:xfrm>
          <a:prstGeom prst="rect">
            <a:avLst/>
          </a:prstGeom>
          <a:noFill/>
          <a:ln/>
        </p:spPr>
        <p:txBody>
          <a:bodyPr wrap="square" lIns="0" tIns="0" rIns="0" bIns="0" rtlCol="0" anchor="ctr"/>
          <a:lstStyle/>
          <a:p>
            <a:pPr indent="0" marL="0">
              <a:buNone/>
            </a:pPr>
            <a:r>
              <a:rPr lang="en-US" sz="1300" b="1" dirty="0">
                <a:solidFill>
                  <a:schemeClr val="bg1"/>
                </a:solidFill>
              </a:rPr>
              <a:t>Ontario statutory-holiday and workday flags</a:t>
            </a:r>
            <a:endParaRPr lang="en-US" sz="1300" dirty="0"/>
          </a:p>
        </p:txBody>
      </p:sp>
      <p:sp>
        <p:nvSpPr>
          <p:cNvPr id="18" name="Shape 14"/>
          <p:cNvSpPr/>
          <p:nvPr/>
        </p:nvSpPr>
        <p:spPr>
          <a:xfrm>
            <a:off x="548640" y="3282696"/>
            <a:ext cx="6766560" cy="896112"/>
          </a:xfrm>
          <a:prstGeom prst="roundRect">
            <a:avLst>
              <a:gd name="adj" fmla="val 12245"/>
            </a:avLst>
          </a:prstGeom>
          <a:solidFill>
            <a:schemeClr val="bg2"/>
          </a:solidFill>
          <a:ln w="12700">
            <a:solidFill>
              <a:schemeClr val="bg2"/>
            </a:solidFill>
            <a:prstDash val="solid"/>
          </a:ln>
        </p:spPr>
      </p:sp>
      <p:sp>
        <p:nvSpPr>
          <p:cNvPr id="19" name="lesson2-circle"/>
          <p:cNvSpPr/>
          <p:nvPr/>
        </p:nvSpPr>
        <p:spPr>
          <a:xfrm>
            <a:off x="731520" y="3438144"/>
            <a:ext cx="585216" cy="585216"/>
          </a:xfrm>
          <a:prstGeom prst="ellipse">
            <a:avLst/>
          </a:prstGeom>
          <a:solidFill>
            <a:srgbClr val="2D8C8C"/>
          </a:solidFill>
          <a:ln w="12700">
            <a:solidFill>
              <a:srgbClr val="2D8C8C"/>
            </a:solidFill>
            <a:prstDash val="solid"/>
          </a:ln>
        </p:spPr>
      </p:sp>
      <p:pic>
        <p:nvPicPr>
          <p:cNvPr id="20" name="lesson2-icon" descr="preencoded.png">    </p:cNvPr>
          <p:cNvPicPr>
            <a:picLocks noChangeAspect="1"/>
          </p:cNvPicPr>
          <p:nvPr/>
        </p:nvPicPr>
        <p:blipFill>
          <a:blip r:embed="rId3"/>
          <a:stretch>
            <a:fillRect/>
          </a:stretch>
        </p:blipFill>
        <p:spPr>
          <a:xfrm>
            <a:off x="871972" y="3578596"/>
            <a:ext cx="304312" cy="304312"/>
          </a:xfrm>
          <a:prstGeom prst="rect">
            <a:avLst/>
          </a:prstGeom>
        </p:spPr>
      </p:pic>
      <p:sp>
        <p:nvSpPr>
          <p:cNvPr id="21" name="Text 16"/>
          <p:cNvSpPr txBox="1"/>
          <p:nvPr/>
        </p:nvSpPr>
        <p:spPr>
          <a:xfrm>
            <a:off x="1508760" y="3319272"/>
            <a:ext cx="5669280" cy="822960"/>
          </a:xfrm>
          <a:prstGeom prst="rect">
            <a:avLst/>
          </a:prstGeom>
          <a:noFill/>
          <a:ln/>
        </p:spPr>
        <p:txBody>
          <a:bodyPr wrap="square" lIns="0" tIns="0" rIns="0" bIns="0" rtlCol="0" anchor="ctr"/>
          <a:lstStyle/>
          <a:p>
            <a:pPr indent="0" marL="0">
              <a:buNone/>
            </a:pPr>
            <a:r>
              <a:rPr lang="en-US" sz="1400" b="1" dirty="0">
                <a:solidFill>
                  <a:srgbClr val="0F3B3F"/>
                </a:solidFill>
              </a:rPr>
              <a:t>Tree ensembles: near-best accuracy, low cost</a:t>
            </a:r>
            <a:endParaRPr lang="en-US" sz="1400" dirty="0"/>
          </a:p>
          <a:p>
            <a:pPr indent="0" marL="0">
              <a:buNone/>
            </a:pPr>
            <a:r>
              <a:rPr lang="en-US" sz="1200" dirty="0">
                <a:solidFill>
                  <a:srgbClr val="1B2A2F"/>
                </a:solidFill>
              </a:rPr>
              <a:t>RF/XGBoost beat LR in [1], [2], [3], within ~0.3 pp MAPE of deep learning [3].</a:t>
            </a:r>
            <a:endParaRPr lang="en-US" sz="1400" dirty="0"/>
          </a:p>
        </p:txBody>
      </p:sp>
      <p:sp>
        <p:nvSpPr>
          <p:cNvPr id="22" name="Shape 17"/>
          <p:cNvSpPr/>
          <p:nvPr/>
        </p:nvSpPr>
        <p:spPr>
          <a:xfrm>
            <a:off x="7406640" y="3611880"/>
            <a:ext cx="274320" cy="237744"/>
          </a:xfrm>
          <a:prstGeom prst="rightArrow">
            <a:avLst/>
          </a:prstGeom>
          <a:solidFill>
            <a:schemeClr val="accent1"/>
          </a:solidFill>
          <a:ln w="12700">
            <a:solidFill>
              <a:schemeClr val="accent1"/>
            </a:solidFill>
            <a:prstDash val="solid"/>
          </a:ln>
        </p:spPr>
      </p:sp>
      <p:sp>
        <p:nvSpPr>
          <p:cNvPr id="23" name="Shape 18"/>
          <p:cNvSpPr/>
          <p:nvPr/>
        </p:nvSpPr>
        <p:spPr>
          <a:xfrm>
            <a:off x="7772400" y="3282696"/>
            <a:ext cx="3867912" cy="896112"/>
          </a:xfrm>
          <a:prstGeom prst="roundRect">
            <a:avLst>
              <a:gd name="adj" fmla="val 12245"/>
            </a:avLst>
          </a:prstGeom>
          <a:solidFill>
            <a:schemeClr val="tx2"/>
          </a:solidFill>
          <a:ln w="12700">
            <a:solidFill>
              <a:schemeClr val="tx2"/>
            </a:solidFill>
            <a:prstDash val="solid"/>
          </a:ln>
        </p:spPr>
      </p:sp>
      <p:sp>
        <p:nvSpPr>
          <p:cNvPr id="24" name="Text 19"/>
          <p:cNvSpPr txBox="1"/>
          <p:nvPr/>
        </p:nvSpPr>
        <p:spPr>
          <a:xfrm>
            <a:off x="7955280" y="3319272"/>
            <a:ext cx="3520440" cy="822960"/>
          </a:xfrm>
          <a:prstGeom prst="rect">
            <a:avLst/>
          </a:prstGeom>
          <a:noFill/>
          <a:ln/>
        </p:spPr>
        <p:txBody>
          <a:bodyPr wrap="square" lIns="0" tIns="0" rIns="0" bIns="0" rtlCol="0" anchor="ctr"/>
          <a:lstStyle/>
          <a:p>
            <a:pPr indent="0" marL="0">
              <a:buNone/>
            </a:pPr>
            <a:r>
              <a:rPr lang="en-US" sz="1300" b="1" dirty="0">
                <a:solidFill>
                  <a:schemeClr val="bg1"/>
                </a:solidFill>
              </a:rPr>
              <a:t>LR baseline vs Random Forest [9] vs XGBoost [10]</a:t>
            </a:r>
            <a:endParaRPr lang="en-US" sz="1300" dirty="0"/>
          </a:p>
        </p:txBody>
      </p:sp>
      <p:sp>
        <p:nvSpPr>
          <p:cNvPr id="25" name="Shape 20"/>
          <p:cNvSpPr/>
          <p:nvPr/>
        </p:nvSpPr>
        <p:spPr>
          <a:xfrm>
            <a:off x="548640" y="4306824"/>
            <a:ext cx="6766560" cy="896112"/>
          </a:xfrm>
          <a:prstGeom prst="roundRect">
            <a:avLst>
              <a:gd name="adj" fmla="val 12245"/>
            </a:avLst>
          </a:prstGeom>
          <a:solidFill>
            <a:schemeClr val="bg2"/>
          </a:solidFill>
          <a:ln w="12700">
            <a:solidFill>
              <a:schemeClr val="bg2"/>
            </a:solidFill>
            <a:prstDash val="solid"/>
          </a:ln>
        </p:spPr>
      </p:sp>
      <p:sp>
        <p:nvSpPr>
          <p:cNvPr id="26" name="lesson3-circle"/>
          <p:cNvSpPr/>
          <p:nvPr/>
        </p:nvSpPr>
        <p:spPr>
          <a:xfrm>
            <a:off x="731520" y="4462272"/>
            <a:ext cx="585216" cy="585216"/>
          </a:xfrm>
          <a:prstGeom prst="ellipse">
            <a:avLst/>
          </a:prstGeom>
          <a:solidFill>
            <a:srgbClr val="2D8C8C"/>
          </a:solidFill>
          <a:ln w="12700">
            <a:solidFill>
              <a:srgbClr val="2D8C8C"/>
            </a:solidFill>
            <a:prstDash val="solid"/>
          </a:ln>
        </p:spPr>
      </p:sp>
      <p:pic>
        <p:nvPicPr>
          <p:cNvPr id="27" name="lesson3-icon" descr="preencoded.png">    </p:cNvPr>
          <p:cNvPicPr>
            <a:picLocks noChangeAspect="1"/>
          </p:cNvPicPr>
          <p:nvPr/>
        </p:nvPicPr>
        <p:blipFill>
          <a:blip r:embed="rId4"/>
          <a:stretch>
            <a:fillRect/>
          </a:stretch>
        </p:blipFill>
        <p:spPr>
          <a:xfrm>
            <a:off x="871972" y="4602724"/>
            <a:ext cx="304312" cy="304312"/>
          </a:xfrm>
          <a:prstGeom prst="rect">
            <a:avLst/>
          </a:prstGeom>
        </p:spPr>
      </p:pic>
      <p:sp>
        <p:nvSpPr>
          <p:cNvPr id="28" name="Text 22"/>
          <p:cNvSpPr txBox="1"/>
          <p:nvPr/>
        </p:nvSpPr>
        <p:spPr>
          <a:xfrm>
            <a:off x="1508760" y="4343400"/>
            <a:ext cx="5669280" cy="822960"/>
          </a:xfrm>
          <a:prstGeom prst="rect">
            <a:avLst/>
          </a:prstGeom>
          <a:noFill/>
          <a:ln/>
        </p:spPr>
        <p:txBody>
          <a:bodyPr wrap="square" lIns="0" tIns="0" rIns="0" bIns="0" rtlCol="0" anchor="ctr"/>
          <a:lstStyle/>
          <a:p>
            <a:pPr indent="0" marL="0">
              <a:buNone/>
            </a:pPr>
            <a:r>
              <a:rPr lang="en-US" sz="1400" b="1" dirty="0">
                <a:solidFill>
                  <a:srgbClr val="0F3B3F"/>
                </a:solidFill>
              </a:rPr>
              <a:t>Known weak spots</a:t>
            </a:r>
            <a:endParaRPr lang="en-US" sz="1400" dirty="0"/>
          </a:p>
          <a:p>
            <a:pPr indent="0" marL="0">
              <a:buNone/>
            </a:pPr>
            <a:r>
              <a:rPr lang="en-US" sz="1200" dirty="0">
                <a:solidFill>
                  <a:srgbClr val="1B2A2F"/>
                </a:solidFill>
              </a:rPr>
              <a:t>Summer extremes and COVID-19 hurt [1]; 24 h multi-step is much harder [3].</a:t>
            </a:r>
            <a:endParaRPr lang="en-US" sz="1400" dirty="0"/>
          </a:p>
        </p:txBody>
      </p:sp>
      <p:sp>
        <p:nvSpPr>
          <p:cNvPr id="29" name="Shape 23"/>
          <p:cNvSpPr/>
          <p:nvPr/>
        </p:nvSpPr>
        <p:spPr>
          <a:xfrm>
            <a:off x="7406640" y="4636008"/>
            <a:ext cx="274320" cy="237744"/>
          </a:xfrm>
          <a:prstGeom prst="rightArrow">
            <a:avLst/>
          </a:prstGeom>
          <a:solidFill>
            <a:schemeClr val="accent1"/>
          </a:solidFill>
          <a:ln w="12700">
            <a:solidFill>
              <a:schemeClr val="accent1"/>
            </a:solidFill>
            <a:prstDash val="solid"/>
          </a:ln>
        </p:spPr>
      </p:sp>
      <p:sp>
        <p:nvSpPr>
          <p:cNvPr id="30" name="Shape 24"/>
          <p:cNvSpPr/>
          <p:nvPr/>
        </p:nvSpPr>
        <p:spPr>
          <a:xfrm>
            <a:off x="7772400" y="4306824"/>
            <a:ext cx="3867912" cy="896112"/>
          </a:xfrm>
          <a:prstGeom prst="roundRect">
            <a:avLst>
              <a:gd name="adj" fmla="val 12245"/>
            </a:avLst>
          </a:prstGeom>
          <a:solidFill>
            <a:schemeClr val="tx2"/>
          </a:solidFill>
          <a:ln w="12700">
            <a:solidFill>
              <a:schemeClr val="tx2"/>
            </a:solidFill>
            <a:prstDash val="solid"/>
          </a:ln>
        </p:spPr>
      </p:sp>
      <p:sp>
        <p:nvSpPr>
          <p:cNvPr id="31" name="Text 25"/>
          <p:cNvSpPr txBox="1"/>
          <p:nvPr/>
        </p:nvSpPr>
        <p:spPr>
          <a:xfrm>
            <a:off x="7955280" y="4343400"/>
            <a:ext cx="3520440" cy="822960"/>
          </a:xfrm>
          <a:prstGeom prst="rect">
            <a:avLst/>
          </a:prstGeom>
          <a:noFill/>
          <a:ln/>
        </p:spPr>
        <p:txBody>
          <a:bodyPr wrap="square" lIns="0" tIns="0" rIns="0" bIns="0" rtlCol="0" anchor="ctr"/>
          <a:lstStyle/>
          <a:p>
            <a:pPr indent="0" marL="0">
              <a:buNone/>
            </a:pPr>
            <a:r>
              <a:rPr lang="en-US" sz="1300" b="1" dirty="0">
                <a:solidFill>
                  <a:schemeClr val="bg1"/>
                </a:solidFill>
              </a:rPr>
              <a:t>Errors by season and horizon; flag 2020 COVID period</a:t>
            </a:r>
            <a:endParaRPr lang="en-US" sz="1300" dirty="0"/>
          </a:p>
        </p:txBody>
      </p:sp>
      <p:sp>
        <p:nvSpPr>
          <p:cNvPr id="32" name="Text 26"/>
          <p:cNvSpPr txBox="1"/>
          <p:nvPr/>
        </p:nvSpPr>
        <p:spPr>
          <a:xfrm>
            <a:off x="548640" y="5440680"/>
            <a:ext cx="11094415" cy="548640"/>
          </a:xfrm>
          <a:prstGeom prst="rect">
            <a:avLst/>
          </a:prstGeom>
          <a:noFill/>
          <a:ln/>
        </p:spPr>
        <p:txBody>
          <a:bodyPr wrap="square" lIns="0" tIns="0" rIns="0" bIns="0" rtlCol="0" anchor="ctr"/>
          <a:lstStyle/>
          <a:p>
            <a:pPr indent="0" marL="0">
              <a:buNone/>
            </a:pPr>
            <a:r>
              <a:rPr lang="en-US" sz="1300" b="1" dirty="0">
                <a:solidFill>
                  <a:srgbClr val="C8553D"/>
                </a:solidFill>
              </a:rPr>
              <a:t>Gap we address: </a:t>
            </a:r>
            <a:pPr indent="0" marL="0">
              <a:buNone/>
            </a:pPr>
            <a:r>
              <a:rPr lang="en-US" sz="1300" dirty="0">
                <a:solidFill>
                  <a:srgbClr val="1B2A2F"/>
                </a:solidFill>
              </a:rPr>
              <a:t>all four forecast a country, state or single home. None targets a city zone like Ottawa, or what solar, wind and EV fleets do to the net load left to serve.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forecast, then balance</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Kshitij</a:t>
            </a:r>
            <a:endParaRPr lang="en-US" sz="1400" dirty="0"/>
          </a:p>
        </p:txBody>
      </p:sp>
      <p:sp>
        <p:nvSpPr>
          <p:cNvPr id="4" name="Shape 2"/>
          <p:cNvSpPr/>
          <p:nvPr/>
        </p:nvSpPr>
        <p:spPr>
          <a:xfrm>
            <a:off x="548640" y="1325880"/>
            <a:ext cx="2542032" cy="2514600"/>
          </a:xfrm>
          <a:prstGeom prst="roundRect">
            <a:avLst>
              <a:gd name="adj" fmla="val 4364"/>
            </a:avLst>
          </a:prstGeom>
          <a:solidFill>
            <a:schemeClr val="bg2"/>
          </a:solidFill>
          <a:ln w="12700">
            <a:solidFill>
              <a:schemeClr val="bg2"/>
            </a:solidFill>
            <a:prstDash val="solid"/>
          </a:ln>
        </p:spPr>
      </p:sp>
      <p:sp>
        <p:nvSpPr>
          <p:cNvPr id="5" name="stage0-circle"/>
          <p:cNvSpPr/>
          <p:nvPr/>
        </p:nvSpPr>
        <p:spPr>
          <a:xfrm>
            <a:off x="777240" y="1508760"/>
            <a:ext cx="640080" cy="640080"/>
          </a:xfrm>
          <a:prstGeom prst="ellipse">
            <a:avLst/>
          </a:prstGeom>
          <a:solidFill>
            <a:srgbClr val="0F3B3F"/>
          </a:solidFill>
          <a:ln w="12700">
            <a:solidFill>
              <a:srgbClr val="0F3B3F"/>
            </a:solidFill>
            <a:prstDash val="solid"/>
          </a:ln>
        </p:spPr>
      </p:sp>
      <p:pic>
        <p:nvPicPr>
          <p:cNvPr id="6" name="stage0-icon" descr="preencoded.png">    </p:cNvPr>
          <p:cNvPicPr>
            <a:picLocks noChangeAspect="1"/>
          </p:cNvPicPr>
          <p:nvPr/>
        </p:nvPicPr>
        <p:blipFill>
          <a:blip r:embed="rId1"/>
          <a:stretch>
            <a:fillRect/>
          </a:stretch>
        </p:blipFill>
        <p:spPr>
          <a:xfrm>
            <a:off x="930859" y="1662379"/>
            <a:ext cx="332842" cy="332842"/>
          </a:xfrm>
          <a:prstGeom prst="rect">
            <a:avLst/>
          </a:prstGeom>
        </p:spPr>
      </p:pic>
      <p:sp>
        <p:nvSpPr>
          <p:cNvPr id="7" name="Text 4"/>
          <p:cNvSpPr txBox="1"/>
          <p:nvPr/>
        </p:nvSpPr>
        <p:spPr>
          <a:xfrm>
            <a:off x="777240" y="2240280"/>
            <a:ext cx="2084832" cy="365760"/>
          </a:xfrm>
          <a:prstGeom prst="rect">
            <a:avLst/>
          </a:prstGeom>
          <a:noFill/>
          <a:ln/>
        </p:spPr>
        <p:txBody>
          <a:bodyPr wrap="square" lIns="0" tIns="0" rIns="0" bIns="0" rtlCol="0" anchor="ctr"/>
          <a:lstStyle/>
          <a:p>
            <a:pPr indent="0" marL="0">
              <a:buNone/>
            </a:pPr>
            <a:r>
              <a:rPr lang="en-US" sz="1600" b="1" dirty="0">
                <a:solidFill>
                  <a:schemeClr val="tx2"/>
                </a:solidFill>
              </a:rPr>
              <a:t>1 · Real data</a:t>
            </a:r>
            <a:endParaRPr lang="en-US" sz="1600" dirty="0"/>
          </a:p>
        </p:txBody>
      </p:sp>
      <p:sp>
        <p:nvSpPr>
          <p:cNvPr id="8" name="Text 5"/>
          <p:cNvSpPr txBox="1"/>
          <p:nvPr/>
        </p:nvSpPr>
        <p:spPr>
          <a:xfrm>
            <a:off x="777240" y="2606040"/>
            <a:ext cx="2084832" cy="1143000"/>
          </a:xfrm>
          <a:prstGeom prst="rect">
            <a:avLst/>
          </a:prstGeom>
          <a:noFill/>
          <a:ln/>
        </p:spPr>
        <p:txBody>
          <a:bodyPr wrap="square" lIns="0" tIns="0" rIns="0" bIns="0" rtlCol="0" anchor="t"/>
          <a:lstStyle/>
          <a:p>
            <a:pPr indent="0" marL="0">
              <a:buNone/>
            </a:pPr>
            <a:r>
              <a:rPr lang="en-US" sz="1300" dirty="0">
                <a:solidFill>
                  <a:schemeClr val="tx1"/>
                </a:solidFill>
              </a:rPr>
              <a:t>IESO hourly demand (Ottawa zone), ECCC + Open-Meteo weather, Ontario holidays</a:t>
            </a:r>
            <a:endParaRPr lang="en-US" sz="1300" dirty="0"/>
          </a:p>
        </p:txBody>
      </p:sp>
      <p:sp>
        <p:nvSpPr>
          <p:cNvPr id="9" name="Shape 6"/>
          <p:cNvSpPr/>
          <p:nvPr/>
        </p:nvSpPr>
        <p:spPr>
          <a:xfrm>
            <a:off x="3118104" y="2450592"/>
            <a:ext cx="192024" cy="274320"/>
          </a:xfrm>
          <a:prstGeom prst="rightArrow">
            <a:avLst/>
          </a:prstGeom>
          <a:solidFill>
            <a:schemeClr val="accent2"/>
          </a:solidFill>
          <a:ln w="12700">
            <a:solidFill>
              <a:schemeClr val="accent2"/>
            </a:solidFill>
            <a:prstDash val="solid"/>
          </a:ln>
        </p:spPr>
      </p:sp>
      <p:sp>
        <p:nvSpPr>
          <p:cNvPr id="10" name="Shape 7"/>
          <p:cNvSpPr/>
          <p:nvPr/>
        </p:nvSpPr>
        <p:spPr>
          <a:xfrm>
            <a:off x="3337560" y="1325880"/>
            <a:ext cx="2542032" cy="2514600"/>
          </a:xfrm>
          <a:prstGeom prst="roundRect">
            <a:avLst>
              <a:gd name="adj" fmla="val 4364"/>
            </a:avLst>
          </a:prstGeom>
          <a:solidFill>
            <a:schemeClr val="bg2"/>
          </a:solidFill>
          <a:ln w="12700">
            <a:solidFill>
              <a:schemeClr val="bg2"/>
            </a:solidFill>
            <a:prstDash val="solid"/>
          </a:ln>
        </p:spPr>
      </p:sp>
      <p:sp>
        <p:nvSpPr>
          <p:cNvPr id="11" name="stage1-circle"/>
          <p:cNvSpPr/>
          <p:nvPr/>
        </p:nvSpPr>
        <p:spPr>
          <a:xfrm>
            <a:off x="3566160" y="1508760"/>
            <a:ext cx="640080" cy="640080"/>
          </a:xfrm>
          <a:prstGeom prst="ellipse">
            <a:avLst/>
          </a:prstGeom>
          <a:solidFill>
            <a:srgbClr val="0F3B3F"/>
          </a:solidFill>
          <a:ln w="12700">
            <a:solidFill>
              <a:srgbClr val="0F3B3F"/>
            </a:solidFill>
            <a:prstDash val="solid"/>
          </a:ln>
        </p:spPr>
      </p:sp>
      <p:pic>
        <p:nvPicPr>
          <p:cNvPr id="12" name="stage1-icon" descr="preencoded.png">    </p:cNvPr>
          <p:cNvPicPr>
            <a:picLocks noChangeAspect="1"/>
          </p:cNvPicPr>
          <p:nvPr/>
        </p:nvPicPr>
        <p:blipFill>
          <a:blip r:embed="rId2"/>
          <a:stretch>
            <a:fillRect/>
          </a:stretch>
        </p:blipFill>
        <p:spPr>
          <a:xfrm>
            <a:off x="3719779" y="1662379"/>
            <a:ext cx="332842" cy="332842"/>
          </a:xfrm>
          <a:prstGeom prst="rect">
            <a:avLst/>
          </a:prstGeom>
        </p:spPr>
      </p:pic>
      <p:sp>
        <p:nvSpPr>
          <p:cNvPr id="13" name="Text 9"/>
          <p:cNvSpPr txBox="1"/>
          <p:nvPr/>
        </p:nvSpPr>
        <p:spPr>
          <a:xfrm>
            <a:off x="3566160" y="2240280"/>
            <a:ext cx="2084832" cy="365760"/>
          </a:xfrm>
          <a:prstGeom prst="rect">
            <a:avLst/>
          </a:prstGeom>
          <a:noFill/>
          <a:ln/>
        </p:spPr>
        <p:txBody>
          <a:bodyPr wrap="square" lIns="0" tIns="0" rIns="0" bIns="0" rtlCol="0" anchor="ctr"/>
          <a:lstStyle/>
          <a:p>
            <a:pPr indent="0" marL="0">
              <a:buNone/>
            </a:pPr>
            <a:r>
              <a:rPr lang="en-US" sz="1600" b="1" dirty="0">
                <a:solidFill>
                  <a:schemeClr val="tx2"/>
                </a:solidFill>
              </a:rPr>
              <a:t>2 · Features</a:t>
            </a:r>
            <a:endParaRPr lang="en-US" sz="1600" dirty="0"/>
          </a:p>
        </p:txBody>
      </p:sp>
      <p:sp>
        <p:nvSpPr>
          <p:cNvPr id="14" name="Text 10"/>
          <p:cNvSpPr txBox="1"/>
          <p:nvPr/>
        </p:nvSpPr>
        <p:spPr>
          <a:xfrm>
            <a:off x="3566160" y="2606040"/>
            <a:ext cx="2084832" cy="1143000"/>
          </a:xfrm>
          <a:prstGeom prst="rect">
            <a:avLst/>
          </a:prstGeom>
          <a:noFill/>
          <a:ln/>
        </p:spPr>
        <p:txBody>
          <a:bodyPr wrap="square" lIns="0" tIns="0" rIns="0" bIns="0" rtlCol="0" anchor="t"/>
          <a:lstStyle/>
          <a:p>
            <a:pPr indent="0" marL="0">
              <a:buNone/>
            </a:pPr>
            <a:r>
              <a:rPr lang="en-US" sz="1300" dirty="0">
                <a:solidFill>
                  <a:schemeClr val="tx1"/>
                </a:solidFill>
              </a:rPr>
              <a:t>Lags t-1, t-24, t-168; temperature, HDD/CDD; hour, weekday, month, holiday flag</a:t>
            </a:r>
            <a:endParaRPr lang="en-US" sz="1300" dirty="0"/>
          </a:p>
        </p:txBody>
      </p:sp>
      <p:sp>
        <p:nvSpPr>
          <p:cNvPr id="15" name="Shape 11"/>
          <p:cNvSpPr/>
          <p:nvPr/>
        </p:nvSpPr>
        <p:spPr>
          <a:xfrm>
            <a:off x="5907024" y="2450592"/>
            <a:ext cx="192024" cy="274320"/>
          </a:xfrm>
          <a:prstGeom prst="rightArrow">
            <a:avLst/>
          </a:prstGeom>
          <a:solidFill>
            <a:schemeClr val="accent2"/>
          </a:solidFill>
          <a:ln w="12700">
            <a:solidFill>
              <a:schemeClr val="accent2"/>
            </a:solidFill>
            <a:prstDash val="solid"/>
          </a:ln>
        </p:spPr>
      </p:sp>
      <p:sp>
        <p:nvSpPr>
          <p:cNvPr id="16" name="Shape 12"/>
          <p:cNvSpPr/>
          <p:nvPr/>
        </p:nvSpPr>
        <p:spPr>
          <a:xfrm>
            <a:off x="6126480" y="1325880"/>
            <a:ext cx="2542032" cy="2514600"/>
          </a:xfrm>
          <a:prstGeom prst="roundRect">
            <a:avLst>
              <a:gd name="adj" fmla="val 4364"/>
            </a:avLst>
          </a:prstGeom>
          <a:solidFill>
            <a:schemeClr val="bg2"/>
          </a:solidFill>
          <a:ln w="12700">
            <a:solidFill>
              <a:schemeClr val="bg2"/>
            </a:solidFill>
            <a:prstDash val="solid"/>
          </a:ln>
        </p:spPr>
      </p:sp>
      <p:sp>
        <p:nvSpPr>
          <p:cNvPr id="17" name="stage2-circle"/>
          <p:cNvSpPr/>
          <p:nvPr/>
        </p:nvSpPr>
        <p:spPr>
          <a:xfrm>
            <a:off x="6355080" y="1508760"/>
            <a:ext cx="640080" cy="640080"/>
          </a:xfrm>
          <a:prstGeom prst="ellipse">
            <a:avLst/>
          </a:prstGeom>
          <a:solidFill>
            <a:srgbClr val="F2A541"/>
          </a:solidFill>
          <a:ln w="12700">
            <a:solidFill>
              <a:srgbClr val="F2A541"/>
            </a:solidFill>
            <a:prstDash val="solid"/>
          </a:ln>
        </p:spPr>
      </p:sp>
      <p:pic>
        <p:nvPicPr>
          <p:cNvPr id="18" name="stage2-icon" descr="preencoded.png">    </p:cNvPr>
          <p:cNvPicPr>
            <a:picLocks noChangeAspect="1"/>
          </p:cNvPicPr>
          <p:nvPr/>
        </p:nvPicPr>
        <p:blipFill>
          <a:blip r:embed="rId3"/>
          <a:stretch>
            <a:fillRect/>
          </a:stretch>
        </p:blipFill>
        <p:spPr>
          <a:xfrm>
            <a:off x="6508699" y="1662379"/>
            <a:ext cx="332842" cy="332842"/>
          </a:xfrm>
          <a:prstGeom prst="rect">
            <a:avLst/>
          </a:prstGeom>
        </p:spPr>
      </p:pic>
      <p:sp>
        <p:nvSpPr>
          <p:cNvPr id="19" name="Text 14"/>
          <p:cNvSpPr txBox="1"/>
          <p:nvPr/>
        </p:nvSpPr>
        <p:spPr>
          <a:xfrm>
            <a:off x="6355080" y="2240280"/>
            <a:ext cx="2084832" cy="365760"/>
          </a:xfrm>
          <a:prstGeom prst="rect">
            <a:avLst/>
          </a:prstGeom>
          <a:noFill/>
          <a:ln/>
        </p:spPr>
        <p:txBody>
          <a:bodyPr wrap="square" lIns="0" tIns="0" rIns="0" bIns="0" rtlCol="0" anchor="ctr"/>
          <a:lstStyle/>
          <a:p>
            <a:pPr indent="0" marL="0">
              <a:buNone/>
            </a:pPr>
            <a:r>
              <a:rPr lang="en-US" sz="1600" b="1" dirty="0">
                <a:solidFill>
                  <a:schemeClr val="tx2"/>
                </a:solidFill>
              </a:rPr>
              <a:t>3 · ML models</a:t>
            </a:r>
            <a:endParaRPr lang="en-US" sz="1600" dirty="0"/>
          </a:p>
        </p:txBody>
      </p:sp>
      <p:sp>
        <p:nvSpPr>
          <p:cNvPr id="20" name="Text 15"/>
          <p:cNvSpPr txBox="1"/>
          <p:nvPr/>
        </p:nvSpPr>
        <p:spPr>
          <a:xfrm>
            <a:off x="6355080" y="2606040"/>
            <a:ext cx="2084832" cy="1143000"/>
          </a:xfrm>
          <a:prstGeom prst="rect">
            <a:avLst/>
          </a:prstGeom>
          <a:noFill/>
          <a:ln/>
        </p:spPr>
        <p:txBody>
          <a:bodyPr wrap="square" lIns="0" tIns="0" rIns="0" bIns="0" rtlCol="0" anchor="t"/>
          <a:lstStyle/>
          <a:p>
            <a:pPr indent="0" marL="0">
              <a:buNone/>
            </a:pPr>
            <a:r>
              <a:rPr lang="en-US" sz="1300" dirty="0">
                <a:solidFill>
                  <a:schemeClr val="tx1"/>
                </a:solidFill>
              </a:rPr>
              <a:t>Linear Regression (baseline), Random Forest, XGBoost</a:t>
            </a:r>
            <a:endParaRPr lang="en-US" sz="1300" dirty="0"/>
          </a:p>
        </p:txBody>
      </p:sp>
      <p:sp>
        <p:nvSpPr>
          <p:cNvPr id="21" name="Shape 16"/>
          <p:cNvSpPr/>
          <p:nvPr/>
        </p:nvSpPr>
        <p:spPr>
          <a:xfrm>
            <a:off x="8695944" y="2450592"/>
            <a:ext cx="192024" cy="274320"/>
          </a:xfrm>
          <a:prstGeom prst="rightArrow">
            <a:avLst/>
          </a:prstGeom>
          <a:solidFill>
            <a:schemeClr val="accent2"/>
          </a:solidFill>
          <a:ln w="12700">
            <a:solidFill>
              <a:schemeClr val="accent2"/>
            </a:solidFill>
            <a:prstDash val="solid"/>
          </a:ln>
        </p:spPr>
      </p:sp>
      <p:sp>
        <p:nvSpPr>
          <p:cNvPr id="22" name="Shape 17"/>
          <p:cNvSpPr/>
          <p:nvPr/>
        </p:nvSpPr>
        <p:spPr>
          <a:xfrm>
            <a:off x="8915400" y="1325880"/>
            <a:ext cx="2542032" cy="2514600"/>
          </a:xfrm>
          <a:prstGeom prst="roundRect">
            <a:avLst>
              <a:gd name="adj" fmla="val 4364"/>
            </a:avLst>
          </a:prstGeom>
          <a:solidFill>
            <a:schemeClr val="bg2"/>
          </a:solidFill>
          <a:ln w="12700">
            <a:solidFill>
              <a:schemeClr val="bg2"/>
            </a:solidFill>
            <a:prstDash val="solid"/>
          </a:ln>
        </p:spPr>
      </p:sp>
      <p:sp>
        <p:nvSpPr>
          <p:cNvPr id="23" name="stage3-circle"/>
          <p:cNvSpPr/>
          <p:nvPr/>
        </p:nvSpPr>
        <p:spPr>
          <a:xfrm>
            <a:off x="9144000" y="1508760"/>
            <a:ext cx="640080" cy="640080"/>
          </a:xfrm>
          <a:prstGeom prst="ellipse">
            <a:avLst/>
          </a:prstGeom>
          <a:solidFill>
            <a:srgbClr val="0F3B3F"/>
          </a:solidFill>
          <a:ln w="12700">
            <a:solidFill>
              <a:srgbClr val="0F3B3F"/>
            </a:solidFill>
            <a:prstDash val="solid"/>
          </a:ln>
        </p:spPr>
      </p:sp>
      <p:pic>
        <p:nvPicPr>
          <p:cNvPr id="24" name="stage3-icon" descr="preencoded.png">    </p:cNvPr>
          <p:cNvPicPr>
            <a:picLocks noChangeAspect="1"/>
          </p:cNvPicPr>
          <p:nvPr/>
        </p:nvPicPr>
        <p:blipFill>
          <a:blip r:embed="rId4"/>
          <a:stretch>
            <a:fillRect/>
          </a:stretch>
        </p:blipFill>
        <p:spPr>
          <a:xfrm>
            <a:off x="9297619" y="1662379"/>
            <a:ext cx="332842" cy="332842"/>
          </a:xfrm>
          <a:prstGeom prst="rect">
            <a:avLst/>
          </a:prstGeom>
        </p:spPr>
      </p:pic>
      <p:sp>
        <p:nvSpPr>
          <p:cNvPr id="25" name="Text 19"/>
          <p:cNvSpPr txBox="1"/>
          <p:nvPr/>
        </p:nvSpPr>
        <p:spPr>
          <a:xfrm>
            <a:off x="9144000" y="2240280"/>
            <a:ext cx="2084832" cy="365760"/>
          </a:xfrm>
          <a:prstGeom prst="rect">
            <a:avLst/>
          </a:prstGeom>
          <a:noFill/>
          <a:ln/>
        </p:spPr>
        <p:txBody>
          <a:bodyPr wrap="square" lIns="0" tIns="0" rIns="0" bIns="0" rtlCol="0" anchor="ctr"/>
          <a:lstStyle/>
          <a:p>
            <a:pPr indent="0" marL="0">
              <a:buNone/>
            </a:pPr>
            <a:r>
              <a:rPr lang="en-US" sz="1600" b="1" dirty="0">
                <a:solidFill>
                  <a:schemeClr val="tx2"/>
                </a:solidFill>
              </a:rPr>
              <a:t>4 · Forecasts</a:t>
            </a:r>
            <a:endParaRPr lang="en-US" sz="1600" dirty="0"/>
          </a:p>
        </p:txBody>
      </p:sp>
      <p:sp>
        <p:nvSpPr>
          <p:cNvPr id="26" name="Text 20"/>
          <p:cNvSpPr txBox="1"/>
          <p:nvPr/>
        </p:nvSpPr>
        <p:spPr>
          <a:xfrm>
            <a:off x="9144000" y="2606040"/>
            <a:ext cx="2084832" cy="1143000"/>
          </a:xfrm>
          <a:prstGeom prst="rect">
            <a:avLst/>
          </a:prstGeom>
          <a:noFill/>
          <a:ln/>
        </p:spPr>
        <p:txBody>
          <a:bodyPr wrap="square" lIns="0" tIns="0" rIns="0" bIns="0" rtlCol="0" anchor="t"/>
          <a:lstStyle/>
          <a:p>
            <a:pPr indent="0" marL="0">
              <a:buNone/>
            </a:pPr>
            <a:r>
              <a:rPr lang="en-US" sz="1300" dirty="0">
                <a:solidFill>
                  <a:schemeClr val="tx1"/>
                </a:solidFill>
              </a:rPr>
              <a:t>Next-hour demand and next-day baseload (daily minimum)</a:t>
            </a:r>
            <a:endParaRPr lang="en-US" sz="1300" dirty="0"/>
          </a:p>
        </p:txBody>
      </p:sp>
      <p:sp>
        <p:nvSpPr>
          <p:cNvPr id="27" name="Shape 21"/>
          <p:cNvSpPr/>
          <p:nvPr/>
        </p:nvSpPr>
        <p:spPr>
          <a:xfrm>
            <a:off x="548640" y="4114800"/>
            <a:ext cx="11094415" cy="1828800"/>
          </a:xfrm>
          <a:prstGeom prst="roundRect">
            <a:avLst>
              <a:gd name="adj" fmla="val 6000"/>
            </a:avLst>
          </a:prstGeom>
          <a:solidFill>
            <a:schemeClr val="tx2"/>
          </a:solidFill>
          <a:ln w="12700">
            <a:solidFill>
              <a:schemeClr val="tx2"/>
            </a:solidFill>
            <a:prstDash val="solid"/>
          </a:ln>
        </p:spPr>
      </p:sp>
      <p:sp>
        <p:nvSpPr>
          <p:cNvPr id="28" name="netload-circle"/>
          <p:cNvSpPr/>
          <p:nvPr/>
        </p:nvSpPr>
        <p:spPr>
          <a:xfrm>
            <a:off x="822960" y="4343400"/>
            <a:ext cx="731520" cy="731520"/>
          </a:xfrm>
          <a:prstGeom prst="ellipse">
            <a:avLst/>
          </a:prstGeom>
          <a:solidFill>
            <a:srgbClr val="F2A541"/>
          </a:solidFill>
          <a:ln w="12700">
            <a:solidFill>
              <a:srgbClr val="F2A541"/>
            </a:solidFill>
            <a:prstDash val="solid"/>
          </a:ln>
        </p:spPr>
      </p:sp>
      <p:pic>
        <p:nvPicPr>
          <p:cNvPr id="29" name="netload-icon" descr="preencoded.png">    </p:cNvPr>
          <p:cNvPicPr>
            <a:picLocks noChangeAspect="1"/>
          </p:cNvPicPr>
          <p:nvPr/>
        </p:nvPicPr>
        <p:blipFill>
          <a:blip r:embed="rId5"/>
          <a:stretch>
            <a:fillRect/>
          </a:stretch>
        </p:blipFill>
        <p:spPr>
          <a:xfrm>
            <a:off x="998525" y="4518965"/>
            <a:ext cx="380390" cy="380390"/>
          </a:xfrm>
          <a:prstGeom prst="rect">
            <a:avLst/>
          </a:prstGeom>
        </p:spPr>
      </p:pic>
      <p:sp>
        <p:nvSpPr>
          <p:cNvPr id="30" name="Text 23"/>
          <p:cNvSpPr txBox="1"/>
          <p:nvPr/>
        </p:nvSpPr>
        <p:spPr>
          <a:xfrm>
            <a:off x="1828800" y="4206240"/>
            <a:ext cx="9539935" cy="1645920"/>
          </a:xfrm>
          <a:prstGeom prst="rect">
            <a:avLst/>
          </a:prstGeom>
          <a:noFill/>
          <a:ln/>
        </p:spPr>
        <p:txBody>
          <a:bodyPr wrap="square" lIns="0" tIns="0" rIns="0" bIns="0" rtlCol="0" anchor="ctr"/>
          <a:lstStyle/>
          <a:p>
            <a:pPr indent="0" marL="0">
              <a:buNone/>
            </a:pPr>
            <a:r>
              <a:rPr lang="en-US" sz="1800" b="1" dirty="0">
                <a:solidFill>
                  <a:schemeClr val="accent1"/>
                </a:solidFill>
              </a:rPr>
              <a:t>5 · Scenario layer: live supply-demand view</a:t>
            </a:r>
            <a:endParaRPr lang="en-US" sz="1800" dirty="0"/>
          </a:p>
          <a:p>
            <a:pPr indent="0" marL="0">
              <a:buNone/>
            </a:pPr>
            <a:r>
              <a:rPr lang="en-US" sz="1600" b="1" dirty="0">
                <a:solidFill>
                  <a:schemeClr val="bg1"/>
                </a:solidFill>
              </a:rPr>
              <a:t>Net load = forecast demand − solar farm − wind farm + EV fleet charging</a:t>
            </a:r>
            <a:endParaRPr lang="en-US" sz="1800" dirty="0"/>
          </a:p>
          <a:p>
            <a:pPr indent="0" marL="0">
              <a:buNone/>
            </a:pPr>
            <a:r>
              <a:rPr lang="en-US" sz="1300" dirty="0">
                <a:solidFill>
                  <a:schemeClr val="bg2"/>
                </a:solidFill>
              </a:rPr>
              <a:t>Solar and wind come from weather forecasts through physical models; EV charging from workday and holiday schedules. The result shows, hour by hour, how much dispatchable supply is needed and when flexible EV charging can be shifted.</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Data: real where possible, assumed where not</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Victor</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91840"/>
                <a:gridCol w="4480560"/>
                <a:gridCol w="1737360"/>
                <a:gridCol w="1581912"/>
              </a:tblGrid>
              <a:tr h="475488">
                <a:tc>
                  <a:txBody>
                    <a:bodyPr/>
                    <a:lstStyle/>
                    <a:p>
                      <a:pPr indent="0" marL="0">
                        <a:buNone/>
                      </a:pPr>
                      <a:r>
                        <a:rPr lang="en-US" sz="1300" b="1" dirty="0">
                          <a:solidFill>
                            <a:srgbClr val="FFFFFF"/>
                          </a:solidFill>
                        </a:rPr>
                        <a:t>Component</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300" b="1" dirty="0">
                          <a:solidFill>
                            <a:srgbClr val="FFFFFF"/>
                          </a:solidFill>
                        </a:rPr>
                        <a:t>Source</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300" b="1" dirty="0">
                          <a:solidFill>
                            <a:srgbClr val="FFFFFF"/>
                          </a:solidFill>
                        </a:rPr>
                        <a:t>Resolution</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c>
                  <a:txBody>
                    <a:bodyPr/>
                    <a:lstStyle/>
                    <a:p>
                      <a:pPr indent="0" marL="0">
                        <a:buNone/>
                      </a:pPr>
                      <a:r>
                        <a:rPr lang="en-US" sz="1300" b="1" dirty="0">
                          <a:solidFill>
                            <a:srgbClr val="FFFFFF"/>
                          </a:solidFill>
                        </a:rPr>
                        <a:t>Type</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0F3B3F"/>
                    </a:solidFill>
                  </a:tcPr>
                </a:tc>
              </a:tr>
              <a:tr h="475488">
                <a:tc>
                  <a:txBody>
                    <a:bodyPr/>
                    <a:lstStyle/>
                    <a:p>
                      <a:pPr indent="0" marL="0">
                        <a:buNone/>
                      </a:pPr>
                      <a:r>
                        <a:rPr lang="en-US" sz="1300" dirty="0">
                          <a:solidFill>
                            <a:srgbClr val="1B2A2F"/>
                          </a:solidFill>
                        </a:rPr>
                        <a:t>Ottawa-zone electricity demand (target)</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IESO Hourly Zonal Demand Report, Ottawa zone [5]</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 2020–2025</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F3B3F"/>
                          </a:solidFill>
                        </a:rPr>
                        <a:t>REAL</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8FB996"/>
                    </a:solidFill>
                  </a:tcPr>
                </a:tc>
              </a:tr>
              <a:tr h="475488">
                <a:tc>
                  <a:txBody>
                    <a:bodyPr/>
                    <a:lstStyle/>
                    <a:p>
                      <a:pPr indent="0" marL="0">
                        <a:buNone/>
                      </a:pPr>
                      <a:r>
                        <a:rPr lang="en-US" sz="1300" dirty="0">
                          <a:solidFill>
                            <a:srgbClr val="1B2A2F"/>
                          </a:solidFill>
                        </a:rPr>
                        <a:t>Temperature, humidity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ECCC historical climate data, Ottawa station [6]</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F3B3F"/>
                          </a:solidFill>
                        </a:rPr>
                        <a:t>REAL</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8FB996"/>
                    </a:solidFill>
                  </a:tcPr>
                </a:tc>
              </a:tr>
              <a:tr h="475488">
                <a:tc>
                  <a:txBody>
                    <a:bodyPr/>
                    <a:lstStyle/>
                    <a:p>
                      <a:pPr indent="0" marL="0">
                        <a:buNone/>
                      </a:pPr>
                      <a:r>
                        <a:rPr lang="en-US" sz="1300" dirty="0">
                          <a:solidFill>
                            <a:srgbClr val="1B2A2F"/>
                          </a:solidFill>
                        </a:rPr>
                        <a:t>Solar irradiance, 100 m wind speed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Open-Meteo historical weather API [7]</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F3B3F"/>
                          </a:solidFill>
                        </a:rPr>
                        <a:t>REAL</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8FB996"/>
                    </a:solidFill>
                  </a:tcPr>
                </a:tc>
              </a:tr>
              <a:tr h="475488">
                <a:tc>
                  <a:txBody>
                    <a:bodyPr/>
                    <a:lstStyle/>
                    <a:p>
                      <a:pPr indent="0" marL="0">
                        <a:buNone/>
                      </a:pPr>
                      <a:r>
                        <a:rPr lang="en-US" sz="1300" dirty="0">
                          <a:solidFill>
                            <a:srgbClr val="1B2A2F"/>
                          </a:solidFill>
                        </a:rPr>
                        <a:t>Holidays, workdays</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Ontario statutory holiday calendar</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Daily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F3B3F"/>
                          </a:solidFill>
                        </a:rPr>
                        <a:t>REAL</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8FB996"/>
                    </a:solidFill>
                  </a:tcPr>
                </a:tc>
              </a:tr>
              <a:tr h="475488">
                <a:tc>
                  <a:txBody>
                    <a:bodyPr/>
                    <a:lstStyle/>
                    <a:p>
                      <a:pPr indent="0" marL="0">
                        <a:buNone/>
                      </a:pPr>
                      <a:r>
                        <a:rPr lang="en-US" sz="1300" dirty="0">
                          <a:solidFill>
                            <a:srgbClr val="1B2A2F"/>
                          </a:solidFill>
                        </a:rPr>
                        <a:t>Solar farm output</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pvlib PV model [8] driven by real irradiance</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A2F"/>
                          </a:solidFill>
                        </a:rPr>
                        <a:t>ASSUMED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2A541"/>
                    </a:solidFill>
                  </a:tcPr>
                </a:tc>
              </a:tr>
              <a:tr h="475488">
                <a:tc>
                  <a:txBody>
                    <a:bodyPr/>
                    <a:lstStyle/>
                    <a:p>
                      <a:pPr indent="0" marL="0">
                        <a:buNone/>
                      </a:pPr>
                      <a:r>
                        <a:rPr lang="en-US" sz="1300" dirty="0">
                          <a:solidFill>
                            <a:srgbClr val="1B2A2F"/>
                          </a:solidFill>
                        </a:rPr>
                        <a:t>Wind farm output</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Generic turbine power curve driven by real wind speed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A2F"/>
                          </a:solidFill>
                        </a:rPr>
                        <a:t>ASSUMED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2A541"/>
                    </a:solidFill>
                  </a:tcPr>
                </a:tc>
              </a:tr>
              <a:tr h="475488">
                <a:tc>
                  <a:txBody>
                    <a:bodyPr/>
                    <a:lstStyle/>
                    <a:p>
                      <a:pPr indent="0" marL="0">
                        <a:buNone/>
                      </a:pPr>
                      <a:r>
                        <a:rPr lang="en-US" sz="1300" dirty="0">
                          <a:solidFill>
                            <a:srgbClr val="1B2A2F"/>
                          </a:solidFill>
                        </a:rPr>
                        <a:t>Residential vs. industrial split, EV fleet load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Calendar-based profiles (next slide)</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indent="0" marL="0">
                        <a:buNone/>
                      </a:pPr>
                      <a:r>
                        <a:rPr lang="en-US" sz="1300" dirty="0">
                          <a:solidFill>
                            <a:srgbClr val="1B2A2F"/>
                          </a:solidFill>
                        </a:rPr>
                        <a:t>Hourly</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A2F"/>
                          </a:solidFill>
                        </a:rPr>
                        <a:t>ASSUMED</a:t>
                      </a:r>
                      <a:endParaRPr lang="en-US" sz="1300" dirty="0"/>
                    </a:p>
                  </a:txBody>
                  <a:tcPr marL="91440" marR="91440" marT="36576" marB="36576" anchor="ctr">
                    <a:lnL w="6350" cap="flat" cmpd="sng" algn="ctr">
                      <a:solidFill>
                        <a:srgbClr val="D9E2E1"/>
                      </a:solidFill>
                      <a:prstDash val="solid"/>
                      <a:round/>
                      <a:headEnd type="none" w="med" len="med"/>
                      <a:tailEnd type="none" w="med" len="med"/>
                    </a:lnL>
                    <a:lnR w="6350" cap="flat" cmpd="sng" algn="ctr">
                      <a:solidFill>
                        <a:srgbClr val="D9E2E1"/>
                      </a:solidFill>
                      <a:prstDash val="solid"/>
                      <a:round/>
                      <a:headEnd type="none" w="med" len="med"/>
                      <a:tailEnd type="none" w="med" len="med"/>
                    </a:lnR>
                    <a:lnT w="6350" cap="flat" cmpd="sng" algn="ctr">
                      <a:solidFill>
                        <a:srgbClr val="D9E2E1"/>
                      </a:solidFill>
                      <a:prstDash val="solid"/>
                      <a:round/>
                      <a:headEnd type="none" w="med" len="med"/>
                      <a:tailEnd type="none" w="med" len="med"/>
                    </a:lnT>
                    <a:lnB w="6350" cap="flat" cmpd="sng" algn="ctr">
                      <a:solidFill>
                        <a:srgbClr val="D9E2E1"/>
                      </a:solidFill>
                      <a:prstDash val="solid"/>
                      <a:round/>
                      <a:headEnd type="none" w="med" len="med"/>
                      <a:tailEnd type="none" w="med" len="med"/>
                    </a:lnB>
                    <a:solidFill>
                      <a:srgbClr val="F2A541"/>
                    </a:solidFill>
                  </a:tcPr>
                </a:tc>
              </a:tr>
            </a:tbl>
          </a:graphicData>
        </a:graphic>
      </p:graphicFrame>
      <p:sp>
        <p:nvSpPr>
          <p:cNvPr id="5" name="Text 2"/>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400" i="1" dirty="0">
                <a:solidFill>
                  <a:schemeClr val="tx2"/>
                </a:solidFill>
              </a:rPr>
              <a:t>Split: train 2020–2023 · validate 2024 · test 2025 (chronological, no shuffling, so no future data leaks into training).</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Scenario assumptions: explicit and adjustable</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Kshitij</a:t>
            </a:r>
            <a:endParaRPr lang="en-US" sz="1400" dirty="0"/>
          </a:p>
        </p:txBody>
      </p:sp>
      <p:sp>
        <p:nvSpPr>
          <p:cNvPr id="4" name="Shape 2"/>
          <p:cNvSpPr/>
          <p:nvPr/>
        </p:nvSpPr>
        <p:spPr>
          <a:xfrm>
            <a:off x="548640" y="1280160"/>
            <a:ext cx="3511296" cy="2240280"/>
          </a:xfrm>
          <a:prstGeom prst="roundRect">
            <a:avLst>
              <a:gd name="adj" fmla="val 4898"/>
            </a:avLst>
          </a:prstGeom>
          <a:solidFill>
            <a:schemeClr val="bg2"/>
          </a:solidFill>
          <a:ln w="12700">
            <a:solidFill>
              <a:schemeClr val="bg2"/>
            </a:solidFill>
            <a:prstDash val="solid"/>
          </a:ln>
        </p:spPr>
      </p:sp>
      <p:sp>
        <p:nvSpPr>
          <p:cNvPr id="5" name="asm0-circle"/>
          <p:cNvSpPr/>
          <p:nvPr/>
        </p:nvSpPr>
        <p:spPr>
          <a:xfrm>
            <a:off x="777240" y="1508760"/>
            <a:ext cx="594360" cy="594360"/>
          </a:xfrm>
          <a:prstGeom prst="ellipse">
            <a:avLst/>
          </a:prstGeom>
          <a:solidFill>
            <a:srgbClr val="2D8C8C"/>
          </a:solidFill>
          <a:ln w="12700">
            <a:solidFill>
              <a:srgbClr val="2D8C8C"/>
            </a:solidFill>
            <a:prstDash val="solid"/>
          </a:ln>
        </p:spPr>
      </p:sp>
      <p:pic>
        <p:nvPicPr>
          <p:cNvPr id="6" name="asm0-icon" descr="preencoded.png">    </p:cNvPr>
          <p:cNvPicPr>
            <a:picLocks noChangeAspect="1"/>
          </p:cNvPicPr>
          <p:nvPr/>
        </p:nvPicPr>
        <p:blipFill>
          <a:blip r:embed="rId1"/>
          <a:stretch>
            <a:fillRect/>
          </a:stretch>
        </p:blipFill>
        <p:spPr>
          <a:xfrm>
            <a:off x="919886" y="1651406"/>
            <a:ext cx="309067" cy="309067"/>
          </a:xfrm>
          <a:prstGeom prst="rect">
            <a:avLst/>
          </a:prstGeom>
        </p:spPr>
      </p:pic>
      <p:sp>
        <p:nvSpPr>
          <p:cNvPr id="7" name="Text 4"/>
          <p:cNvSpPr txBox="1"/>
          <p:nvPr/>
        </p:nvSpPr>
        <p:spPr>
          <a:xfrm>
            <a:off x="1508760" y="15087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Solar farm</a:t>
            </a:r>
            <a:endParaRPr lang="en-US" sz="1700" dirty="0"/>
          </a:p>
        </p:txBody>
      </p:sp>
      <p:sp>
        <p:nvSpPr>
          <p:cNvPr id="8" name="Text 5"/>
          <p:cNvSpPr txBox="1"/>
          <p:nvPr/>
        </p:nvSpPr>
        <p:spPr>
          <a:xfrm>
            <a:off x="777240" y="2194560"/>
            <a:ext cx="3054096" cy="1188720"/>
          </a:xfrm>
          <a:prstGeom prst="rect">
            <a:avLst/>
          </a:prstGeom>
          <a:noFill/>
          <a:ln/>
        </p:spPr>
        <p:txBody>
          <a:bodyPr wrap="square" lIns="0" tIns="0" rIns="0" bIns="0" rtlCol="0" anchor="t"/>
          <a:lstStyle/>
          <a:p>
            <a:pPr indent="0" marL="0">
              <a:buNone/>
            </a:pPr>
            <a:r>
              <a:rPr lang="en-US" sz="1300" dirty="0">
                <a:solidFill>
                  <a:schemeClr val="tx1"/>
                </a:solidFill>
              </a:rPr>
              <a:t>10 MW AC fixed-tilt array near Ottawa. Output from real irradiance and temperature through pvlib; zero at night, low under winter snow.</a:t>
            </a:r>
            <a:endParaRPr lang="en-US" sz="1300" dirty="0"/>
          </a:p>
        </p:txBody>
      </p:sp>
      <p:sp>
        <p:nvSpPr>
          <p:cNvPr id="9" name="Shape 6"/>
          <p:cNvSpPr/>
          <p:nvPr/>
        </p:nvSpPr>
        <p:spPr>
          <a:xfrm>
            <a:off x="4334256" y="1280160"/>
            <a:ext cx="3511296" cy="2240280"/>
          </a:xfrm>
          <a:prstGeom prst="roundRect">
            <a:avLst>
              <a:gd name="adj" fmla="val 4898"/>
            </a:avLst>
          </a:prstGeom>
          <a:solidFill>
            <a:schemeClr val="bg2"/>
          </a:solidFill>
          <a:ln w="12700">
            <a:solidFill>
              <a:schemeClr val="bg2"/>
            </a:solidFill>
            <a:prstDash val="solid"/>
          </a:ln>
        </p:spPr>
      </p:sp>
      <p:sp>
        <p:nvSpPr>
          <p:cNvPr id="10" name="asm1-circle"/>
          <p:cNvSpPr/>
          <p:nvPr/>
        </p:nvSpPr>
        <p:spPr>
          <a:xfrm>
            <a:off x="4562856" y="1508760"/>
            <a:ext cx="594360" cy="594360"/>
          </a:xfrm>
          <a:prstGeom prst="ellipse">
            <a:avLst/>
          </a:prstGeom>
          <a:solidFill>
            <a:srgbClr val="2D8C8C"/>
          </a:solidFill>
          <a:ln w="12700">
            <a:solidFill>
              <a:srgbClr val="2D8C8C"/>
            </a:solidFill>
            <a:prstDash val="solid"/>
          </a:ln>
        </p:spPr>
      </p:sp>
      <p:pic>
        <p:nvPicPr>
          <p:cNvPr id="11" name="asm1-icon" descr="preencoded.png">    </p:cNvPr>
          <p:cNvPicPr>
            <a:picLocks noChangeAspect="1"/>
          </p:cNvPicPr>
          <p:nvPr/>
        </p:nvPicPr>
        <p:blipFill>
          <a:blip r:embed="rId2"/>
          <a:stretch>
            <a:fillRect/>
          </a:stretch>
        </p:blipFill>
        <p:spPr>
          <a:xfrm>
            <a:off x="4705502" y="1651406"/>
            <a:ext cx="309067" cy="309067"/>
          </a:xfrm>
          <a:prstGeom prst="rect">
            <a:avLst/>
          </a:prstGeom>
        </p:spPr>
      </p:pic>
      <p:sp>
        <p:nvSpPr>
          <p:cNvPr id="12" name="Text 8"/>
          <p:cNvSpPr txBox="1"/>
          <p:nvPr/>
        </p:nvSpPr>
        <p:spPr>
          <a:xfrm>
            <a:off x="5294376" y="15087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Wind farm</a:t>
            </a:r>
            <a:endParaRPr lang="en-US" sz="1700" dirty="0"/>
          </a:p>
        </p:txBody>
      </p:sp>
      <p:sp>
        <p:nvSpPr>
          <p:cNvPr id="13" name="Text 9"/>
          <p:cNvSpPr txBox="1"/>
          <p:nvPr/>
        </p:nvSpPr>
        <p:spPr>
          <a:xfrm>
            <a:off x="4562856" y="2194560"/>
            <a:ext cx="3054096" cy="1188720"/>
          </a:xfrm>
          <a:prstGeom prst="rect">
            <a:avLst/>
          </a:prstGeom>
          <a:noFill/>
          <a:ln/>
        </p:spPr>
        <p:txBody>
          <a:bodyPr wrap="square" lIns="0" tIns="0" rIns="0" bIns="0" rtlCol="0" anchor="t"/>
          <a:lstStyle/>
          <a:p>
            <a:pPr indent="0" marL="0">
              <a:buNone/>
            </a:pPr>
            <a:r>
              <a:rPr lang="en-US" sz="1300" dirty="0">
                <a:solidFill>
                  <a:schemeClr val="tx1"/>
                </a:solidFill>
              </a:rPr>
              <a:t>20 MW (e.g. 6 × 3.3 MW). Power curve: cut-in 3 m/s, rated 12 m/s, cut-out 25 m/s, from 100 m forecast wind speed.</a:t>
            </a:r>
            <a:endParaRPr lang="en-US" sz="1300" dirty="0"/>
          </a:p>
        </p:txBody>
      </p:sp>
      <p:sp>
        <p:nvSpPr>
          <p:cNvPr id="14" name="Shape 10"/>
          <p:cNvSpPr/>
          <p:nvPr/>
        </p:nvSpPr>
        <p:spPr>
          <a:xfrm>
            <a:off x="8119872" y="1280160"/>
            <a:ext cx="3511296" cy="2240280"/>
          </a:xfrm>
          <a:prstGeom prst="roundRect">
            <a:avLst>
              <a:gd name="adj" fmla="val 4898"/>
            </a:avLst>
          </a:prstGeom>
          <a:solidFill>
            <a:schemeClr val="bg2"/>
          </a:solidFill>
          <a:ln w="12700">
            <a:solidFill>
              <a:schemeClr val="bg2"/>
            </a:solidFill>
            <a:prstDash val="solid"/>
          </a:ln>
        </p:spPr>
      </p:sp>
      <p:sp>
        <p:nvSpPr>
          <p:cNvPr id="15" name="asm2-circle"/>
          <p:cNvSpPr/>
          <p:nvPr/>
        </p:nvSpPr>
        <p:spPr>
          <a:xfrm>
            <a:off x="8348472" y="1508760"/>
            <a:ext cx="594360" cy="594360"/>
          </a:xfrm>
          <a:prstGeom prst="ellipse">
            <a:avLst/>
          </a:prstGeom>
          <a:solidFill>
            <a:srgbClr val="2D8C8C"/>
          </a:solidFill>
          <a:ln w="12700">
            <a:solidFill>
              <a:srgbClr val="2D8C8C"/>
            </a:solidFill>
            <a:prstDash val="solid"/>
          </a:ln>
        </p:spPr>
      </p:sp>
      <p:pic>
        <p:nvPicPr>
          <p:cNvPr id="16" name="asm2-icon" descr="preencoded.png">    </p:cNvPr>
          <p:cNvPicPr>
            <a:picLocks noChangeAspect="1"/>
          </p:cNvPicPr>
          <p:nvPr/>
        </p:nvPicPr>
        <p:blipFill>
          <a:blip r:embed="rId3"/>
          <a:stretch>
            <a:fillRect/>
          </a:stretch>
        </p:blipFill>
        <p:spPr>
          <a:xfrm>
            <a:off x="8491118" y="1651406"/>
            <a:ext cx="309067" cy="309067"/>
          </a:xfrm>
          <a:prstGeom prst="rect">
            <a:avLst/>
          </a:prstGeom>
        </p:spPr>
      </p:pic>
      <p:sp>
        <p:nvSpPr>
          <p:cNvPr id="17" name="Text 12"/>
          <p:cNvSpPr txBox="1"/>
          <p:nvPr/>
        </p:nvSpPr>
        <p:spPr>
          <a:xfrm>
            <a:off x="9079992" y="15087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Residential</a:t>
            </a:r>
            <a:endParaRPr lang="en-US" sz="1700" dirty="0"/>
          </a:p>
        </p:txBody>
      </p:sp>
      <p:sp>
        <p:nvSpPr>
          <p:cNvPr id="18" name="Text 13"/>
          <p:cNvSpPr txBox="1"/>
          <p:nvPr/>
        </p:nvSpPr>
        <p:spPr>
          <a:xfrm>
            <a:off x="8348472" y="2194560"/>
            <a:ext cx="3054096" cy="1188720"/>
          </a:xfrm>
          <a:prstGeom prst="rect">
            <a:avLst/>
          </a:prstGeom>
          <a:noFill/>
          <a:ln/>
        </p:spPr>
        <p:txBody>
          <a:bodyPr wrap="square" lIns="0" tIns="0" rIns="0" bIns="0" rtlCol="0" anchor="t"/>
          <a:lstStyle/>
          <a:p>
            <a:pPr indent="0" marL="0">
              <a:buNone/>
            </a:pPr>
            <a:r>
              <a:rPr lang="en-US" sz="1300" dirty="0">
                <a:solidFill>
                  <a:schemeClr val="tx1"/>
                </a:solidFill>
              </a:rPr>
              <a:t>Follows temperature (heating and cooling degree-hours). Morning and evening peaks; higher on weekends and holidays.</a:t>
            </a:r>
            <a:endParaRPr lang="en-US" sz="1300" dirty="0"/>
          </a:p>
        </p:txBody>
      </p:sp>
      <p:sp>
        <p:nvSpPr>
          <p:cNvPr id="19" name="Shape 14"/>
          <p:cNvSpPr/>
          <p:nvPr/>
        </p:nvSpPr>
        <p:spPr>
          <a:xfrm>
            <a:off x="548640" y="3794760"/>
            <a:ext cx="3511296" cy="2240280"/>
          </a:xfrm>
          <a:prstGeom prst="roundRect">
            <a:avLst>
              <a:gd name="adj" fmla="val 4898"/>
            </a:avLst>
          </a:prstGeom>
          <a:solidFill>
            <a:schemeClr val="bg2"/>
          </a:solidFill>
          <a:ln w="12700">
            <a:solidFill>
              <a:schemeClr val="bg2"/>
            </a:solidFill>
            <a:prstDash val="solid"/>
          </a:ln>
        </p:spPr>
      </p:sp>
      <p:sp>
        <p:nvSpPr>
          <p:cNvPr id="20" name="asm3-circle"/>
          <p:cNvSpPr/>
          <p:nvPr/>
        </p:nvSpPr>
        <p:spPr>
          <a:xfrm>
            <a:off x="777240" y="4023360"/>
            <a:ext cx="594360" cy="594360"/>
          </a:xfrm>
          <a:prstGeom prst="ellipse">
            <a:avLst/>
          </a:prstGeom>
          <a:solidFill>
            <a:srgbClr val="2D8C8C"/>
          </a:solidFill>
          <a:ln w="12700">
            <a:solidFill>
              <a:srgbClr val="2D8C8C"/>
            </a:solidFill>
            <a:prstDash val="solid"/>
          </a:ln>
        </p:spPr>
      </p:sp>
      <p:pic>
        <p:nvPicPr>
          <p:cNvPr id="21" name="asm3-icon" descr="preencoded.png">    </p:cNvPr>
          <p:cNvPicPr>
            <a:picLocks noChangeAspect="1"/>
          </p:cNvPicPr>
          <p:nvPr/>
        </p:nvPicPr>
        <p:blipFill>
          <a:blip r:embed="rId4"/>
          <a:stretch>
            <a:fillRect/>
          </a:stretch>
        </p:blipFill>
        <p:spPr>
          <a:xfrm>
            <a:off x="919886" y="4166006"/>
            <a:ext cx="309067" cy="309067"/>
          </a:xfrm>
          <a:prstGeom prst="rect">
            <a:avLst/>
          </a:prstGeom>
        </p:spPr>
      </p:pic>
      <p:sp>
        <p:nvSpPr>
          <p:cNvPr id="22" name="Text 16"/>
          <p:cNvSpPr txBox="1"/>
          <p:nvPr/>
        </p:nvSpPr>
        <p:spPr>
          <a:xfrm>
            <a:off x="1508760" y="40233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Industrial / commercial</a:t>
            </a:r>
            <a:endParaRPr lang="en-US" sz="1700" dirty="0"/>
          </a:p>
        </p:txBody>
      </p:sp>
      <p:sp>
        <p:nvSpPr>
          <p:cNvPr id="23" name="Text 17"/>
          <p:cNvSpPr txBox="1"/>
          <p:nvPr/>
        </p:nvSpPr>
        <p:spPr>
          <a:xfrm>
            <a:off x="777240" y="4709160"/>
            <a:ext cx="3054096" cy="1188720"/>
          </a:xfrm>
          <a:prstGeom prst="rect">
            <a:avLst/>
          </a:prstGeom>
          <a:noFill/>
          <a:ln/>
        </p:spPr>
        <p:txBody>
          <a:bodyPr wrap="square" lIns="0" tIns="0" rIns="0" bIns="0" rtlCol="0" anchor="t"/>
          <a:lstStyle/>
          <a:p>
            <a:pPr indent="0" marL="0">
              <a:buNone/>
            </a:pPr>
            <a:r>
              <a:rPr lang="en-US" sz="1300" dirty="0">
                <a:solidFill>
                  <a:schemeClr val="tx1"/>
                </a:solidFill>
              </a:rPr>
              <a:t>Flat daytime block on workdays, reduced on weekends and statutory holidays, minimal overnight.</a:t>
            </a:r>
            <a:endParaRPr lang="en-US" sz="1300" dirty="0"/>
          </a:p>
        </p:txBody>
      </p:sp>
      <p:sp>
        <p:nvSpPr>
          <p:cNvPr id="24" name="Shape 18"/>
          <p:cNvSpPr/>
          <p:nvPr/>
        </p:nvSpPr>
        <p:spPr>
          <a:xfrm>
            <a:off x="4334256" y="3794760"/>
            <a:ext cx="3511296" cy="2240280"/>
          </a:xfrm>
          <a:prstGeom prst="roundRect">
            <a:avLst>
              <a:gd name="adj" fmla="val 4898"/>
            </a:avLst>
          </a:prstGeom>
          <a:solidFill>
            <a:schemeClr val="bg2"/>
          </a:solidFill>
          <a:ln w="12700">
            <a:solidFill>
              <a:schemeClr val="bg2"/>
            </a:solidFill>
            <a:prstDash val="solid"/>
          </a:ln>
        </p:spPr>
      </p:sp>
      <p:sp>
        <p:nvSpPr>
          <p:cNvPr id="25" name="asm4-circle"/>
          <p:cNvSpPr/>
          <p:nvPr/>
        </p:nvSpPr>
        <p:spPr>
          <a:xfrm>
            <a:off x="4562856" y="4023360"/>
            <a:ext cx="594360" cy="594360"/>
          </a:xfrm>
          <a:prstGeom prst="ellipse">
            <a:avLst/>
          </a:prstGeom>
          <a:solidFill>
            <a:srgbClr val="2D8C8C"/>
          </a:solidFill>
          <a:ln w="12700">
            <a:solidFill>
              <a:srgbClr val="2D8C8C"/>
            </a:solidFill>
            <a:prstDash val="solid"/>
          </a:ln>
        </p:spPr>
      </p:sp>
      <p:pic>
        <p:nvPicPr>
          <p:cNvPr id="26" name="asm4-icon" descr="preencoded.png">    </p:cNvPr>
          <p:cNvPicPr>
            <a:picLocks noChangeAspect="1"/>
          </p:cNvPicPr>
          <p:nvPr/>
        </p:nvPicPr>
        <p:blipFill>
          <a:blip r:embed="rId5"/>
          <a:stretch>
            <a:fillRect/>
          </a:stretch>
        </p:blipFill>
        <p:spPr>
          <a:xfrm>
            <a:off x="4705502" y="4166006"/>
            <a:ext cx="309067" cy="309067"/>
          </a:xfrm>
          <a:prstGeom prst="rect">
            <a:avLst/>
          </a:prstGeom>
        </p:spPr>
      </p:pic>
      <p:sp>
        <p:nvSpPr>
          <p:cNvPr id="27" name="Text 20"/>
          <p:cNvSpPr txBox="1"/>
          <p:nvPr/>
        </p:nvSpPr>
        <p:spPr>
          <a:xfrm>
            <a:off x="5294376" y="40233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EV fleet</a:t>
            </a:r>
            <a:endParaRPr lang="en-US" sz="1700" dirty="0"/>
          </a:p>
        </p:txBody>
      </p:sp>
      <p:sp>
        <p:nvSpPr>
          <p:cNvPr id="28" name="Text 21"/>
          <p:cNvSpPr txBox="1"/>
          <p:nvPr/>
        </p:nvSpPr>
        <p:spPr>
          <a:xfrm>
            <a:off x="4562856" y="4709160"/>
            <a:ext cx="3054096" cy="1188720"/>
          </a:xfrm>
          <a:prstGeom prst="rect">
            <a:avLst/>
          </a:prstGeom>
          <a:noFill/>
          <a:ln/>
        </p:spPr>
        <p:txBody>
          <a:bodyPr wrap="square" lIns="0" tIns="0" rIns="0" bIns="0" rtlCol="0" anchor="t"/>
          <a:lstStyle/>
          <a:p>
            <a:pPr indent="0" marL="0">
              <a:buNone/>
            </a:pPr>
            <a:r>
              <a:rPr lang="en-US" sz="1300" dirty="0">
                <a:solidFill>
                  <a:schemeClr val="tx1"/>
                </a:solidFill>
              </a:rPr>
              <a:t>300 fleet vehicles, ~60 kWh each per workday, charged overnight (22:00–06:00); ~30% of that on holidays.</a:t>
            </a:r>
            <a:endParaRPr lang="en-US" sz="1300" dirty="0"/>
          </a:p>
        </p:txBody>
      </p:sp>
      <p:sp>
        <p:nvSpPr>
          <p:cNvPr id="29" name="Shape 22"/>
          <p:cNvSpPr/>
          <p:nvPr/>
        </p:nvSpPr>
        <p:spPr>
          <a:xfrm>
            <a:off x="8119872" y="3794760"/>
            <a:ext cx="3511296" cy="2240280"/>
          </a:xfrm>
          <a:prstGeom prst="roundRect">
            <a:avLst>
              <a:gd name="adj" fmla="val 4898"/>
            </a:avLst>
          </a:prstGeom>
          <a:solidFill>
            <a:schemeClr val="bg2"/>
          </a:solidFill>
          <a:ln w="12700">
            <a:solidFill>
              <a:schemeClr val="bg2"/>
            </a:solidFill>
            <a:prstDash val="solid"/>
          </a:ln>
        </p:spPr>
      </p:sp>
      <p:sp>
        <p:nvSpPr>
          <p:cNvPr id="30" name="asm5-circle"/>
          <p:cNvSpPr/>
          <p:nvPr/>
        </p:nvSpPr>
        <p:spPr>
          <a:xfrm>
            <a:off x="8348472" y="4023360"/>
            <a:ext cx="594360" cy="594360"/>
          </a:xfrm>
          <a:prstGeom prst="ellipse">
            <a:avLst/>
          </a:prstGeom>
          <a:solidFill>
            <a:srgbClr val="F2A541"/>
          </a:solidFill>
          <a:ln w="12700">
            <a:solidFill>
              <a:srgbClr val="F2A541"/>
            </a:solidFill>
            <a:prstDash val="solid"/>
          </a:ln>
        </p:spPr>
      </p:sp>
      <p:pic>
        <p:nvPicPr>
          <p:cNvPr id="31" name="asm5-icon" descr="preencoded.png">    </p:cNvPr>
          <p:cNvPicPr>
            <a:picLocks noChangeAspect="1"/>
          </p:cNvPicPr>
          <p:nvPr/>
        </p:nvPicPr>
        <p:blipFill>
          <a:blip r:embed="rId6"/>
          <a:stretch>
            <a:fillRect/>
          </a:stretch>
        </p:blipFill>
        <p:spPr>
          <a:xfrm>
            <a:off x="8491118" y="4166006"/>
            <a:ext cx="309067" cy="309067"/>
          </a:xfrm>
          <a:prstGeom prst="rect">
            <a:avLst/>
          </a:prstGeom>
        </p:spPr>
      </p:pic>
      <p:sp>
        <p:nvSpPr>
          <p:cNvPr id="32" name="Text 24"/>
          <p:cNvSpPr txBox="1"/>
          <p:nvPr/>
        </p:nvSpPr>
        <p:spPr>
          <a:xfrm>
            <a:off x="9079992" y="4023360"/>
            <a:ext cx="2322576" cy="594360"/>
          </a:xfrm>
          <a:prstGeom prst="rect">
            <a:avLst/>
          </a:prstGeom>
          <a:noFill/>
          <a:ln/>
        </p:spPr>
        <p:txBody>
          <a:bodyPr wrap="square" lIns="0" tIns="0" rIns="0" bIns="0" rtlCol="0" anchor="ctr"/>
          <a:lstStyle/>
          <a:p>
            <a:pPr indent="0" marL="0">
              <a:buNone/>
            </a:pPr>
            <a:r>
              <a:rPr lang="en-US" sz="1700" b="1" dirty="0">
                <a:solidFill>
                  <a:schemeClr val="tx2"/>
                </a:solidFill>
              </a:rPr>
              <a:t>Calibration</a:t>
            </a:r>
            <a:endParaRPr lang="en-US" sz="1700" dirty="0"/>
          </a:p>
        </p:txBody>
      </p:sp>
      <p:sp>
        <p:nvSpPr>
          <p:cNvPr id="33" name="Text 25"/>
          <p:cNvSpPr txBox="1"/>
          <p:nvPr/>
        </p:nvSpPr>
        <p:spPr>
          <a:xfrm>
            <a:off x="8348472" y="4709160"/>
            <a:ext cx="3054096" cy="1188720"/>
          </a:xfrm>
          <a:prstGeom prst="rect">
            <a:avLst/>
          </a:prstGeom>
          <a:noFill/>
          <a:ln/>
        </p:spPr>
        <p:txBody>
          <a:bodyPr wrap="square" lIns="0" tIns="0" rIns="0" bIns="0" rtlCol="0" anchor="t"/>
          <a:lstStyle/>
          <a:p>
            <a:pPr indent="0" marL="0">
              <a:buNone/>
            </a:pPr>
            <a:r>
              <a:rPr lang="en-US" sz="1300" dirty="0">
                <a:solidFill>
                  <a:schemeClr val="tx1"/>
                </a:solidFill>
              </a:rPr>
              <a:t>Shares are scaled so their sum matches the real IESO Ottawa-zone total. Every parameter is a variable we can stress-test.</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Methodology: models, baselines and evaluation</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Victor</a:t>
            </a:r>
            <a:endParaRPr lang="en-US" sz="1400" dirty="0"/>
          </a:p>
        </p:txBody>
      </p:sp>
      <p:sp>
        <p:nvSpPr>
          <p:cNvPr id="4" name="Shape 2"/>
          <p:cNvSpPr/>
          <p:nvPr/>
        </p:nvSpPr>
        <p:spPr>
          <a:xfrm>
            <a:off x="548640" y="1280160"/>
            <a:ext cx="6035040" cy="868680"/>
          </a:xfrm>
          <a:prstGeom prst="roundRect">
            <a:avLst>
              <a:gd name="adj" fmla="val 12632"/>
            </a:avLst>
          </a:prstGeom>
          <a:solidFill>
            <a:schemeClr val="bg2"/>
          </a:solidFill>
          <a:ln w="12700">
            <a:solidFill>
              <a:schemeClr val="bg2"/>
            </a:solidFill>
            <a:prstDash val="solid"/>
          </a:ln>
        </p:spPr>
      </p:sp>
      <p:sp>
        <p:nvSpPr>
          <p:cNvPr id="5" name="Text 3"/>
          <p:cNvSpPr txBox="1"/>
          <p:nvPr/>
        </p:nvSpPr>
        <p:spPr>
          <a:xfrm>
            <a:off x="777240" y="1325880"/>
            <a:ext cx="5577840" cy="777240"/>
          </a:xfrm>
          <a:prstGeom prst="rect">
            <a:avLst/>
          </a:prstGeom>
          <a:noFill/>
          <a:ln/>
        </p:spPr>
        <p:txBody>
          <a:bodyPr wrap="square" lIns="0" tIns="0" rIns="0" bIns="0" rtlCol="0" anchor="ctr"/>
          <a:lstStyle/>
          <a:p>
            <a:pPr indent="0" marL="0">
              <a:buNone/>
            </a:pPr>
            <a:r>
              <a:rPr lang="en-US" sz="1500" b="1" dirty="0">
                <a:solidFill>
                  <a:srgbClr val="0F3B3F"/>
                </a:solidFill>
              </a:rPr>
              <a:t>Persistence / seasonal naive</a:t>
            </a:r>
            <a:endParaRPr lang="en-US" sz="1500" dirty="0"/>
          </a:p>
          <a:p>
            <a:pPr indent="0" marL="0">
              <a:buNone/>
            </a:pPr>
            <a:r>
              <a:rPr lang="en-US" sz="1300" dirty="0">
                <a:solidFill>
                  <a:srgbClr val="1B2A2F"/>
                </a:solidFill>
              </a:rPr>
              <a:t>Floor every model must beat: demand(t+1) = demand(t), or same hour last week</a:t>
            </a:r>
            <a:endParaRPr lang="en-US" sz="1500" dirty="0"/>
          </a:p>
        </p:txBody>
      </p:sp>
      <p:sp>
        <p:nvSpPr>
          <p:cNvPr id="6" name="Shape 4"/>
          <p:cNvSpPr/>
          <p:nvPr/>
        </p:nvSpPr>
        <p:spPr>
          <a:xfrm>
            <a:off x="548640" y="2267712"/>
            <a:ext cx="6035040" cy="868680"/>
          </a:xfrm>
          <a:prstGeom prst="roundRect">
            <a:avLst>
              <a:gd name="adj" fmla="val 12632"/>
            </a:avLst>
          </a:prstGeom>
          <a:solidFill>
            <a:schemeClr val="bg2"/>
          </a:solidFill>
          <a:ln w="12700">
            <a:solidFill>
              <a:schemeClr val="bg2"/>
            </a:solidFill>
            <a:prstDash val="solid"/>
          </a:ln>
        </p:spPr>
      </p:sp>
      <p:sp>
        <p:nvSpPr>
          <p:cNvPr id="7" name="Text 5"/>
          <p:cNvSpPr txBox="1"/>
          <p:nvPr/>
        </p:nvSpPr>
        <p:spPr>
          <a:xfrm>
            <a:off x="777240" y="2313432"/>
            <a:ext cx="5577840" cy="777240"/>
          </a:xfrm>
          <a:prstGeom prst="rect">
            <a:avLst/>
          </a:prstGeom>
          <a:noFill/>
          <a:ln/>
        </p:spPr>
        <p:txBody>
          <a:bodyPr wrap="square" lIns="0" tIns="0" rIns="0" bIns="0" rtlCol="0" anchor="ctr"/>
          <a:lstStyle/>
          <a:p>
            <a:pPr indent="0" marL="0">
              <a:buNone/>
            </a:pPr>
            <a:r>
              <a:rPr lang="en-US" sz="1500" b="1" dirty="0">
                <a:solidFill>
                  <a:srgbClr val="0F3B3F"/>
                </a:solidFill>
              </a:rPr>
              <a:t>Linear Regression</a:t>
            </a:r>
            <a:endParaRPr lang="en-US" sz="1500" dirty="0"/>
          </a:p>
          <a:p>
            <a:pPr indent="0" marL="0">
              <a:buNone/>
            </a:pPr>
            <a:r>
              <a:rPr lang="en-US" sz="1300" dirty="0">
                <a:solidFill>
                  <a:srgbClr val="1B2A2F"/>
                </a:solidFill>
              </a:rPr>
              <a:t>Interpretable baseline; shows how much is linear in temperature and calendar</a:t>
            </a:r>
            <a:endParaRPr lang="en-US" sz="1500" dirty="0"/>
          </a:p>
        </p:txBody>
      </p:sp>
      <p:sp>
        <p:nvSpPr>
          <p:cNvPr id="8" name="Shape 6"/>
          <p:cNvSpPr/>
          <p:nvPr/>
        </p:nvSpPr>
        <p:spPr>
          <a:xfrm>
            <a:off x="548640" y="3255264"/>
            <a:ext cx="6035040" cy="868680"/>
          </a:xfrm>
          <a:prstGeom prst="roundRect">
            <a:avLst>
              <a:gd name="adj" fmla="val 12632"/>
            </a:avLst>
          </a:prstGeom>
          <a:solidFill>
            <a:schemeClr val="tx2"/>
          </a:solidFill>
          <a:ln w="12700">
            <a:solidFill>
              <a:schemeClr val="tx2"/>
            </a:solidFill>
            <a:prstDash val="solid"/>
          </a:ln>
        </p:spPr>
      </p:sp>
      <p:sp>
        <p:nvSpPr>
          <p:cNvPr id="9" name="Text 7"/>
          <p:cNvSpPr txBox="1"/>
          <p:nvPr/>
        </p:nvSpPr>
        <p:spPr>
          <a:xfrm>
            <a:off x="777240" y="3300984"/>
            <a:ext cx="5577840" cy="777240"/>
          </a:xfrm>
          <a:prstGeom prst="rect">
            <a:avLst/>
          </a:prstGeom>
          <a:noFill/>
          <a:ln/>
        </p:spPr>
        <p:txBody>
          <a:bodyPr wrap="square" lIns="0" tIns="0" rIns="0" bIns="0" rtlCol="0" anchor="ctr"/>
          <a:lstStyle/>
          <a:p>
            <a:pPr indent="0" marL="0">
              <a:buNone/>
            </a:pPr>
            <a:r>
              <a:rPr lang="en-US" sz="1500" b="1" dirty="0">
                <a:solidFill>
                  <a:srgbClr val="F2A541"/>
                </a:solidFill>
              </a:rPr>
              <a:t>Random Forest</a:t>
            </a:r>
            <a:endParaRPr lang="en-US" sz="1500" dirty="0"/>
          </a:p>
          <a:p>
            <a:pPr indent="0" marL="0">
              <a:buNone/>
            </a:pPr>
            <a:r>
              <a:rPr lang="en-US" sz="1300" dirty="0">
                <a:solidFill>
                  <a:srgbClr val="FFFFFF"/>
                </a:solidFill>
              </a:rPr>
              <a:t>Bagged trees [9]; captures the nonlinear (U-shaped) heating/cooling response</a:t>
            </a:r>
            <a:endParaRPr lang="en-US" sz="1500" dirty="0"/>
          </a:p>
        </p:txBody>
      </p:sp>
      <p:sp>
        <p:nvSpPr>
          <p:cNvPr id="10" name="Shape 8"/>
          <p:cNvSpPr/>
          <p:nvPr/>
        </p:nvSpPr>
        <p:spPr>
          <a:xfrm>
            <a:off x="548640" y="4242816"/>
            <a:ext cx="6035040" cy="868680"/>
          </a:xfrm>
          <a:prstGeom prst="roundRect">
            <a:avLst>
              <a:gd name="adj" fmla="val 12632"/>
            </a:avLst>
          </a:prstGeom>
          <a:solidFill>
            <a:schemeClr val="tx2"/>
          </a:solidFill>
          <a:ln w="12700">
            <a:solidFill>
              <a:schemeClr val="tx2"/>
            </a:solidFill>
            <a:prstDash val="solid"/>
          </a:ln>
        </p:spPr>
      </p:sp>
      <p:sp>
        <p:nvSpPr>
          <p:cNvPr id="11" name="Text 9"/>
          <p:cNvSpPr txBox="1"/>
          <p:nvPr/>
        </p:nvSpPr>
        <p:spPr>
          <a:xfrm>
            <a:off x="777240" y="4288536"/>
            <a:ext cx="5577840" cy="777240"/>
          </a:xfrm>
          <a:prstGeom prst="rect">
            <a:avLst/>
          </a:prstGeom>
          <a:noFill/>
          <a:ln/>
        </p:spPr>
        <p:txBody>
          <a:bodyPr wrap="square" lIns="0" tIns="0" rIns="0" bIns="0" rtlCol="0" anchor="ctr"/>
          <a:lstStyle/>
          <a:p>
            <a:pPr indent="0" marL="0">
              <a:buNone/>
            </a:pPr>
            <a:r>
              <a:rPr lang="en-US" sz="1500" b="1" dirty="0">
                <a:solidFill>
                  <a:srgbClr val="F2A541"/>
                </a:solidFill>
              </a:rPr>
              <a:t>XGBoost</a:t>
            </a:r>
            <a:endParaRPr lang="en-US" sz="1500" dirty="0"/>
          </a:p>
          <a:p>
            <a:pPr indent="0" marL="0">
              <a:buNone/>
            </a:pPr>
            <a:r>
              <a:rPr lang="en-US" sz="1300" dirty="0">
                <a:solidFill>
                  <a:srgbClr val="FFFFFF"/>
                </a:solidFill>
              </a:rPr>
              <a:t>Gradient-boosted trees [10]; lowest RMSE of the three models in [1]</a:t>
            </a:r>
            <a:endParaRPr lang="en-US" sz="1500" dirty="0"/>
          </a:p>
        </p:txBody>
      </p:sp>
      <p:sp>
        <p:nvSpPr>
          <p:cNvPr id="12" name="Text 10"/>
          <p:cNvSpPr txBox="1"/>
          <p:nvPr/>
        </p:nvSpPr>
        <p:spPr>
          <a:xfrm>
            <a:off x="548640" y="5303520"/>
            <a:ext cx="6035040" cy="411480"/>
          </a:xfrm>
          <a:prstGeom prst="rect">
            <a:avLst/>
          </a:prstGeom>
          <a:noFill/>
          <a:ln/>
        </p:spPr>
        <p:txBody>
          <a:bodyPr wrap="square" lIns="0" tIns="0" rIns="0" bIns="0" rtlCol="0" anchor="ctr"/>
          <a:lstStyle/>
          <a:p>
            <a:pPr indent="0" marL="0">
              <a:buNone/>
            </a:pPr>
            <a:r>
              <a:rPr lang="en-US" sz="1300" i="1" dirty="0">
                <a:solidFill>
                  <a:schemeClr val="tx2"/>
                </a:solidFill>
              </a:rPr>
              <a:t>Stretch goal: LSTM sequence model [4] if time allows.</a:t>
            </a:r>
            <a:endParaRPr lang="en-US" sz="1300" dirty="0"/>
          </a:p>
        </p:txBody>
      </p:sp>
      <p:sp>
        <p:nvSpPr>
          <p:cNvPr id="13" name="Text 11"/>
          <p:cNvSpPr txBox="1"/>
          <p:nvPr/>
        </p:nvSpPr>
        <p:spPr>
          <a:xfrm>
            <a:off x="6949440" y="1280160"/>
            <a:ext cx="4663440" cy="411480"/>
          </a:xfrm>
          <a:prstGeom prst="rect">
            <a:avLst/>
          </a:prstGeom>
          <a:noFill/>
          <a:ln/>
        </p:spPr>
        <p:txBody>
          <a:bodyPr wrap="square" lIns="0" tIns="0" rIns="0" bIns="0" rtlCol="0" anchor="ctr"/>
          <a:lstStyle/>
          <a:p>
            <a:pPr indent="0" marL="0">
              <a:buNone/>
            </a:pPr>
            <a:r>
              <a:rPr lang="en-US" sz="1700" b="1" dirty="0">
                <a:solidFill>
                  <a:schemeClr val="tx2"/>
                </a:solidFill>
              </a:rPr>
              <a:t>Evaluation on the unseen 2025 test year</a:t>
            </a:r>
            <a:endParaRPr lang="en-US" sz="1700" dirty="0"/>
          </a:p>
        </p:txBody>
      </p:sp>
      <p:sp>
        <p:nvSpPr>
          <p:cNvPr id="14" name="Shape 12"/>
          <p:cNvSpPr/>
          <p:nvPr/>
        </p:nvSpPr>
        <p:spPr>
          <a:xfrm>
            <a:off x="6949440" y="1828800"/>
            <a:ext cx="2148840" cy="1143000"/>
          </a:xfrm>
          <a:prstGeom prst="roundRect">
            <a:avLst>
              <a:gd name="adj" fmla="val 9600"/>
            </a:avLst>
          </a:prstGeom>
          <a:solidFill>
            <a:schemeClr val="bg2"/>
          </a:solidFill>
          <a:ln w="12700">
            <a:solidFill>
              <a:schemeClr val="bg2"/>
            </a:solidFill>
            <a:prstDash val="solid"/>
          </a:ln>
        </p:spPr>
      </p:sp>
      <p:sp>
        <p:nvSpPr>
          <p:cNvPr id="15" name="Text 13"/>
          <p:cNvSpPr txBox="1"/>
          <p:nvPr/>
        </p:nvSpPr>
        <p:spPr>
          <a:xfrm>
            <a:off x="6949440" y="1828800"/>
            <a:ext cx="2148840" cy="1143000"/>
          </a:xfrm>
          <a:prstGeom prst="rect">
            <a:avLst/>
          </a:prstGeom>
          <a:noFill/>
          <a:ln/>
        </p:spPr>
        <p:txBody>
          <a:bodyPr wrap="square" lIns="0" tIns="0" rIns="0" bIns="0" rtlCol="0" anchor="ctr"/>
          <a:lstStyle/>
          <a:p>
            <a:pPr algn="ctr" indent="0" marL="0">
              <a:buNone/>
            </a:pPr>
            <a:r>
              <a:rPr lang="en-US" sz="3000" b="1" dirty="0">
                <a:solidFill>
                  <a:srgbClr val="2D8C8C"/>
                </a:solidFill>
              </a:rPr>
              <a:t>MAE</a:t>
            </a:r>
            <a:endParaRPr lang="en-US" sz="3000" dirty="0"/>
          </a:p>
          <a:p>
            <a:pPr algn="ctr" indent="0" marL="0">
              <a:buNone/>
            </a:pPr>
            <a:r>
              <a:rPr lang="en-US" sz="1200" dirty="0">
                <a:solidFill>
                  <a:srgbClr val="1B2A2F"/>
                </a:solidFill>
              </a:rPr>
              <a:t>MW</a:t>
            </a:r>
            <a:endParaRPr lang="en-US" sz="3000" dirty="0"/>
          </a:p>
        </p:txBody>
      </p:sp>
      <p:sp>
        <p:nvSpPr>
          <p:cNvPr id="16" name="Shape 14"/>
          <p:cNvSpPr/>
          <p:nvPr/>
        </p:nvSpPr>
        <p:spPr>
          <a:xfrm>
            <a:off x="9326880" y="1828800"/>
            <a:ext cx="2148840" cy="1143000"/>
          </a:xfrm>
          <a:prstGeom prst="roundRect">
            <a:avLst>
              <a:gd name="adj" fmla="val 9600"/>
            </a:avLst>
          </a:prstGeom>
          <a:solidFill>
            <a:schemeClr val="bg2"/>
          </a:solidFill>
          <a:ln w="12700">
            <a:solidFill>
              <a:schemeClr val="bg2"/>
            </a:solidFill>
            <a:prstDash val="solid"/>
          </a:ln>
        </p:spPr>
      </p:sp>
      <p:sp>
        <p:nvSpPr>
          <p:cNvPr id="17" name="Text 15"/>
          <p:cNvSpPr txBox="1"/>
          <p:nvPr/>
        </p:nvSpPr>
        <p:spPr>
          <a:xfrm>
            <a:off x="9326880" y="1828800"/>
            <a:ext cx="2148840" cy="1143000"/>
          </a:xfrm>
          <a:prstGeom prst="rect">
            <a:avLst/>
          </a:prstGeom>
          <a:noFill/>
          <a:ln/>
        </p:spPr>
        <p:txBody>
          <a:bodyPr wrap="square" lIns="0" tIns="0" rIns="0" bIns="0" rtlCol="0" anchor="ctr"/>
          <a:lstStyle/>
          <a:p>
            <a:pPr algn="ctr" indent="0" marL="0">
              <a:buNone/>
            </a:pPr>
            <a:r>
              <a:rPr lang="en-US" sz="3000" b="1" dirty="0">
                <a:solidFill>
                  <a:srgbClr val="2D8C8C"/>
                </a:solidFill>
              </a:rPr>
              <a:t>RMSE</a:t>
            </a:r>
            <a:endParaRPr lang="en-US" sz="3000" dirty="0"/>
          </a:p>
          <a:p>
            <a:pPr algn="ctr" indent="0" marL="0">
              <a:buNone/>
            </a:pPr>
            <a:r>
              <a:rPr lang="en-US" sz="1200" dirty="0">
                <a:solidFill>
                  <a:srgbClr val="1B2A2F"/>
                </a:solidFill>
              </a:rPr>
              <a:t>MW</a:t>
            </a:r>
            <a:endParaRPr lang="en-US" sz="3000" dirty="0"/>
          </a:p>
        </p:txBody>
      </p:sp>
      <p:sp>
        <p:nvSpPr>
          <p:cNvPr id="18" name="Shape 16"/>
          <p:cNvSpPr/>
          <p:nvPr/>
        </p:nvSpPr>
        <p:spPr>
          <a:xfrm>
            <a:off x="6949440" y="3154680"/>
            <a:ext cx="2148840" cy="1143000"/>
          </a:xfrm>
          <a:prstGeom prst="roundRect">
            <a:avLst>
              <a:gd name="adj" fmla="val 9600"/>
            </a:avLst>
          </a:prstGeom>
          <a:solidFill>
            <a:schemeClr val="bg2"/>
          </a:solidFill>
          <a:ln w="12700">
            <a:solidFill>
              <a:schemeClr val="bg2"/>
            </a:solidFill>
            <a:prstDash val="solid"/>
          </a:ln>
        </p:spPr>
      </p:sp>
      <p:sp>
        <p:nvSpPr>
          <p:cNvPr id="19" name="Text 17"/>
          <p:cNvSpPr txBox="1"/>
          <p:nvPr/>
        </p:nvSpPr>
        <p:spPr>
          <a:xfrm>
            <a:off x="6949440" y="3154680"/>
            <a:ext cx="2148840" cy="1143000"/>
          </a:xfrm>
          <a:prstGeom prst="rect">
            <a:avLst/>
          </a:prstGeom>
          <a:noFill/>
          <a:ln/>
        </p:spPr>
        <p:txBody>
          <a:bodyPr wrap="square" lIns="0" tIns="0" rIns="0" bIns="0" rtlCol="0" anchor="ctr"/>
          <a:lstStyle/>
          <a:p>
            <a:pPr algn="ctr" indent="0" marL="0">
              <a:buNone/>
            </a:pPr>
            <a:r>
              <a:rPr lang="en-US" sz="3000" b="1" dirty="0">
                <a:solidFill>
                  <a:srgbClr val="2D8C8C"/>
                </a:solidFill>
              </a:rPr>
              <a:t>MAPE</a:t>
            </a:r>
            <a:endParaRPr lang="en-US" sz="3000" dirty="0"/>
          </a:p>
          <a:p>
            <a:pPr algn="ctr" indent="0" marL="0">
              <a:buNone/>
            </a:pPr>
            <a:r>
              <a:rPr lang="en-US" sz="1200" dirty="0">
                <a:solidFill>
                  <a:srgbClr val="1B2A2F"/>
                </a:solidFill>
              </a:rPr>
              <a:t>%</a:t>
            </a:r>
            <a:endParaRPr lang="en-US" sz="3000" dirty="0"/>
          </a:p>
        </p:txBody>
      </p:sp>
      <p:sp>
        <p:nvSpPr>
          <p:cNvPr id="20" name="Shape 18"/>
          <p:cNvSpPr/>
          <p:nvPr/>
        </p:nvSpPr>
        <p:spPr>
          <a:xfrm>
            <a:off x="9326880" y="3154680"/>
            <a:ext cx="2148840" cy="1143000"/>
          </a:xfrm>
          <a:prstGeom prst="roundRect">
            <a:avLst>
              <a:gd name="adj" fmla="val 9600"/>
            </a:avLst>
          </a:prstGeom>
          <a:solidFill>
            <a:schemeClr val="bg2"/>
          </a:solidFill>
          <a:ln w="12700">
            <a:solidFill>
              <a:schemeClr val="bg2"/>
            </a:solidFill>
            <a:prstDash val="solid"/>
          </a:ln>
        </p:spPr>
      </p:sp>
      <p:sp>
        <p:nvSpPr>
          <p:cNvPr id="21" name="Text 19"/>
          <p:cNvSpPr txBox="1"/>
          <p:nvPr/>
        </p:nvSpPr>
        <p:spPr>
          <a:xfrm>
            <a:off x="9326880" y="3154680"/>
            <a:ext cx="2148840" cy="1143000"/>
          </a:xfrm>
          <a:prstGeom prst="rect">
            <a:avLst/>
          </a:prstGeom>
          <a:noFill/>
          <a:ln/>
        </p:spPr>
        <p:txBody>
          <a:bodyPr wrap="square" lIns="0" tIns="0" rIns="0" bIns="0" rtlCol="0" anchor="ctr"/>
          <a:lstStyle/>
          <a:p>
            <a:pPr algn="ctr" indent="0" marL="0">
              <a:buNone/>
            </a:pPr>
            <a:r>
              <a:rPr lang="en-US" sz="3000" b="1" dirty="0">
                <a:solidFill>
                  <a:srgbClr val="2D8C8C"/>
                </a:solidFill>
              </a:rPr>
              <a:t>R²</a:t>
            </a:r>
            <a:endParaRPr lang="en-US" sz="3000" dirty="0"/>
          </a:p>
          <a:p>
            <a:pPr algn="ctr" indent="0" marL="0">
              <a:buNone/>
            </a:pPr>
            <a:r>
              <a:rPr lang="en-US" sz="1200" dirty="0">
                <a:solidFill>
                  <a:srgbClr val="1B2A2F"/>
                </a:solidFill>
              </a:rPr>
              <a:t>fit</a:t>
            </a:r>
            <a:endParaRPr lang="en-US" sz="3000" dirty="0"/>
          </a:p>
        </p:txBody>
      </p:sp>
      <p:sp>
        <p:nvSpPr>
          <p:cNvPr id="22" name="Text 20"/>
          <p:cNvSpPr txBox="1"/>
          <p:nvPr/>
        </p:nvSpPr>
        <p:spPr>
          <a:xfrm>
            <a:off x="6949440" y="4572000"/>
            <a:ext cx="4663440" cy="1143000"/>
          </a:xfrm>
          <a:prstGeom prst="rect">
            <a:avLst/>
          </a:prstGeom>
          <a:noFill/>
          <a:ln/>
        </p:spPr>
        <p:txBody>
          <a:bodyPr wrap="square" lIns="0" tIns="0" rIns="0" bIns="0" rtlCol="0" anchor="t"/>
          <a:lstStyle/>
          <a:p>
            <a:pPr indent="0" marL="0">
              <a:buNone/>
            </a:pPr>
            <a:r>
              <a:rPr lang="en-US" sz="1300" b="1" dirty="0">
                <a:solidFill>
                  <a:schemeClr val="tx1"/>
                </a:solidFill>
              </a:rPr>
              <a:t>Critical analysis: </a:t>
            </a:r>
            <a:pPr indent="0" marL="0">
              <a:buNone/>
            </a:pPr>
            <a:r>
              <a:rPr lang="en-US" sz="1300" dirty="0">
                <a:solidFill>
                  <a:schemeClr val="tx1"/>
                </a:solidFill>
              </a:rPr>
              <a:t>errors by season, peak hours and holidays; feature importance; residual plots. Then net-load error after adding the solar, wind and EV scenarios.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Feasibility and timeline</a:t>
            </a:r>
            <a:endParaRPr lang="en-US" sz="3000" dirty="0"/>
          </a:p>
        </p:txBody>
      </p:sp>
      <p:sp>
        <p:nvSpPr>
          <p:cNvPr id="3" name="Text 1"/>
          <p:cNvSpPr txBox="1"/>
          <p:nvPr/>
        </p:nvSpPr>
        <p:spPr>
          <a:xfrm>
            <a:off x="9631375" y="320040"/>
            <a:ext cx="2011680" cy="731520"/>
          </a:xfrm>
          <a:prstGeom prst="rect">
            <a:avLst/>
          </a:prstGeom>
          <a:noFill/>
          <a:ln/>
        </p:spPr>
        <p:txBody>
          <a:bodyPr wrap="square" lIns="0" tIns="0" rIns="0" bIns="0" rtlCol="0" anchor="ctr"/>
          <a:lstStyle/>
          <a:p>
            <a:pPr algn="r" indent="0" marL="0">
              <a:buNone/>
            </a:pPr>
            <a:r>
              <a:rPr lang="en-US" sz="1400" i="1" dirty="0">
                <a:solidFill>
                  <a:schemeClr val="accent2"/>
                </a:solidFill>
              </a:rPr>
              <a:t>Kshitij</a:t>
            </a:r>
            <a:endParaRPr lang="en-US" sz="1400" dirty="0"/>
          </a:p>
        </p:txBody>
      </p:sp>
      <p:sp>
        <p:nvSpPr>
          <p:cNvPr id="4" name="Shape 2"/>
          <p:cNvSpPr/>
          <p:nvPr/>
        </p:nvSpPr>
        <p:spPr>
          <a:xfrm>
            <a:off x="548640" y="1280160"/>
            <a:ext cx="5394960" cy="4480560"/>
          </a:xfrm>
          <a:prstGeom prst="roundRect">
            <a:avLst>
              <a:gd name="adj" fmla="val 2449"/>
            </a:avLst>
          </a:prstGeom>
          <a:solidFill>
            <a:schemeClr val="bg2"/>
          </a:solidFill>
          <a:ln w="12700">
            <a:solidFill>
              <a:schemeClr val="bg2"/>
            </a:solidFill>
            <a:prstDash val="solid"/>
          </a:ln>
        </p:spPr>
      </p:sp>
      <p:sp>
        <p:nvSpPr>
          <p:cNvPr id="5" name="Text 3"/>
          <p:cNvSpPr txBox="1"/>
          <p:nvPr/>
        </p:nvSpPr>
        <p:spPr>
          <a:xfrm>
            <a:off x="777240" y="1417320"/>
            <a:ext cx="4937760" cy="4206240"/>
          </a:xfrm>
          <a:prstGeom prst="rect">
            <a:avLst/>
          </a:prstGeom>
          <a:noFill/>
          <a:ln/>
        </p:spPr>
        <p:txBody>
          <a:bodyPr wrap="square" lIns="0" tIns="0" rIns="0" bIns="0" rtlCol="0" anchor="t"/>
          <a:lstStyle/>
          <a:p>
            <a:pPr indent="0" marL="0">
              <a:spcAft>
                <a:spcPts val="800"/>
              </a:spcAft>
              <a:buNone/>
            </a:pPr>
            <a:r>
              <a:rPr lang="en-US" sz="1700" b="1" dirty="0">
                <a:solidFill>
                  <a:srgbClr val="0F3B3F"/>
                </a:solidFill>
              </a:rPr>
              <a:t>Why this scope is realistic</a:t>
            </a:r>
            <a:endParaRPr lang="en-US" sz="1400" dirty="0"/>
          </a:p>
          <a:p>
            <a:pPr marL="342900" indent="-342900">
              <a:spcAft>
                <a:spcPts val="800"/>
              </a:spcAft>
              <a:buSzPct val="100000"/>
              <a:buChar char="•"/>
            </a:pPr>
            <a:r>
              <a:rPr lang="en-US" sz="1400" dirty="0">
                <a:solidFill>
                  <a:srgbClr val="1B2A2F"/>
                </a:solidFill>
              </a:rPr>
              <a:t>Data is free, public and hourly: ~52,000 rows for 2020–2025, which trains in seconds to minutes on a laptop.</a:t>
            </a:r>
            <a:endParaRPr lang="en-US" sz="1400" dirty="0"/>
          </a:p>
          <a:p>
            <a:pPr marL="342900" indent="-342900">
              <a:spcAft>
                <a:spcPts val="800"/>
              </a:spcAft>
              <a:buSzPct val="100000"/>
              <a:buChar char="•"/>
            </a:pPr>
            <a:r>
              <a:rPr lang="en-US" sz="1400" dirty="0">
                <a:solidFill>
                  <a:srgbClr val="1B2A2F"/>
                </a:solidFill>
              </a:rPr>
              <a:t>Standard, well-documented libraries: pandas, scikit-learn, XGBoost, pvlib.</a:t>
            </a:r>
            <a:endParaRPr lang="en-US" sz="1400" dirty="0"/>
          </a:p>
          <a:p>
            <a:pPr marL="342900" indent="-342900">
              <a:spcAft>
                <a:spcPts val="800"/>
              </a:spcAft>
              <a:buSzPct val="100000"/>
              <a:buChar char="•"/>
            </a:pPr>
            <a:r>
              <a:rPr lang="en-US" sz="1400" dirty="0">
                <a:solidFill>
                  <a:srgbClr val="1B2A2F"/>
                </a:solidFill>
              </a:rPr>
              <a:t>The core ML deliverable (steps 1–4) does not depend on the scenario layer, so the scenarios can't put it at risk.</a:t>
            </a:r>
            <a:endParaRPr lang="en-US" sz="1400" dirty="0"/>
          </a:p>
          <a:p>
            <a:pPr marL="342900" indent="-342900">
              <a:spcAft>
                <a:spcPts val="800"/>
              </a:spcAft>
              <a:buSzPct val="100000"/>
              <a:buChar char="•"/>
            </a:pPr>
            <a:r>
              <a:rPr lang="en-US" sz="1400" dirty="0">
                <a:solidFill>
                  <a:srgbClr val="1B2A2F"/>
                </a:solidFill>
              </a:rPr>
              <a:t>Clear fallback: if zonal data is incomplete, we use IESO Ontario-wide hourly demand with the same pipeline.</a:t>
            </a:r>
            <a:endParaRPr lang="en-US" sz="1400" dirty="0"/>
          </a:p>
          <a:p>
            <a:pPr marL="342900" indent="-342900">
              <a:spcAft>
                <a:spcPts val="800"/>
              </a:spcAft>
              <a:buSzPct val="100000"/>
              <a:buChar char="•"/>
            </a:pPr>
            <a:r>
              <a:rPr lang="en-US" sz="1400" dirty="0">
                <a:solidFill>
                  <a:srgbClr val="1B2A2F"/>
                </a:solidFill>
              </a:rPr>
              <a:t>Out of scope: real-time control, grid power-flow simulation, private utility data.</a:t>
            </a:r>
            <a:endParaRPr lang="en-US" sz="1400" dirty="0"/>
          </a:p>
        </p:txBody>
      </p:sp>
      <p:sp>
        <p:nvSpPr>
          <p:cNvPr id="6" name="Shape 4"/>
          <p:cNvSpPr/>
          <p:nvPr/>
        </p:nvSpPr>
        <p:spPr>
          <a:xfrm>
            <a:off x="6675120" y="1463040"/>
            <a:ext cx="0" cy="4114800"/>
          </a:xfrm>
          <a:prstGeom prst="line">
            <a:avLst/>
          </a:prstGeom>
          <a:noFill/>
          <a:ln w="25400">
            <a:solidFill>
              <a:srgbClr val="2D8C8C"/>
            </a:solidFill>
            <a:prstDash val="solid"/>
          </a:ln>
        </p:spPr>
      </p:sp>
      <p:sp>
        <p:nvSpPr>
          <p:cNvPr id="7" name="Shape 5"/>
          <p:cNvSpPr/>
          <p:nvPr/>
        </p:nvSpPr>
        <p:spPr>
          <a:xfrm>
            <a:off x="6537960" y="1435608"/>
            <a:ext cx="274320" cy="274320"/>
          </a:xfrm>
          <a:prstGeom prst="ellipse">
            <a:avLst/>
          </a:prstGeom>
          <a:solidFill>
            <a:schemeClr val="accent1"/>
          </a:solidFill>
          <a:ln w="25400">
            <a:solidFill>
              <a:schemeClr val="bg1"/>
            </a:solidFill>
            <a:prstDash val="solid"/>
          </a:ln>
        </p:spPr>
      </p:sp>
      <p:sp>
        <p:nvSpPr>
          <p:cNvPr id="8" name="Text 6"/>
          <p:cNvSpPr txBox="1"/>
          <p:nvPr/>
        </p:nvSpPr>
        <p:spPr>
          <a:xfrm>
            <a:off x="7040880" y="1280160"/>
            <a:ext cx="4572000" cy="658368"/>
          </a:xfrm>
          <a:prstGeom prst="rect">
            <a:avLst/>
          </a:prstGeom>
          <a:noFill/>
          <a:ln/>
        </p:spPr>
        <p:txBody>
          <a:bodyPr wrap="square" lIns="0" tIns="0" rIns="0" bIns="0" rtlCol="0" anchor="t"/>
          <a:lstStyle/>
          <a:p>
            <a:pPr indent="0" marL="0">
              <a:buNone/>
            </a:pPr>
            <a:r>
              <a:rPr lang="en-US" sz="1400" b="1" dirty="0">
                <a:solidFill>
                  <a:srgbClr val="0F3B3F"/>
                </a:solidFill>
              </a:rPr>
              <a:t>Oct 13</a:t>
            </a:r>
            <a:endParaRPr lang="en-US" sz="1400" dirty="0"/>
          </a:p>
          <a:p>
            <a:pPr indent="0" marL="0">
              <a:buNone/>
            </a:pPr>
            <a:r>
              <a:rPr lang="en-US" sz="1400" dirty="0">
                <a:solidFill>
                  <a:srgbClr val="1B2A2F"/>
                </a:solidFill>
              </a:rPr>
              <a:t>Proposal (this talk)</a:t>
            </a:r>
            <a:endParaRPr lang="en-US" sz="1400" dirty="0"/>
          </a:p>
        </p:txBody>
      </p:sp>
      <p:sp>
        <p:nvSpPr>
          <p:cNvPr id="9" name="Shape 7"/>
          <p:cNvSpPr/>
          <p:nvPr/>
        </p:nvSpPr>
        <p:spPr>
          <a:xfrm>
            <a:off x="6537960" y="2185416"/>
            <a:ext cx="274320" cy="274320"/>
          </a:xfrm>
          <a:prstGeom prst="ellipse">
            <a:avLst/>
          </a:prstGeom>
          <a:solidFill>
            <a:schemeClr val="accent2"/>
          </a:solidFill>
          <a:ln w="25400">
            <a:solidFill>
              <a:schemeClr val="bg1"/>
            </a:solidFill>
            <a:prstDash val="solid"/>
          </a:ln>
        </p:spPr>
      </p:sp>
      <p:sp>
        <p:nvSpPr>
          <p:cNvPr id="10" name="Text 8"/>
          <p:cNvSpPr txBox="1"/>
          <p:nvPr/>
        </p:nvSpPr>
        <p:spPr>
          <a:xfrm>
            <a:off x="7040880" y="2029968"/>
            <a:ext cx="4572000" cy="658368"/>
          </a:xfrm>
          <a:prstGeom prst="rect">
            <a:avLst/>
          </a:prstGeom>
          <a:noFill/>
          <a:ln/>
        </p:spPr>
        <p:txBody>
          <a:bodyPr wrap="square" lIns="0" tIns="0" rIns="0" bIns="0" rtlCol="0" anchor="t"/>
          <a:lstStyle/>
          <a:p>
            <a:pPr indent="0" marL="0">
              <a:buNone/>
            </a:pPr>
            <a:r>
              <a:rPr lang="en-US" sz="1400" b="1" dirty="0">
                <a:solidFill>
                  <a:srgbClr val="0F3B3F"/>
                </a:solidFill>
              </a:rPr>
              <a:t>Oct 14–31</a:t>
            </a:r>
            <a:endParaRPr lang="en-US" sz="1400" dirty="0"/>
          </a:p>
          <a:p>
            <a:pPr indent="0" marL="0">
              <a:buNone/>
            </a:pPr>
            <a:r>
              <a:rPr lang="en-US" sz="1400" dirty="0">
                <a:solidFill>
                  <a:srgbClr val="1B2A2F"/>
                </a:solidFill>
              </a:rPr>
              <a:t>Collect and clean data; feature pipeline; EDA</a:t>
            </a:r>
            <a:endParaRPr lang="en-US" sz="1400" dirty="0"/>
          </a:p>
        </p:txBody>
      </p:sp>
      <p:sp>
        <p:nvSpPr>
          <p:cNvPr id="11" name="Shape 9"/>
          <p:cNvSpPr/>
          <p:nvPr/>
        </p:nvSpPr>
        <p:spPr>
          <a:xfrm>
            <a:off x="6537960" y="2935224"/>
            <a:ext cx="274320" cy="274320"/>
          </a:xfrm>
          <a:prstGeom prst="ellipse">
            <a:avLst/>
          </a:prstGeom>
          <a:solidFill>
            <a:schemeClr val="accent2"/>
          </a:solidFill>
          <a:ln w="25400">
            <a:solidFill>
              <a:schemeClr val="bg1"/>
            </a:solidFill>
            <a:prstDash val="solid"/>
          </a:ln>
        </p:spPr>
      </p:sp>
      <p:sp>
        <p:nvSpPr>
          <p:cNvPr id="12" name="Text 10"/>
          <p:cNvSpPr txBox="1"/>
          <p:nvPr/>
        </p:nvSpPr>
        <p:spPr>
          <a:xfrm>
            <a:off x="7040880" y="2779776"/>
            <a:ext cx="4572000" cy="658368"/>
          </a:xfrm>
          <a:prstGeom prst="rect">
            <a:avLst/>
          </a:prstGeom>
          <a:noFill/>
          <a:ln/>
        </p:spPr>
        <p:txBody>
          <a:bodyPr wrap="square" lIns="0" tIns="0" rIns="0" bIns="0" rtlCol="0" anchor="t"/>
          <a:lstStyle/>
          <a:p>
            <a:pPr indent="0" marL="0">
              <a:buNone/>
            </a:pPr>
            <a:r>
              <a:rPr lang="en-US" sz="1400" b="1" dirty="0">
                <a:solidFill>
                  <a:srgbClr val="0F3B3F"/>
                </a:solidFill>
              </a:rPr>
              <a:t>Nov 1–15</a:t>
            </a:r>
            <a:endParaRPr lang="en-US" sz="1400" dirty="0"/>
          </a:p>
          <a:p>
            <a:pPr indent="0" marL="0">
              <a:buNone/>
            </a:pPr>
            <a:r>
              <a:rPr lang="en-US" sz="1400" dirty="0">
                <a:solidFill>
                  <a:srgbClr val="1B2A2F"/>
                </a:solidFill>
              </a:rPr>
              <a:t>Train baselines, RF and XGBoost; tune on 2024</a:t>
            </a:r>
            <a:endParaRPr lang="en-US" sz="1400" dirty="0"/>
          </a:p>
        </p:txBody>
      </p:sp>
      <p:sp>
        <p:nvSpPr>
          <p:cNvPr id="13" name="Shape 11"/>
          <p:cNvSpPr/>
          <p:nvPr/>
        </p:nvSpPr>
        <p:spPr>
          <a:xfrm>
            <a:off x="6537960" y="3685032"/>
            <a:ext cx="274320" cy="274320"/>
          </a:xfrm>
          <a:prstGeom prst="ellipse">
            <a:avLst/>
          </a:prstGeom>
          <a:solidFill>
            <a:schemeClr val="accent2"/>
          </a:solidFill>
          <a:ln w="25400">
            <a:solidFill>
              <a:schemeClr val="bg1"/>
            </a:solidFill>
            <a:prstDash val="solid"/>
          </a:ln>
        </p:spPr>
      </p:sp>
      <p:sp>
        <p:nvSpPr>
          <p:cNvPr id="14" name="Text 12"/>
          <p:cNvSpPr txBox="1"/>
          <p:nvPr/>
        </p:nvSpPr>
        <p:spPr>
          <a:xfrm>
            <a:off x="7040880" y="3529584"/>
            <a:ext cx="4572000" cy="658368"/>
          </a:xfrm>
          <a:prstGeom prst="rect">
            <a:avLst/>
          </a:prstGeom>
          <a:noFill/>
          <a:ln/>
        </p:spPr>
        <p:txBody>
          <a:bodyPr wrap="square" lIns="0" tIns="0" rIns="0" bIns="0" rtlCol="0" anchor="t"/>
          <a:lstStyle/>
          <a:p>
            <a:pPr indent="0" marL="0">
              <a:buNone/>
            </a:pPr>
            <a:r>
              <a:rPr lang="en-US" sz="1400" b="1" dirty="0">
                <a:solidFill>
                  <a:srgbClr val="0F3B3F"/>
                </a:solidFill>
              </a:rPr>
              <a:t>Nov 16–28</a:t>
            </a:r>
            <a:endParaRPr lang="en-US" sz="1400" dirty="0"/>
          </a:p>
          <a:p>
            <a:pPr indent="0" marL="0">
              <a:buNone/>
            </a:pPr>
            <a:r>
              <a:rPr lang="en-US" sz="1400" dirty="0">
                <a:solidFill>
                  <a:srgbClr val="1B2A2F"/>
                </a:solidFill>
              </a:rPr>
              <a:t>Scenario layer: solar, wind, EV, net load</a:t>
            </a:r>
            <a:endParaRPr lang="en-US" sz="1400" dirty="0"/>
          </a:p>
        </p:txBody>
      </p:sp>
      <p:sp>
        <p:nvSpPr>
          <p:cNvPr id="15" name="Shape 13"/>
          <p:cNvSpPr/>
          <p:nvPr/>
        </p:nvSpPr>
        <p:spPr>
          <a:xfrm>
            <a:off x="6537960" y="4434840"/>
            <a:ext cx="274320" cy="274320"/>
          </a:xfrm>
          <a:prstGeom prst="ellipse">
            <a:avLst/>
          </a:prstGeom>
          <a:solidFill>
            <a:schemeClr val="accent2"/>
          </a:solidFill>
          <a:ln w="25400">
            <a:solidFill>
              <a:schemeClr val="bg1"/>
            </a:solidFill>
            <a:prstDash val="solid"/>
          </a:ln>
        </p:spPr>
      </p:sp>
      <p:sp>
        <p:nvSpPr>
          <p:cNvPr id="16" name="Text 14"/>
          <p:cNvSpPr txBox="1"/>
          <p:nvPr/>
        </p:nvSpPr>
        <p:spPr>
          <a:xfrm>
            <a:off x="7040880" y="4279392"/>
            <a:ext cx="4572000" cy="658368"/>
          </a:xfrm>
          <a:prstGeom prst="rect">
            <a:avLst/>
          </a:prstGeom>
          <a:noFill/>
          <a:ln/>
        </p:spPr>
        <p:txBody>
          <a:bodyPr wrap="square" lIns="0" tIns="0" rIns="0" bIns="0" rtlCol="0" anchor="t"/>
          <a:lstStyle/>
          <a:p>
            <a:pPr indent="0" marL="0">
              <a:buNone/>
            </a:pPr>
            <a:r>
              <a:rPr lang="en-US" sz="1400" b="1" dirty="0">
                <a:solidFill>
                  <a:srgbClr val="0F3B3F"/>
                </a:solidFill>
              </a:rPr>
              <a:t>Nov 29–Dec 8</a:t>
            </a:r>
            <a:endParaRPr lang="en-US" sz="1400" dirty="0"/>
          </a:p>
          <a:p>
            <a:pPr indent="0" marL="0">
              <a:buNone/>
            </a:pPr>
            <a:r>
              <a:rPr lang="en-US" sz="1400" dirty="0">
                <a:solidFill>
                  <a:srgbClr val="1B2A2F"/>
                </a:solidFill>
              </a:rPr>
              <a:t>Test-year analysis; final presentation</a:t>
            </a:r>
            <a:endParaRPr lang="en-US" sz="1400" dirty="0"/>
          </a:p>
        </p:txBody>
      </p:sp>
      <p:sp>
        <p:nvSpPr>
          <p:cNvPr id="17" name="Shape 15"/>
          <p:cNvSpPr/>
          <p:nvPr/>
        </p:nvSpPr>
        <p:spPr>
          <a:xfrm>
            <a:off x="6537960" y="5184648"/>
            <a:ext cx="274320" cy="274320"/>
          </a:xfrm>
          <a:prstGeom prst="ellipse">
            <a:avLst/>
          </a:prstGeom>
          <a:solidFill>
            <a:schemeClr val="accent2"/>
          </a:solidFill>
          <a:ln w="25400">
            <a:solidFill>
              <a:schemeClr val="bg1"/>
            </a:solidFill>
            <a:prstDash val="solid"/>
          </a:ln>
        </p:spPr>
      </p:sp>
      <p:sp>
        <p:nvSpPr>
          <p:cNvPr id="18" name="Text 16"/>
          <p:cNvSpPr txBox="1"/>
          <p:nvPr/>
        </p:nvSpPr>
        <p:spPr>
          <a:xfrm>
            <a:off x="7040880" y="5029200"/>
            <a:ext cx="4572000" cy="658368"/>
          </a:xfrm>
          <a:prstGeom prst="rect">
            <a:avLst/>
          </a:prstGeom>
          <a:noFill/>
          <a:ln/>
        </p:spPr>
        <p:txBody>
          <a:bodyPr wrap="square" lIns="0" tIns="0" rIns="0" bIns="0" rtlCol="0" anchor="t"/>
          <a:lstStyle/>
          <a:p>
            <a:pPr indent="0" marL="0">
              <a:buNone/>
            </a:pPr>
            <a:r>
              <a:rPr lang="en-US" sz="1400" b="1" dirty="0">
                <a:solidFill>
                  <a:srgbClr val="0F3B3F"/>
                </a:solidFill>
              </a:rPr>
              <a:t>Dec 14</a:t>
            </a:r>
            <a:endParaRPr lang="en-US" sz="1400" dirty="0"/>
          </a:p>
          <a:p>
            <a:pPr indent="0" marL="0">
              <a:buNone/>
            </a:pPr>
            <a:r>
              <a:rPr lang="en-US" sz="1400" dirty="0">
                <a:solidFill>
                  <a:srgbClr val="1B2A2F"/>
                </a:solidFill>
              </a:rPr>
              <a:t>IEEE-format final report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Team contributions and use of AI</a:t>
            </a:r>
            <a:endParaRPr lang="en-US" sz="3000" dirty="0"/>
          </a:p>
        </p:txBody>
      </p:sp>
      <p:sp>
        <p:nvSpPr>
          <p:cNvPr id="3" name="Shape 1"/>
          <p:cNvSpPr/>
          <p:nvPr/>
        </p:nvSpPr>
        <p:spPr>
          <a:xfrm>
            <a:off x="548640" y="1280160"/>
            <a:ext cx="5394960" cy="1234440"/>
          </a:xfrm>
          <a:prstGeom prst="roundRect">
            <a:avLst>
              <a:gd name="adj" fmla="val 8889"/>
            </a:avLst>
          </a:prstGeom>
          <a:solidFill>
            <a:schemeClr val="bg2"/>
          </a:solidFill>
          <a:ln w="12700">
            <a:solidFill>
              <a:schemeClr val="bg2"/>
            </a:solidFill>
            <a:prstDash val="solid"/>
          </a:ln>
        </p:spPr>
      </p:sp>
      <p:sp>
        <p:nvSpPr>
          <p:cNvPr id="4" name="person0-circle"/>
          <p:cNvSpPr/>
          <p:nvPr/>
        </p:nvSpPr>
        <p:spPr>
          <a:xfrm>
            <a:off x="777240" y="1554480"/>
            <a:ext cx="685800" cy="685800"/>
          </a:xfrm>
          <a:prstGeom prst="ellipse">
            <a:avLst/>
          </a:prstGeom>
          <a:solidFill>
            <a:srgbClr val="0F3B3F"/>
          </a:solidFill>
          <a:ln w="12700">
            <a:solidFill>
              <a:srgbClr val="0F3B3F"/>
            </a:solidFill>
            <a:prstDash val="solid"/>
          </a:ln>
        </p:spPr>
      </p:sp>
      <p:pic>
        <p:nvPicPr>
          <p:cNvPr id="5" name="person0-icon" descr="preencoded.png">    </p:cNvPr>
          <p:cNvPicPr>
            <a:picLocks noChangeAspect="1"/>
          </p:cNvPicPr>
          <p:nvPr/>
        </p:nvPicPr>
        <p:blipFill>
          <a:blip r:embed="rId1"/>
          <a:stretch>
            <a:fillRect/>
          </a:stretch>
        </p:blipFill>
        <p:spPr>
          <a:xfrm>
            <a:off x="941832" y="1719072"/>
            <a:ext cx="356616" cy="356616"/>
          </a:xfrm>
          <a:prstGeom prst="rect">
            <a:avLst/>
          </a:prstGeom>
        </p:spPr>
      </p:pic>
      <p:sp>
        <p:nvSpPr>
          <p:cNvPr id="6" name="Text 3"/>
          <p:cNvSpPr txBox="1"/>
          <p:nvPr/>
        </p:nvSpPr>
        <p:spPr>
          <a:xfrm>
            <a:off x="1691640" y="1371600"/>
            <a:ext cx="4069080" cy="1051560"/>
          </a:xfrm>
          <a:prstGeom prst="rect">
            <a:avLst/>
          </a:prstGeom>
          <a:noFill/>
          <a:ln/>
        </p:spPr>
        <p:txBody>
          <a:bodyPr wrap="square" lIns="0" tIns="0" rIns="0" bIns="0" rtlCol="0" anchor="ctr"/>
          <a:lstStyle/>
          <a:p>
            <a:pPr indent="0" marL="0">
              <a:buNone/>
            </a:pPr>
            <a:r>
              <a:rPr lang="en-US" sz="1700" b="1" dirty="0">
                <a:solidFill>
                  <a:srgbClr val="0F3B3F"/>
                </a:solidFill>
              </a:rPr>
              <a:t>Kshitij</a:t>
            </a:r>
            <a:endParaRPr lang="en-US" sz="1700" dirty="0"/>
          </a:p>
          <a:p>
            <a:pPr indent="0" marL="0">
              <a:buNone/>
            </a:pPr>
            <a:r>
              <a:rPr lang="en-US" sz="1300" dirty="0">
                <a:solidFill>
                  <a:srgbClr val="1B2A2F"/>
                </a:solidFill>
              </a:rPr>
              <a:t>Problem definition and research question; smart-grid scenario layer (solar, wind, EV, net load); feasibility and timeline; slide design.</a:t>
            </a:r>
            <a:endParaRPr lang="en-US" sz="1700" dirty="0"/>
          </a:p>
        </p:txBody>
      </p:sp>
      <p:sp>
        <p:nvSpPr>
          <p:cNvPr id="7" name="Shape 4"/>
          <p:cNvSpPr/>
          <p:nvPr/>
        </p:nvSpPr>
        <p:spPr>
          <a:xfrm>
            <a:off x="548640" y="2697480"/>
            <a:ext cx="5394960" cy="1234440"/>
          </a:xfrm>
          <a:prstGeom prst="roundRect">
            <a:avLst>
              <a:gd name="adj" fmla="val 8889"/>
            </a:avLst>
          </a:prstGeom>
          <a:solidFill>
            <a:schemeClr val="bg2"/>
          </a:solidFill>
          <a:ln w="12700">
            <a:solidFill>
              <a:schemeClr val="bg2"/>
            </a:solidFill>
            <a:prstDash val="solid"/>
          </a:ln>
        </p:spPr>
      </p:sp>
      <p:sp>
        <p:nvSpPr>
          <p:cNvPr id="8" name="person1-circle"/>
          <p:cNvSpPr/>
          <p:nvPr/>
        </p:nvSpPr>
        <p:spPr>
          <a:xfrm>
            <a:off x="777240" y="2971800"/>
            <a:ext cx="685800" cy="685800"/>
          </a:xfrm>
          <a:prstGeom prst="ellipse">
            <a:avLst/>
          </a:prstGeom>
          <a:solidFill>
            <a:srgbClr val="0F3B3F"/>
          </a:solidFill>
          <a:ln w="12700">
            <a:solidFill>
              <a:srgbClr val="0F3B3F"/>
            </a:solidFill>
            <a:prstDash val="solid"/>
          </a:ln>
        </p:spPr>
      </p:sp>
      <p:pic>
        <p:nvPicPr>
          <p:cNvPr id="9" name="person1-icon" descr="preencoded.png">    </p:cNvPr>
          <p:cNvPicPr>
            <a:picLocks noChangeAspect="1"/>
          </p:cNvPicPr>
          <p:nvPr/>
        </p:nvPicPr>
        <p:blipFill>
          <a:blip r:embed="rId2"/>
          <a:stretch>
            <a:fillRect/>
          </a:stretch>
        </p:blipFill>
        <p:spPr>
          <a:xfrm>
            <a:off x="941832" y="3136392"/>
            <a:ext cx="356616" cy="356616"/>
          </a:xfrm>
          <a:prstGeom prst="rect">
            <a:avLst/>
          </a:prstGeom>
        </p:spPr>
      </p:pic>
      <p:sp>
        <p:nvSpPr>
          <p:cNvPr id="10" name="Text 6"/>
          <p:cNvSpPr txBox="1"/>
          <p:nvPr/>
        </p:nvSpPr>
        <p:spPr>
          <a:xfrm>
            <a:off x="1691640" y="2788920"/>
            <a:ext cx="4069080" cy="1051560"/>
          </a:xfrm>
          <a:prstGeom prst="rect">
            <a:avLst/>
          </a:prstGeom>
          <a:noFill/>
          <a:ln/>
        </p:spPr>
        <p:txBody>
          <a:bodyPr wrap="square" lIns="0" tIns="0" rIns="0" bIns="0" rtlCol="0" anchor="ctr"/>
          <a:lstStyle/>
          <a:p>
            <a:pPr indent="0" marL="0">
              <a:buNone/>
            </a:pPr>
            <a:r>
              <a:rPr lang="en-US" sz="1700" b="1" dirty="0">
                <a:solidFill>
                  <a:srgbClr val="0F3B3F"/>
                </a:solidFill>
              </a:rPr>
              <a:t>Victor</a:t>
            </a:r>
            <a:endParaRPr lang="en-US" sz="1700" dirty="0"/>
          </a:p>
          <a:p>
            <a:pPr indent="0" marL="0">
              <a:buNone/>
            </a:pPr>
            <a:r>
              <a:rPr lang="en-US" sz="1300" dirty="0">
                <a:solidFill>
                  <a:srgbClr val="1B2A2F"/>
                </a:solidFill>
              </a:rPr>
              <a:t>State-of-the-art review; data sources and preprocessing pipeline; model training and evaluation design.</a:t>
            </a:r>
            <a:endParaRPr lang="en-US" sz="1700" dirty="0"/>
          </a:p>
        </p:txBody>
      </p:sp>
      <p:sp>
        <p:nvSpPr>
          <p:cNvPr id="11" name="Text 7"/>
          <p:cNvSpPr txBox="1"/>
          <p:nvPr/>
        </p:nvSpPr>
        <p:spPr>
          <a:xfrm>
            <a:off x="548640" y="4160520"/>
            <a:ext cx="5394960" cy="457200"/>
          </a:xfrm>
          <a:prstGeom prst="rect">
            <a:avLst/>
          </a:prstGeom>
          <a:noFill/>
          <a:ln/>
        </p:spPr>
        <p:txBody>
          <a:bodyPr wrap="square" lIns="0" tIns="0" rIns="0" bIns="0" rtlCol="0" anchor="ctr"/>
          <a:lstStyle/>
          <a:p>
            <a:pPr indent="0" marL="0">
              <a:buNone/>
            </a:pPr>
            <a:r>
              <a:rPr lang="en-US" sz="1300" i="1" dirty="0">
                <a:solidFill>
                  <a:schemeClr val="tx2"/>
                </a:solidFill>
              </a:rPr>
              <a:t>Both members will share coding and writing of the final report.</a:t>
            </a:r>
            <a:endParaRPr lang="en-US" sz="1300" dirty="0"/>
          </a:p>
        </p:txBody>
      </p:sp>
      <p:sp>
        <p:nvSpPr>
          <p:cNvPr id="12" name="Shape 8"/>
          <p:cNvSpPr/>
          <p:nvPr/>
        </p:nvSpPr>
        <p:spPr>
          <a:xfrm>
            <a:off x="6309360" y="1280160"/>
            <a:ext cx="5330952" cy="4480560"/>
          </a:xfrm>
          <a:prstGeom prst="roundRect">
            <a:avLst>
              <a:gd name="adj" fmla="val 2449"/>
            </a:avLst>
          </a:prstGeom>
          <a:solidFill>
            <a:schemeClr val="tx2"/>
          </a:solidFill>
          <a:ln w="12700">
            <a:solidFill>
              <a:schemeClr val="tx2"/>
            </a:solidFill>
            <a:prstDash val="solid"/>
          </a:ln>
        </p:spPr>
      </p:sp>
      <p:sp>
        <p:nvSpPr>
          <p:cNvPr id="13" name="ai-circle"/>
          <p:cNvSpPr/>
          <p:nvPr/>
        </p:nvSpPr>
        <p:spPr>
          <a:xfrm>
            <a:off x="6537960" y="1463040"/>
            <a:ext cx="685800" cy="685800"/>
          </a:xfrm>
          <a:prstGeom prst="ellipse">
            <a:avLst/>
          </a:prstGeom>
          <a:solidFill>
            <a:srgbClr val="F2A541"/>
          </a:solidFill>
          <a:ln w="12700">
            <a:solidFill>
              <a:srgbClr val="F2A541"/>
            </a:solidFill>
            <a:prstDash val="solid"/>
          </a:ln>
        </p:spPr>
      </p:sp>
      <p:pic>
        <p:nvPicPr>
          <p:cNvPr id="14" name="ai-icon" descr="preencoded.png">    </p:cNvPr>
          <p:cNvPicPr>
            <a:picLocks noChangeAspect="1"/>
          </p:cNvPicPr>
          <p:nvPr/>
        </p:nvPicPr>
        <p:blipFill>
          <a:blip r:embed="rId3"/>
          <a:stretch>
            <a:fillRect/>
          </a:stretch>
        </p:blipFill>
        <p:spPr>
          <a:xfrm>
            <a:off x="6702552" y="1627632"/>
            <a:ext cx="356616" cy="356616"/>
          </a:xfrm>
          <a:prstGeom prst="rect">
            <a:avLst/>
          </a:prstGeom>
        </p:spPr>
      </p:pic>
      <p:sp>
        <p:nvSpPr>
          <p:cNvPr id="15" name="Text 10"/>
          <p:cNvSpPr txBox="1"/>
          <p:nvPr/>
        </p:nvSpPr>
        <p:spPr>
          <a:xfrm>
            <a:off x="7406640" y="146304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AI disclosure</a:t>
            </a:r>
            <a:endParaRPr lang="en-US" sz="2000" dirty="0"/>
          </a:p>
        </p:txBody>
      </p:sp>
      <p:sp>
        <p:nvSpPr>
          <p:cNvPr id="16" name="Text 11"/>
          <p:cNvSpPr txBox="1"/>
          <p:nvPr/>
        </p:nvSpPr>
        <p:spPr>
          <a:xfrm>
            <a:off x="6537960" y="2331720"/>
            <a:ext cx="4892040" cy="3291840"/>
          </a:xfrm>
          <a:prstGeom prst="rect">
            <a:avLst/>
          </a:prstGeom>
          <a:noFill/>
          <a:ln/>
        </p:spPr>
        <p:txBody>
          <a:bodyPr wrap="square" lIns="0" tIns="0" rIns="0" bIns="0" rtlCol="0" anchor="t"/>
          <a:lstStyle/>
          <a:p>
            <a:pPr indent="0" marL="0">
              <a:spcAft>
                <a:spcPts val="1000"/>
              </a:spcAft>
              <a:buNone/>
            </a:pPr>
            <a:r>
              <a:rPr lang="en-US" sz="1400" b="1" dirty="0">
                <a:solidFill>
                  <a:srgbClr val="F2A541"/>
                </a:solidFill>
              </a:rPr>
              <a:t>ChatGPT (OpenAI): </a:t>
            </a:r>
            <a:pPr indent="0" marL="0">
              <a:spcAft>
                <a:spcPts val="1000"/>
              </a:spcAft>
              <a:buNone/>
            </a:pPr>
            <a:r>
              <a:rPr lang="en-US" sz="1400" dirty="0">
                <a:solidFill>
                  <a:srgbClr val="FFFFFF"/>
                </a:solidFill>
              </a:rPr>
              <a:t>summary tables and illustrative diagrams in our draft.</a:t>
            </a:r>
            <a:endParaRPr lang="en-US" sz="1400" dirty="0"/>
          </a:p>
          <a:p>
            <a:pPr indent="0" marL="0">
              <a:spcAft>
                <a:spcPts val="1000"/>
              </a:spcAft>
              <a:buNone/>
            </a:pPr>
            <a:r>
              <a:rPr lang="en-US" sz="1400" b="1" dirty="0">
                <a:solidFill>
                  <a:srgbClr val="F2A541"/>
                </a:solidFill>
              </a:rPr>
              <a:t>Claude (Anthropic), via Claude Code: </a:t>
            </a:r>
            <a:pPr indent="0" marL="0">
              <a:spcAft>
                <a:spcPts val="1000"/>
              </a:spcAft>
              <a:buNone/>
            </a:pPr>
            <a:r>
              <a:rPr lang="en-US" sz="1400" dirty="0">
                <a:solidFill>
                  <a:srgbClr val="FFFFFF"/>
                </a:solidFill>
              </a:rPr>
              <a:t>restructuring the deck for the 5-minute limit, slide wording and layout, checking citations, and drafting the scenario assumptions for us to review.</a:t>
            </a:r>
            <a:endParaRPr lang="en-US" sz="1400" dirty="0"/>
          </a:p>
          <a:p>
            <a:pPr indent="0" marL="0">
              <a:spcAft>
                <a:spcPts val="1000"/>
              </a:spcAft>
              <a:buNone/>
            </a:pPr>
            <a:r>
              <a:rPr lang="en-US" sz="1400" b="1" dirty="0">
                <a:solidFill>
                  <a:srgbClr val="F2A541"/>
                </a:solidFill>
              </a:rPr>
              <a:t>Our own work: </a:t>
            </a:r>
            <a:pPr indent="0" marL="0">
              <a:spcAft>
                <a:spcPts val="1000"/>
              </a:spcAft>
              <a:buNone/>
            </a:pPr>
            <a:r>
              <a:rPr lang="en-US" sz="1400" dirty="0">
                <a:solidFill>
                  <a:srgbClr val="FFFFFF"/>
                </a:solidFill>
              </a:rPr>
              <a:t>choice of problem, papers, data sources and methods. We checked every number against the cited papers and are responsible for all content.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8899855" cy="73152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548640" y="1234440"/>
            <a:ext cx="11094415" cy="50292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 M. M. Gökçe and E. Duman, “Performance Comparison of Simple Regression, Random Forest and XGBoost Algorithms for Forecasting Electricity Demand,” in Proc. 3rd Int. Informatics and Software Engineering Conf. (IISEC), Ankara, Turkey, 2022. doi: 10.1109/IISEC56263.2022.9998213.</a:t>
            </a:r>
            <a:endParaRPr lang="en-US" sz="1100" dirty="0"/>
          </a:p>
          <a:p>
            <a:pPr indent="0" marL="0">
              <a:spcAft>
                <a:spcPts val="500"/>
              </a:spcAft>
              <a:buNone/>
            </a:pPr>
            <a:r>
              <a:rPr lang="en-US" sz="1100" dirty="0">
                <a:solidFill>
                  <a:schemeClr val="tx1"/>
                </a:solidFill>
              </a:rPr>
              <a:t>[2] K. Rawal and A. Ahmad, “A Comparative Analysis of Supervised Machine Learning Algorithms for Electricity Demand Forecasting,” in Proc. 2nd Int. Conf. Power, Control and Computing Technologies (ICPC2T), 2022, pp. 1–6. doi: 10.1109/ICPC2T53885.2022.9776960.</a:t>
            </a:r>
            <a:endParaRPr lang="en-US" sz="1100" dirty="0"/>
          </a:p>
          <a:p>
            <a:pPr indent="0" marL="0">
              <a:spcAft>
                <a:spcPts val="500"/>
              </a:spcAft>
              <a:buNone/>
            </a:pPr>
            <a:r>
              <a:rPr lang="en-US" sz="1100" dirty="0">
                <a:solidFill>
                  <a:schemeClr val="tx1"/>
                </a:solidFill>
              </a:rPr>
              <a:t>[3] B. Ibrahim, L. Rabelo, E. Gutierrez-Franco and N. Clavijo-Buritica, “Machine Learning for Short-Term Load Forecasting in Smart Grids,” Energies, vol. 15, no. 21, art. 8079, 2022. doi: 10.3390/en15218079.</a:t>
            </a:r>
            <a:endParaRPr lang="en-US" sz="1100" dirty="0"/>
          </a:p>
          <a:p>
            <a:pPr indent="0" marL="0">
              <a:spcAft>
                <a:spcPts val="500"/>
              </a:spcAft>
              <a:buNone/>
            </a:pPr>
            <a:r>
              <a:rPr lang="en-US" sz="1100" dirty="0">
                <a:solidFill>
                  <a:schemeClr val="tx1"/>
                </a:solidFill>
              </a:rPr>
              <a:t>[4] W. Kong, Z. Y. Dong, Y. Jia, D. J. Hill, Y. Xu and Y. Zhang, “Short-Term Residential Load Forecasting Based on LSTM Recurrent Neural Network,” IEEE Trans. Smart Grid, vol. 10, no. 1, pp. 841–851, 2019. doi: 10.1109/TSG.2017.2753802.</a:t>
            </a:r>
            <a:endParaRPr lang="en-US" sz="1100" dirty="0"/>
          </a:p>
          <a:p>
            <a:pPr indent="0" marL="0">
              <a:spcAft>
                <a:spcPts val="500"/>
              </a:spcAft>
              <a:buNone/>
            </a:pPr>
            <a:r>
              <a:rPr lang="en-US" sz="1100" dirty="0">
                <a:solidFill>
                  <a:schemeClr val="tx1"/>
                </a:solidFill>
              </a:rPr>
              <a:t>[5] Independent Electricity System Operator (IESO), “Hourly Zonal Demand Report.” [Online]. Available: https://reports-public.ieso.ca/public/DemandZonal/</a:t>
            </a:r>
            <a:endParaRPr lang="en-US" sz="1100" dirty="0"/>
          </a:p>
          <a:p>
            <a:pPr indent="0" marL="0">
              <a:spcAft>
                <a:spcPts val="500"/>
              </a:spcAft>
              <a:buNone/>
            </a:pPr>
            <a:r>
              <a:rPr lang="en-US" sz="1100" dirty="0">
                <a:solidFill>
                  <a:schemeClr val="tx1"/>
                </a:solidFill>
              </a:rPr>
              <a:t>[6] Environment and Climate Change Canada, “Historical Climate Data.” [Online]. Available: https://climate.weather.gc.ca/</a:t>
            </a:r>
            <a:endParaRPr lang="en-US" sz="1100" dirty="0"/>
          </a:p>
          <a:p>
            <a:pPr indent="0" marL="0">
              <a:spcAft>
                <a:spcPts val="500"/>
              </a:spcAft>
              <a:buNone/>
            </a:pPr>
            <a:r>
              <a:rPr lang="en-US" sz="1100" dirty="0">
                <a:solidFill>
                  <a:schemeClr val="tx1"/>
                </a:solidFill>
              </a:rPr>
              <a:t>[7] Open-Meteo, “Historical Weather API.” [Online]. Available: https://open-meteo.com/en/docs/historical-weather-api</a:t>
            </a:r>
            <a:endParaRPr lang="en-US" sz="1100" dirty="0"/>
          </a:p>
          <a:p>
            <a:pPr indent="0" marL="0">
              <a:spcAft>
                <a:spcPts val="500"/>
              </a:spcAft>
              <a:buNone/>
            </a:pPr>
            <a:r>
              <a:rPr lang="en-US" sz="1100" dirty="0">
                <a:solidFill>
                  <a:schemeClr val="tx1"/>
                </a:solidFill>
              </a:rPr>
              <a:t>[8] W. F. Holmgren, C. W. Hansen and M. A. Mikofski, “pvlib python: a python package for modeling solar energy systems,” J. Open Source Software, vol. 3, no. 29, p. 884, 2018. doi: 10.21105/joss.00884.</a:t>
            </a:r>
            <a:endParaRPr lang="en-US" sz="1100" dirty="0"/>
          </a:p>
          <a:p>
            <a:pPr indent="0" marL="0">
              <a:spcAft>
                <a:spcPts val="500"/>
              </a:spcAft>
              <a:buNone/>
            </a:pPr>
            <a:r>
              <a:rPr lang="en-US" sz="1100" dirty="0">
                <a:solidFill>
                  <a:schemeClr val="tx1"/>
                </a:solidFill>
              </a:rPr>
              <a:t>[9] L. Breiman, “Random Forests,” Machine Learning, vol. 45, no. 1, pp. 5–32, 2001. doi: 10.1023/A:1010933404324.</a:t>
            </a:r>
            <a:endParaRPr lang="en-US" sz="1100" dirty="0"/>
          </a:p>
          <a:p>
            <a:pPr indent="0" marL="0">
              <a:spcAft>
                <a:spcPts val="500"/>
              </a:spcAft>
              <a:buNone/>
            </a:pPr>
            <a:r>
              <a:rPr lang="en-US" sz="1100" dirty="0">
                <a:solidFill>
                  <a:schemeClr val="tx1"/>
                </a:solidFill>
              </a:rPr>
              <a:t>[10] T. Chen and C. Guestrin, “XGBoost: A Scalable Tree Boosting System,” in Proc. 22nd ACM SIGKDD Int. Conf. Knowledge Discovery and Data Mining, 2016, pp. 785–794. doi: 10.1145/2939672.2939785.</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qa-circle"/>
          <p:cNvSpPr/>
          <p:nvPr/>
        </p:nvSpPr>
        <p:spPr>
          <a:xfrm>
            <a:off x="5547208" y="1828800"/>
            <a:ext cx="1097280" cy="1097280"/>
          </a:xfrm>
          <a:prstGeom prst="ellipse">
            <a:avLst/>
          </a:prstGeom>
          <a:solidFill>
            <a:srgbClr val="F2A541"/>
          </a:solidFill>
          <a:ln w="12700">
            <a:solidFill>
              <a:srgbClr val="F2A541"/>
            </a:solidFill>
            <a:prstDash val="solid"/>
          </a:ln>
        </p:spPr>
      </p:sp>
      <p:pic>
        <p:nvPicPr>
          <p:cNvPr id="3" name="qa-icon" descr="preencoded.png">    </p:cNvPr>
          <p:cNvPicPr>
            <a:picLocks noChangeAspect="1"/>
          </p:cNvPicPr>
          <p:nvPr/>
        </p:nvPicPr>
        <p:blipFill>
          <a:blip r:embed="rId1"/>
          <a:stretch>
            <a:fillRect/>
          </a:stretch>
        </p:blipFill>
        <p:spPr>
          <a:xfrm>
            <a:off x="5810555" y="2092147"/>
            <a:ext cx="570586" cy="570586"/>
          </a:xfrm>
          <a:prstGeom prst="rect">
            <a:avLst/>
          </a:prstGeom>
        </p:spPr>
      </p:pic>
      <p:sp>
        <p:nvSpPr>
          <p:cNvPr id="4" name="Text 1"/>
          <p:cNvSpPr txBox="1"/>
          <p:nvPr/>
        </p:nvSpPr>
        <p:spPr>
          <a:xfrm>
            <a:off x="0" y="3200400"/>
            <a:ext cx="12191695" cy="914400"/>
          </a:xfrm>
          <a:prstGeom prst="rect">
            <a:avLst/>
          </a:prstGeom>
          <a:noFill/>
          <a:ln/>
        </p:spPr>
        <p:txBody>
          <a:bodyPr wrap="square" rtlCol="0" anchor="ctr"/>
          <a:lstStyle/>
          <a:p>
            <a:pPr algn="ctr" indent="0" marL="0">
              <a:buNone/>
            </a:pPr>
            <a:r>
              <a:rPr lang="en-US" sz="4400" b="1" dirty="0">
                <a:solidFill>
                  <a:schemeClr val="bg1"/>
                </a:solidFill>
              </a:rPr>
              <a:t>Questions?</a:t>
            </a:r>
            <a:endParaRPr lang="en-US" sz="4400" dirty="0"/>
          </a:p>
        </p:txBody>
      </p:sp>
      <p:sp>
        <p:nvSpPr>
          <p:cNvPr id="5" name="Text 2"/>
          <p:cNvSpPr txBox="1"/>
          <p:nvPr/>
        </p:nvSpPr>
        <p:spPr>
          <a:xfrm>
            <a:off x="914400" y="4114800"/>
            <a:ext cx="10362895" cy="548640"/>
          </a:xfrm>
          <a:prstGeom prst="rect">
            <a:avLst/>
          </a:prstGeom>
          <a:noFill/>
          <a:ln/>
        </p:spPr>
        <p:txBody>
          <a:bodyPr wrap="square" rtlCol="0" anchor="ctr"/>
          <a:lstStyle/>
          <a:p>
            <a:pPr algn="ctr" indent="0" marL="0">
              <a:buNone/>
            </a:pPr>
            <a:r>
              <a:rPr lang="en-US" sz="1800" dirty="0">
                <a:solidFill>
                  <a:schemeClr val="accent1"/>
                </a:solidFill>
              </a:rPr>
              <a:t>Forecast Ottawa's load from real data · balance it against solar, wind and EV fleets</a:t>
            </a:r>
            <a:endParaRPr lang="en-US" sz="1800" dirty="0"/>
          </a:p>
        </p:txBody>
      </p:sp>
    </p:spTree>
  </p:cSld>
  <p:clrMapOvr>
    <a:masterClrMapping/>
  </p:clrMapOvr>
</p:sld>
</file>

<file path=ppt/theme/theme1.xml><?xml version="1.0" encoding="utf-8"?>
<a:theme xmlns:a="http://schemas.openxmlformats.org/drawingml/2006/main" name="Ottawa Grid">
  <a:themeElements>
    <a:clrScheme name="Ottawa Grid">
      <a:dk1>
        <a:srgbClr val="1B2A2F"/>
      </a:dk1>
      <a:lt1>
        <a:srgbClr val="FFFFFF"/>
      </a:lt1>
      <a:dk2>
        <a:srgbClr val="0F3B3F"/>
      </a:dk2>
      <a:lt2>
        <a:srgbClr val="EEF4F3"/>
      </a:lt2>
      <a:accent1>
        <a:srgbClr val="F2A541"/>
      </a:accent1>
      <a:accent2>
        <a:srgbClr val="2D8C8C"/>
      </a:accent2>
      <a:accent3>
        <a:srgbClr val="C8553D"/>
      </a:accent3>
      <a:accent4>
        <a:srgbClr val="5B7F95"/>
      </a:accent4>
      <a:accent5>
        <a:srgbClr val="8FB996"/>
      </a:accent5>
      <a:accent6>
        <a:srgbClr val="6B5B95"/>
      </a:accent6>
      <a:hlink>
        <a:srgbClr val="2D8C8C"/>
      </a:hlink>
      <a:folHlink>
        <a:srgbClr val="5B7F95"/>
      </a:folHlink>
    </a:clrScheme>
    <a:fontScheme name="Ottawa Gri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Ottawa's Electricity Load for a Smarter Grid</dc:title>
  <dc:subject>PptxGenJS Presentation</dc:subject>
  <dc:creator>Kshitij and Victor</dc:creator>
  <cp:lastModifiedBy>Kshitij and Victor</cp:lastModifiedBy>
  <cp:revision>1</cp:revision>
  <dcterms:created xsi:type="dcterms:W3CDTF">2026-10-12T21:03:19Z</dcterms:created>
  <dcterms:modified xsi:type="dcterms:W3CDTF">2026-10-12T21:03:19Z</dcterms:modified>
</cp:coreProperties>
</file>